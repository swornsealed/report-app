
<file path=[Content_Types].xml><?xml version="1.0" encoding="utf-8"?>
<Types xmlns="http://schemas.openxmlformats.org/package/2006/content-types"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7"/>
    <p:sldId id="269" r:id="rId6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6" Type="http://schemas.openxmlformats.org/officeDocument/2006/relationships/slide" Target="slides/slide14.xml"/><Relationship Id="rId7" Type="http://schemas.openxmlformats.org/officeDocument/2006/relationships/slide" Target="slides/slide13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guide walks through the complete monthly routine: starting the program, generating i-STAT reports, generating ABL reports, and what to do when something looks wrong.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microsoft.com/office/2007/relationships/media" Target="../media/media1.mp4"/><Relationship Id="rId3" Type="http://schemas.openxmlformats.org/officeDocument/2006/relationships/video" Target="../media/media1.mp4"/><Relationship Id="rId4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12B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420624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3" name="Image 0" descr="q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95728" y="658368"/>
            <a:ext cx="2157984" cy="274320"/>
          </a:xfrm>
          <a:prstGeom prst="rect">
            <a:avLst/>
          </a:prstGeom>
        </p:spPr>
      </p:pic>
      <p:pic>
        <p:nvPicPr>
          <p:cNvPr id="4" name="Image 1" descr="wordm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987552"/>
            <a:ext cx="3566160" cy="417881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7562088" y="1298448"/>
            <a:ext cx="4123944" cy="2944368"/>
          </a:xfrm>
          <a:prstGeom prst="roundRect">
            <a:avLst>
              <a:gd name="adj" fmla="val 2484"/>
            </a:avLst>
          </a:prstGeom>
          <a:solidFill>
            <a:srgbClr val="FFFFFF"/>
          </a:solidFill>
          <a:ln w="12700">
            <a:solidFill>
              <a:srgbClr val="E2E8EA"/>
            </a:solidFill>
            <a:prstDash val="solid"/>
          </a:ln>
          <a:effectLst>
            <a:outerShdw sx="100000" sy="100000" kx="0" ky="0" algn="bl" rotWithShape="0" blurRad="177800" dist="50800" dir="5400000">
              <a:srgbClr val="012632">
                <a:alpha val="35000"/>
              </a:srgbClr>
            </a:outerShdw>
          </a:effectLst>
        </p:spPr>
        <p:txBody>
          <a:bodyPr/>
          <a:p/>
        </p:txBody>
      </p:sp>
      <p:pic>
        <p:nvPicPr>
          <p:cNvPr id="6" name="Image 2" descr="porta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35240" y="1371600"/>
            <a:ext cx="3977640" cy="2798064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7562088" y="4279392"/>
            <a:ext cx="41239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C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drive, one click, every hospital and ward reported</a:t>
            </a:r>
            <a:endParaRPr lang="en-US" sz="1100" dirty="0"/>
          </a:p>
        </p:txBody>
      </p:sp>
      <p:sp>
        <p:nvSpPr>
          <p:cNvPr id="8" name="Text 3"/>
          <p:cNvSpPr txBox="1"/>
          <p:nvPr/>
        </p:nvSpPr>
        <p:spPr>
          <a:xfrm>
            <a:off x="548640" y="2377440"/>
            <a:ext cx="6858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 Report Generator</a:t>
            </a:r>
            <a:endParaRPr lang="en-US" sz="4000" dirty="0"/>
          </a:p>
        </p:txBody>
      </p:sp>
      <p:sp>
        <p:nvSpPr>
          <p:cNvPr id="9" name="Text 4"/>
          <p:cNvSpPr txBox="1"/>
          <p:nvPr/>
        </p:nvSpPr>
        <p:spPr>
          <a:xfrm>
            <a:off x="548640" y="3246120"/>
            <a:ext cx="6766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6C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does, what it produces — an overview for managers</a:t>
            </a:r>
            <a:endParaRPr lang="en-US" sz="1900" dirty="0"/>
          </a:p>
        </p:txBody>
      </p:sp>
      <p:sp>
        <p:nvSpPr>
          <p:cNvPr id="10" name="Text 5"/>
          <p:cNvSpPr txBox="1"/>
          <p:nvPr/>
        </p:nvSpPr>
        <p:spPr>
          <a:xfrm>
            <a:off x="548640" y="58978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Pathology Queensland · Point of Care Testing · September 2026</a:t>
            </a:r>
            <a:endParaRPr lang="en-US" sz="1300" dirty="0"/>
          </a:p>
        </p:txBody>
      </p:sp>
      <p:sp>
        <p:nvSpPr>
          <p:cNvPr id="11" name="Text 6"/>
          <p:cNvSpPr txBox="1"/>
          <p:nvPr/>
        </p:nvSpPr>
        <p:spPr>
          <a:xfrm>
            <a:off x="548640" y="6291072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C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Conceived, designed and built by Craig MacKenzie · Chemistry Department, Townsville Group Laboratory · Pathology Queensland</a:t>
            </a:r>
            <a:endParaRPr lang="en-US" sz="1100" dirty="0"/>
          </a:p>
        </p:txBody>
      </p:sp>
      <p:sp>
        <p:nvSpPr>
          <p:cNvPr id="12" name="Shape 7"/>
          <p:cNvSpPr/>
          <p:nvPr/>
        </p:nvSpPr>
        <p:spPr>
          <a:xfrm>
            <a:off x="0" y="6793992"/>
            <a:ext cx="2040636" cy="64008"/>
          </a:xfrm>
          <a:prstGeom prst="rect">
            <a:avLst/>
          </a:prstGeom>
          <a:solidFill>
            <a:srgbClr val="01485C"/>
          </a:solidFill>
          <a:ln/>
        </p:spPr>
        <p:txBody>
          <a:bodyPr/>
          <a:p/>
        </p:txBody>
      </p:sp>
      <p:sp>
        <p:nvSpPr>
          <p:cNvPr id="13" name="Shape 8"/>
          <p:cNvSpPr/>
          <p:nvPr/>
        </p:nvSpPr>
        <p:spPr>
          <a:xfrm>
            <a:off x="2031492" y="6793992"/>
            <a:ext cx="2040636" cy="64008"/>
          </a:xfrm>
          <a:prstGeom prst="rect">
            <a:avLst/>
          </a:prstGeom>
          <a:solidFill>
            <a:srgbClr val="146175"/>
          </a:solidFill>
          <a:ln/>
        </p:spPr>
        <p:txBody>
          <a:bodyPr/>
          <a:p/>
        </p:txBody>
      </p:sp>
      <p:sp>
        <p:nvSpPr>
          <p:cNvPr id="14" name="Shape 9"/>
          <p:cNvSpPr/>
          <p:nvPr/>
        </p:nvSpPr>
        <p:spPr>
          <a:xfrm>
            <a:off x="4062984" y="6793992"/>
            <a:ext cx="2040636" cy="64008"/>
          </a:xfrm>
          <a:prstGeom prst="rect">
            <a:avLst/>
          </a:prstGeom>
          <a:solidFill>
            <a:srgbClr val="11B5AE"/>
          </a:solidFill>
          <a:ln/>
        </p:spPr>
        <p:txBody>
          <a:bodyPr/>
          <a:p/>
        </p:txBody>
      </p:sp>
      <p:sp>
        <p:nvSpPr>
          <p:cNvPr id="15" name="Shape 10"/>
          <p:cNvSpPr/>
          <p:nvPr/>
        </p:nvSpPr>
        <p:spPr>
          <a:xfrm>
            <a:off x="6094476" y="6793992"/>
            <a:ext cx="2040636" cy="64008"/>
          </a:xfrm>
          <a:prstGeom prst="rect">
            <a:avLst/>
          </a:prstGeom>
          <a:solidFill>
            <a:srgbClr val="6CCAD4"/>
          </a:solidFill>
          <a:ln/>
        </p:spPr>
        <p:txBody>
          <a:bodyPr/>
          <a:p/>
        </p:txBody>
      </p:sp>
      <p:sp>
        <p:nvSpPr>
          <p:cNvPr id="16" name="Shape 11"/>
          <p:cNvSpPr/>
          <p:nvPr/>
        </p:nvSpPr>
        <p:spPr>
          <a:xfrm>
            <a:off x="8125968" y="6793992"/>
            <a:ext cx="2040636" cy="64008"/>
          </a:xfrm>
          <a:prstGeom prst="rect">
            <a:avLst/>
          </a:prstGeom>
          <a:solidFill>
            <a:srgbClr val="7FC04C"/>
          </a:solidFill>
          <a:ln/>
        </p:spPr>
        <p:txBody>
          <a:bodyPr/>
          <a:p/>
        </p:txBody>
      </p:sp>
      <p:sp>
        <p:nvSpPr>
          <p:cNvPr id="17" name="Shape 12"/>
          <p:cNvSpPr/>
          <p:nvPr/>
        </p:nvSpPr>
        <p:spPr>
          <a:xfrm>
            <a:off x="10157460" y="6793992"/>
            <a:ext cx="2040636" cy="64008"/>
          </a:xfrm>
          <a:prstGeom prst="rect">
            <a:avLst/>
          </a:prstGeom>
          <a:solidFill>
            <a:srgbClr val="E1DD57"/>
          </a:solidFill>
          <a:ln/>
        </p:spPr>
        <p:txBody>
          <a:bodyPr/>
          <a:p/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" name="Shape 7"/>
          <p:cNvSpPr/>
          <p:nvPr/>
        </p:nvSpPr>
        <p:spPr>
          <a:xfrm>
            <a:off x="0" y="6793992"/>
            <a:ext cx="2040636" cy="64008"/>
          </a:xfrm>
          <a:prstGeom prst="rect">
            <a:avLst/>
          </a:prstGeom>
          <a:solidFill>
            <a:srgbClr val="01485C"/>
          </a:solidFill>
          <a:ln/>
        </p:spPr>
        <p:txBody>
          <a:bodyPr/>
          <a:p/>
        </p:txBody>
      </p:sp>
      <p:sp>
        <p:nvSpPr>
          <p:cNvPr id="13" name="Shape 8"/>
          <p:cNvSpPr/>
          <p:nvPr/>
        </p:nvSpPr>
        <p:spPr>
          <a:xfrm>
            <a:off x="2031492" y="6793992"/>
            <a:ext cx="2040636" cy="64008"/>
          </a:xfrm>
          <a:prstGeom prst="rect">
            <a:avLst/>
          </a:prstGeom>
          <a:solidFill>
            <a:srgbClr val="146175"/>
          </a:solidFill>
          <a:ln/>
        </p:spPr>
        <p:txBody>
          <a:bodyPr/>
          <a:p/>
        </p:txBody>
      </p:sp>
      <p:sp>
        <p:nvSpPr>
          <p:cNvPr id="14" name="Shape 9"/>
          <p:cNvSpPr/>
          <p:nvPr/>
        </p:nvSpPr>
        <p:spPr>
          <a:xfrm>
            <a:off x="4062984" y="6793992"/>
            <a:ext cx="2040636" cy="64008"/>
          </a:xfrm>
          <a:prstGeom prst="rect">
            <a:avLst/>
          </a:prstGeom>
          <a:solidFill>
            <a:srgbClr val="11B5AE"/>
          </a:solidFill>
          <a:ln/>
        </p:spPr>
        <p:txBody>
          <a:bodyPr/>
          <a:p/>
        </p:txBody>
      </p:sp>
      <p:sp>
        <p:nvSpPr>
          <p:cNvPr id="15" name="Shape 10"/>
          <p:cNvSpPr/>
          <p:nvPr/>
        </p:nvSpPr>
        <p:spPr>
          <a:xfrm>
            <a:off x="6094476" y="6793992"/>
            <a:ext cx="2040636" cy="64008"/>
          </a:xfrm>
          <a:prstGeom prst="rect">
            <a:avLst/>
          </a:prstGeom>
          <a:solidFill>
            <a:srgbClr val="6CCAD4"/>
          </a:solidFill>
          <a:ln/>
        </p:spPr>
        <p:txBody>
          <a:bodyPr/>
          <a:p/>
        </p:txBody>
      </p:sp>
      <p:sp>
        <p:nvSpPr>
          <p:cNvPr id="16" name="Shape 11"/>
          <p:cNvSpPr/>
          <p:nvPr/>
        </p:nvSpPr>
        <p:spPr>
          <a:xfrm>
            <a:off x="8125968" y="6793992"/>
            <a:ext cx="2040636" cy="64008"/>
          </a:xfrm>
          <a:prstGeom prst="rect">
            <a:avLst/>
          </a:prstGeom>
          <a:solidFill>
            <a:srgbClr val="7FC04C"/>
          </a:solidFill>
          <a:ln/>
        </p:spPr>
        <p:txBody>
          <a:bodyPr/>
          <a:p/>
        </p:txBody>
      </p:sp>
      <p:sp>
        <p:nvSpPr>
          <p:cNvPr id="17" name="Shape 12"/>
          <p:cNvSpPr/>
          <p:nvPr/>
        </p:nvSpPr>
        <p:spPr>
          <a:xfrm>
            <a:off x="10157460" y="6793992"/>
            <a:ext cx="2040636" cy="64008"/>
          </a:xfrm>
          <a:prstGeom prst="rect">
            <a:avLst/>
          </a:prstGeom>
          <a:solidFill>
            <a:srgbClr val="E1DD57"/>
          </a:solidFill>
          <a:ln/>
        </p:spPr>
        <p:txBody>
          <a:bodyPr/>
          <a:p/>
        </p:txBody>
      </p:sp>
      <p:sp>
        <p:nvSpPr>
          <p:cNvPr id="18" name="TextBox 17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01485C"/>
                </a:solidFill>
              </a:rPr>
              <a:t>A full run in one minute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84080" y="384048"/>
            <a:ext cx="1828800" cy="457200"/>
          </a:xfrm>
          <a:prstGeom prst="roundRect">
            <a:avLst/>
          </a:prstGeom>
          <a:solidFill>
            <a:srgbClr val="0148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VIDEO</a:t>
            </a:r>
          </a:p>
        </p:txBody>
      </p:sp>
      <p:pic>
        <p:nvPicPr>
          <p:cNvPr id="20" name="run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48640" y="1143000"/>
            <a:ext cx="7607808" cy="475488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412480" y="1143000"/>
            <a:ext cx="32004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1485C"/>
                </a:solidFill>
              </a:rPr>
              <a:t>Click the picture to play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A real August 2026 run recorded end to end: launch, unlock the encrypted history, drop the export, load the hospitals, generate, results.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Generation for 159 hospitals takes about ten minutes; the video shows it at 30× speed, everything else at real speed.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Every staff name in the demo is synthetic. Hospitals, wards and analyser serials are real.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Conceived, designed and built by Craig MacKenzie · Chemistry Department, Townsville Group Laboratory · Pathology Queensland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20"/>
                </p:tgtEl>
              </p:cMediaNode>
            </p:video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" name="Shape 7"/>
          <p:cNvSpPr/>
          <p:nvPr/>
        </p:nvSpPr>
        <p:spPr>
          <a:xfrm>
            <a:off x="0" y="6793992"/>
            <a:ext cx="2040636" cy="64008"/>
          </a:xfrm>
          <a:prstGeom prst="rect">
            <a:avLst/>
          </a:prstGeom>
          <a:solidFill>
            <a:srgbClr val="01485C"/>
          </a:solidFill>
          <a:ln/>
        </p:spPr>
        <p:txBody>
          <a:bodyPr/>
          <a:p/>
        </p:txBody>
      </p:sp>
      <p:sp>
        <p:nvSpPr>
          <p:cNvPr id="13" name="Shape 8"/>
          <p:cNvSpPr/>
          <p:nvPr/>
        </p:nvSpPr>
        <p:spPr>
          <a:xfrm>
            <a:off x="2031492" y="6793992"/>
            <a:ext cx="2040636" cy="64008"/>
          </a:xfrm>
          <a:prstGeom prst="rect">
            <a:avLst/>
          </a:prstGeom>
          <a:solidFill>
            <a:srgbClr val="146175"/>
          </a:solidFill>
          <a:ln/>
        </p:spPr>
        <p:txBody>
          <a:bodyPr/>
          <a:p/>
        </p:txBody>
      </p:sp>
      <p:sp>
        <p:nvSpPr>
          <p:cNvPr id="14" name="Shape 9"/>
          <p:cNvSpPr/>
          <p:nvPr/>
        </p:nvSpPr>
        <p:spPr>
          <a:xfrm>
            <a:off x="4062984" y="6793992"/>
            <a:ext cx="2040636" cy="64008"/>
          </a:xfrm>
          <a:prstGeom prst="rect">
            <a:avLst/>
          </a:prstGeom>
          <a:solidFill>
            <a:srgbClr val="11B5AE"/>
          </a:solidFill>
          <a:ln/>
        </p:spPr>
        <p:txBody>
          <a:bodyPr/>
          <a:p/>
        </p:txBody>
      </p:sp>
      <p:sp>
        <p:nvSpPr>
          <p:cNvPr id="15" name="Shape 10"/>
          <p:cNvSpPr/>
          <p:nvPr/>
        </p:nvSpPr>
        <p:spPr>
          <a:xfrm>
            <a:off x="6094476" y="6793992"/>
            <a:ext cx="2040636" cy="64008"/>
          </a:xfrm>
          <a:prstGeom prst="rect">
            <a:avLst/>
          </a:prstGeom>
          <a:solidFill>
            <a:srgbClr val="6CCAD4"/>
          </a:solidFill>
          <a:ln/>
        </p:spPr>
        <p:txBody>
          <a:bodyPr/>
          <a:p/>
        </p:txBody>
      </p:sp>
      <p:sp>
        <p:nvSpPr>
          <p:cNvPr id="16" name="Shape 11"/>
          <p:cNvSpPr/>
          <p:nvPr/>
        </p:nvSpPr>
        <p:spPr>
          <a:xfrm>
            <a:off x="8125968" y="6793992"/>
            <a:ext cx="2040636" cy="64008"/>
          </a:xfrm>
          <a:prstGeom prst="rect">
            <a:avLst/>
          </a:prstGeom>
          <a:solidFill>
            <a:srgbClr val="7FC04C"/>
          </a:solidFill>
          <a:ln/>
        </p:spPr>
        <p:txBody>
          <a:bodyPr/>
          <a:p/>
        </p:txBody>
      </p:sp>
      <p:sp>
        <p:nvSpPr>
          <p:cNvPr id="17" name="Shape 12"/>
          <p:cNvSpPr/>
          <p:nvPr/>
        </p:nvSpPr>
        <p:spPr>
          <a:xfrm>
            <a:off x="10157460" y="6793992"/>
            <a:ext cx="2040636" cy="64008"/>
          </a:xfrm>
          <a:prstGeom prst="rect">
            <a:avLst/>
          </a:prstGeom>
          <a:solidFill>
            <a:srgbClr val="E1DD57"/>
          </a:solidFill>
          <a:ln/>
        </p:spPr>
        <p:txBody>
          <a:bodyPr/>
          <a:p/>
        </p:txBody>
      </p:sp>
      <p:sp>
        <p:nvSpPr>
          <p:cNvPr id="18" name="TextBox 17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01485C"/>
                </a:solidFill>
              </a:rPr>
              <a:t>What one run produces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1188720"/>
            <a:ext cx="2103120" cy="1143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E2E8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1280160"/>
            <a:ext cx="1737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01485C"/>
                </a:solidFill>
              </a:rPr>
              <a:t>159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1810512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hospitals in one export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816352" y="1188720"/>
            <a:ext cx="2103120" cy="1143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E2E8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999232" y="1280160"/>
            <a:ext cx="1737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01485C"/>
                </a:solidFill>
              </a:rPr>
              <a:t>474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99232" y="1810512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Word documents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84064" y="1188720"/>
            <a:ext cx="2103120" cy="1143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E2E8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266944" y="1280160"/>
            <a:ext cx="1737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01485C"/>
                </a:solidFill>
              </a:rPr>
              <a:t>16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66944" y="1810512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HHS folders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351775" y="1188720"/>
            <a:ext cx="2103120" cy="1143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E2E8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534655" y="1280160"/>
            <a:ext cx="1737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01485C"/>
                </a:solidFill>
              </a:rPr>
              <a:t>163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534655" y="1810512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dormant analysers listed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619488" y="1188720"/>
            <a:ext cx="2103120" cy="1143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E2E8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802367" y="1280160"/>
            <a:ext cx="1737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01485C"/>
                </a:solidFill>
              </a:rPr>
              <a:t>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02367" y="1810512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network connections, ever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640" y="2606040"/>
            <a:ext cx="5669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1485C"/>
                </a:solidFill>
              </a:rPr>
              <a:t>Filed by Hospital and Health Service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3063240"/>
            <a:ext cx="192024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17272E"/>
                </a:solidFill>
              </a:rPr>
              <a:t>CA\   40 documents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17272E"/>
                </a:solidFill>
              </a:rPr>
              <a:t>ChildQLD\   17 documents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17272E"/>
                </a:solidFill>
              </a:rPr>
              <a:t>Mackay\   17 documents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17272E"/>
                </a:solidFill>
              </a:rPr>
              <a:t>NoWe\   19 documents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17272E"/>
                </a:solidFill>
              </a:rPr>
              <a:t>ToCa\   22 documents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17272E"/>
                </a:solidFill>
              </a:rPr>
              <a:t>WiBa\   38 documents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468880" y="3063240"/>
            <a:ext cx="192024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17272E"/>
                </a:solidFill>
              </a:rPr>
              <a:t>CQLD\   31 documents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17272E"/>
                </a:solidFill>
              </a:rPr>
              <a:t>DaDo\   45 documents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17272E"/>
                </a:solidFill>
              </a:rPr>
              <a:t>MeNo\   63 documents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17272E"/>
                </a:solidFill>
              </a:rPr>
              <a:t>SoWe\   16 documents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17272E"/>
                </a:solidFill>
              </a:rPr>
              <a:t>Townsv\   33 documents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389120" y="3063240"/>
            <a:ext cx="192024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17272E"/>
                </a:solidFill>
              </a:rPr>
              <a:t>CWest\   17 documents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17272E"/>
                </a:solidFill>
              </a:rPr>
              <a:t>GoCo\   25 documents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17272E"/>
                </a:solidFill>
              </a:rPr>
              <a:t>MeSo\   39 documents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17272E"/>
                </a:solidFill>
              </a:rPr>
              <a:t>SuCo\   25 documents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17272E"/>
                </a:solidFill>
              </a:rPr>
              <a:t>WeMo\   26 documents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" y="5074920"/>
            <a:ext cx="56692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Dormant_iSTATs_August2026.docx sits at the top level of the month folder — every analyser left out and why.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The ABL run adds 68 documents: 52 department reports and a Hospital Summary for each of 16 hospitals.</a:t>
            </a:r>
          </a:p>
        </p:txBody>
      </p:sp>
      <p:pic>
        <p:nvPicPr>
          <p:cNvPr id="39" name="Picture 38" descr="resul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2606040"/>
            <a:ext cx="5120640" cy="3200400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6492240" y="5852159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The results card at the end of a run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Conceived, designed and built by Craig MacKenzie · Chemistry Department, Townsville Group Laboratory · Pathology Queensland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" name="Shape 7"/>
          <p:cNvSpPr/>
          <p:nvPr/>
        </p:nvSpPr>
        <p:spPr>
          <a:xfrm>
            <a:off x="0" y="6793992"/>
            <a:ext cx="2040636" cy="64008"/>
          </a:xfrm>
          <a:prstGeom prst="rect">
            <a:avLst/>
          </a:prstGeom>
          <a:solidFill>
            <a:srgbClr val="01485C"/>
          </a:solidFill>
          <a:ln/>
        </p:spPr>
        <p:txBody>
          <a:bodyPr/>
          <a:p/>
        </p:txBody>
      </p:sp>
      <p:sp>
        <p:nvSpPr>
          <p:cNvPr id="13" name="Shape 8"/>
          <p:cNvSpPr/>
          <p:nvPr/>
        </p:nvSpPr>
        <p:spPr>
          <a:xfrm>
            <a:off x="2031492" y="6793992"/>
            <a:ext cx="2040636" cy="64008"/>
          </a:xfrm>
          <a:prstGeom prst="rect">
            <a:avLst/>
          </a:prstGeom>
          <a:solidFill>
            <a:srgbClr val="146175"/>
          </a:solidFill>
          <a:ln/>
        </p:spPr>
        <p:txBody>
          <a:bodyPr/>
          <a:p/>
        </p:txBody>
      </p:sp>
      <p:sp>
        <p:nvSpPr>
          <p:cNvPr id="14" name="Shape 9"/>
          <p:cNvSpPr/>
          <p:nvPr/>
        </p:nvSpPr>
        <p:spPr>
          <a:xfrm>
            <a:off x="4062984" y="6793992"/>
            <a:ext cx="2040636" cy="64008"/>
          </a:xfrm>
          <a:prstGeom prst="rect">
            <a:avLst/>
          </a:prstGeom>
          <a:solidFill>
            <a:srgbClr val="11B5AE"/>
          </a:solidFill>
          <a:ln/>
        </p:spPr>
        <p:txBody>
          <a:bodyPr/>
          <a:p/>
        </p:txBody>
      </p:sp>
      <p:sp>
        <p:nvSpPr>
          <p:cNvPr id="15" name="Shape 10"/>
          <p:cNvSpPr/>
          <p:nvPr/>
        </p:nvSpPr>
        <p:spPr>
          <a:xfrm>
            <a:off x="6094476" y="6793992"/>
            <a:ext cx="2040636" cy="64008"/>
          </a:xfrm>
          <a:prstGeom prst="rect">
            <a:avLst/>
          </a:prstGeom>
          <a:solidFill>
            <a:srgbClr val="6CCAD4"/>
          </a:solidFill>
          <a:ln/>
        </p:spPr>
        <p:txBody>
          <a:bodyPr/>
          <a:p/>
        </p:txBody>
      </p:sp>
      <p:sp>
        <p:nvSpPr>
          <p:cNvPr id="16" name="Shape 11"/>
          <p:cNvSpPr/>
          <p:nvPr/>
        </p:nvSpPr>
        <p:spPr>
          <a:xfrm>
            <a:off x="8125968" y="6793992"/>
            <a:ext cx="2040636" cy="64008"/>
          </a:xfrm>
          <a:prstGeom prst="rect">
            <a:avLst/>
          </a:prstGeom>
          <a:solidFill>
            <a:srgbClr val="7FC04C"/>
          </a:solidFill>
          <a:ln/>
        </p:spPr>
        <p:txBody>
          <a:bodyPr/>
          <a:p/>
        </p:txBody>
      </p:sp>
      <p:sp>
        <p:nvSpPr>
          <p:cNvPr id="17" name="Shape 12"/>
          <p:cNvSpPr/>
          <p:nvPr/>
        </p:nvSpPr>
        <p:spPr>
          <a:xfrm>
            <a:off x="10157460" y="6793992"/>
            <a:ext cx="2040636" cy="64008"/>
          </a:xfrm>
          <a:prstGeom prst="rect">
            <a:avLst/>
          </a:prstGeom>
          <a:solidFill>
            <a:srgbClr val="E1DD57"/>
          </a:solidFill>
          <a:ln/>
        </p:spPr>
        <p:txBody>
          <a:bodyPr/>
          <a:p/>
        </p:txBody>
      </p:sp>
      <p:sp>
        <p:nvSpPr>
          <p:cNvPr id="18" name="TextBox 17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01485C"/>
                </a:solidFill>
              </a:rPr>
              <a:t>Charters Towers, August 2026 — pages 1–2 of 5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84080" y="384048"/>
            <a:ext cx="1828800" cy="457200"/>
          </a:xfrm>
          <a:prstGeom prst="roundRect">
            <a:avLst/>
          </a:prstGeom>
          <a:solidFill>
            <a:srgbClr val="0148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i-STAT</a:t>
            </a:r>
          </a:p>
        </p:txBody>
      </p:sp>
      <p:pic>
        <p:nvPicPr>
          <p:cNvPr id="20" name="Picture 19" descr="cth_p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3429521" cy="4846320"/>
          </a:xfrm>
          <a:prstGeom prst="rect">
            <a:avLst/>
          </a:prstGeom>
          <a:ln>
            <a:solidFill>
              <a:srgbClr val="E2E8EA"/>
            </a:solidFill>
          </a:ln>
        </p:spPr>
      </p:pic>
      <p:sp>
        <p:nvSpPr>
          <p:cNvPr id="21" name="TextBox 20"/>
          <p:cNvSpPr txBox="1"/>
          <p:nvPr/>
        </p:nvSpPr>
        <p:spPr>
          <a:xfrm>
            <a:off x="548640" y="6035040"/>
            <a:ext cx="3429521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Page 1: snapshot and first trend</a:t>
            </a:r>
          </a:p>
        </p:txBody>
      </p:sp>
      <p:pic>
        <p:nvPicPr>
          <p:cNvPr id="22" name="Picture 21" descr="cth_p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06240" y="1143000"/>
            <a:ext cx="3429521" cy="4846320"/>
          </a:xfrm>
          <a:prstGeom prst="rect">
            <a:avLst/>
          </a:prstGeom>
          <a:ln>
            <a:solidFill>
              <a:srgbClr val="E2E8EA"/>
            </a:solidFill>
          </a:ln>
        </p:spPr>
      </p:pic>
      <p:sp>
        <p:nvSpPr>
          <p:cNvPr id="23" name="TextBox 22"/>
          <p:cNvSpPr txBox="1"/>
          <p:nvPr/>
        </p:nvSpPr>
        <p:spPr>
          <a:xfrm>
            <a:off x="4206240" y="6035040"/>
            <a:ext cx="3429521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Page 2: error mix, second trend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1188720"/>
            <a:ext cx="356616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1485C"/>
                </a:solidFill>
              </a:rPr>
              <a:t>Page 1 — the month at a glance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Monthly Snapshot: overall error rate with its performance band (3.6%, Champions); simulator runs per analyser; ceramic cleaning per analyser (here one of two failed); the top error code, flagged when it repeats from the previous month; staff flagged this month (four with 3+ errors); recurring staff alerts.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Error Rate Trend for the first analyser: twelve months against the colour bands, so a drift is visible before it becomes a problem.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Page 2 — Cartridges Run &amp; Error Mix for the same analyser: workload on top, each month’s errors as a percentage split by category (handling, overfilled, underfilled, sample volume and so on), then the trend chart for the second analyser.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Conceived, designed and built by Craig MacKenzie · Chemistry Department, Townsville Group Laboratory · Pathology Queensland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" name="Shape 7"/>
          <p:cNvSpPr/>
          <p:nvPr/>
        </p:nvSpPr>
        <p:spPr>
          <a:xfrm>
            <a:off x="0" y="6793992"/>
            <a:ext cx="2040636" cy="64008"/>
          </a:xfrm>
          <a:prstGeom prst="rect">
            <a:avLst/>
          </a:prstGeom>
          <a:solidFill>
            <a:srgbClr val="01485C"/>
          </a:solidFill>
          <a:ln/>
        </p:spPr>
        <p:txBody>
          <a:bodyPr/>
          <a:p/>
        </p:txBody>
      </p:sp>
      <p:sp>
        <p:nvSpPr>
          <p:cNvPr id="13" name="Shape 8"/>
          <p:cNvSpPr/>
          <p:nvPr/>
        </p:nvSpPr>
        <p:spPr>
          <a:xfrm>
            <a:off x="2031492" y="6793992"/>
            <a:ext cx="2040636" cy="64008"/>
          </a:xfrm>
          <a:prstGeom prst="rect">
            <a:avLst/>
          </a:prstGeom>
          <a:solidFill>
            <a:srgbClr val="146175"/>
          </a:solidFill>
          <a:ln/>
        </p:spPr>
        <p:txBody>
          <a:bodyPr/>
          <a:p/>
        </p:txBody>
      </p:sp>
      <p:sp>
        <p:nvSpPr>
          <p:cNvPr id="14" name="Shape 9"/>
          <p:cNvSpPr/>
          <p:nvPr/>
        </p:nvSpPr>
        <p:spPr>
          <a:xfrm>
            <a:off x="4062984" y="6793992"/>
            <a:ext cx="2040636" cy="64008"/>
          </a:xfrm>
          <a:prstGeom prst="rect">
            <a:avLst/>
          </a:prstGeom>
          <a:solidFill>
            <a:srgbClr val="11B5AE"/>
          </a:solidFill>
          <a:ln/>
        </p:spPr>
        <p:txBody>
          <a:bodyPr/>
          <a:p/>
        </p:txBody>
      </p:sp>
      <p:sp>
        <p:nvSpPr>
          <p:cNvPr id="15" name="Shape 10"/>
          <p:cNvSpPr/>
          <p:nvPr/>
        </p:nvSpPr>
        <p:spPr>
          <a:xfrm>
            <a:off x="6094476" y="6793992"/>
            <a:ext cx="2040636" cy="64008"/>
          </a:xfrm>
          <a:prstGeom prst="rect">
            <a:avLst/>
          </a:prstGeom>
          <a:solidFill>
            <a:srgbClr val="6CCAD4"/>
          </a:solidFill>
          <a:ln/>
        </p:spPr>
        <p:txBody>
          <a:bodyPr/>
          <a:p/>
        </p:txBody>
      </p:sp>
      <p:sp>
        <p:nvSpPr>
          <p:cNvPr id="16" name="Shape 11"/>
          <p:cNvSpPr/>
          <p:nvPr/>
        </p:nvSpPr>
        <p:spPr>
          <a:xfrm>
            <a:off x="8125968" y="6793992"/>
            <a:ext cx="2040636" cy="64008"/>
          </a:xfrm>
          <a:prstGeom prst="rect">
            <a:avLst/>
          </a:prstGeom>
          <a:solidFill>
            <a:srgbClr val="7FC04C"/>
          </a:solidFill>
          <a:ln/>
        </p:spPr>
        <p:txBody>
          <a:bodyPr/>
          <a:p/>
        </p:txBody>
      </p:sp>
      <p:sp>
        <p:nvSpPr>
          <p:cNvPr id="17" name="Shape 12"/>
          <p:cNvSpPr/>
          <p:nvPr/>
        </p:nvSpPr>
        <p:spPr>
          <a:xfrm>
            <a:off x="10157460" y="6793992"/>
            <a:ext cx="2040636" cy="64008"/>
          </a:xfrm>
          <a:prstGeom prst="rect">
            <a:avLst/>
          </a:prstGeom>
          <a:solidFill>
            <a:srgbClr val="E1DD57"/>
          </a:solidFill>
          <a:ln/>
        </p:spPr>
        <p:txBody>
          <a:bodyPr/>
          <a:p/>
        </p:txBody>
      </p:sp>
      <p:sp>
        <p:nvSpPr>
          <p:cNvPr id="18" name="TextBox 17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01485C"/>
                </a:solidFill>
              </a:rPr>
              <a:t>Charters Towers, August 2026 — pages 3–4 of 5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84080" y="384048"/>
            <a:ext cx="1828800" cy="457200"/>
          </a:xfrm>
          <a:prstGeom prst="roundRect">
            <a:avLst/>
          </a:prstGeom>
          <a:solidFill>
            <a:srgbClr val="0148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i-STAT</a:t>
            </a:r>
          </a:p>
        </p:txBody>
      </p:sp>
      <p:pic>
        <p:nvPicPr>
          <p:cNvPr id="20" name="Picture 19" descr="cth_p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3429521" cy="4846320"/>
          </a:xfrm>
          <a:prstGeom prst="rect">
            <a:avLst/>
          </a:prstGeom>
          <a:ln>
            <a:solidFill>
              <a:srgbClr val="E2E8EA"/>
            </a:solidFill>
          </a:ln>
        </p:spPr>
      </p:pic>
      <p:sp>
        <p:nvSpPr>
          <p:cNvPr id="21" name="TextBox 20"/>
          <p:cNvSpPr txBox="1"/>
          <p:nvPr/>
        </p:nvSpPr>
        <p:spPr>
          <a:xfrm>
            <a:off x="548640" y="6035040"/>
            <a:ext cx="3429521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Page 3: performance and QC checks</a:t>
            </a:r>
          </a:p>
        </p:txBody>
      </p:sp>
      <p:pic>
        <p:nvPicPr>
          <p:cNvPr id="22" name="Picture 21" descr="cth_p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06240" y="1143000"/>
            <a:ext cx="3429521" cy="4846320"/>
          </a:xfrm>
          <a:prstGeom prst="rect">
            <a:avLst/>
          </a:prstGeom>
          <a:ln>
            <a:solidFill>
              <a:srgbClr val="E2E8EA"/>
            </a:solidFill>
          </a:ln>
        </p:spPr>
      </p:pic>
      <p:sp>
        <p:nvSpPr>
          <p:cNvPr id="23" name="TextBox 22"/>
          <p:cNvSpPr txBox="1"/>
          <p:nvPr/>
        </p:nvSpPr>
        <p:spPr>
          <a:xfrm>
            <a:off x="4206240" y="6035040"/>
            <a:ext cx="3429521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Page 4: staff follow-up, every error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1188720"/>
            <a:ext cx="356616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1485C"/>
                </a:solidFill>
              </a:rPr>
              <a:t>Page 3 — performance and QC compliance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Error mix for the second analyser, then the Performance Summary: cartridges, errors and error rate per analyser with its band, and the site total.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Simulators run per analyser, and the Monthly Ceramic Cleaning check per analyser — FAIL if any analyser is below the three cartridges required.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Page 4 — Staff Requiring Follow-up: this month’s staff with three or more errors, with their error count and personal error rate; a Recurring section appears when someone is flagged in consecutive months.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All cartridge errors recorded this month: every event by location and staff member, the code and its likely cause, flagged staff in red — the evidence behind the follow-up list.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Conceived, designed and built by Craig MacKenzie · Chemistry Department, Townsville Group Laboratory · Pathology Queensland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" name="Shape 7"/>
          <p:cNvSpPr/>
          <p:nvPr/>
        </p:nvSpPr>
        <p:spPr>
          <a:xfrm>
            <a:off x="0" y="6793992"/>
            <a:ext cx="2040636" cy="64008"/>
          </a:xfrm>
          <a:prstGeom prst="rect">
            <a:avLst/>
          </a:prstGeom>
          <a:solidFill>
            <a:srgbClr val="01485C"/>
          </a:solidFill>
          <a:ln/>
        </p:spPr>
        <p:txBody>
          <a:bodyPr/>
          <a:p/>
        </p:txBody>
      </p:sp>
      <p:sp>
        <p:nvSpPr>
          <p:cNvPr id="13" name="Shape 8"/>
          <p:cNvSpPr/>
          <p:nvPr/>
        </p:nvSpPr>
        <p:spPr>
          <a:xfrm>
            <a:off x="2031492" y="6793992"/>
            <a:ext cx="2040636" cy="64008"/>
          </a:xfrm>
          <a:prstGeom prst="rect">
            <a:avLst/>
          </a:prstGeom>
          <a:solidFill>
            <a:srgbClr val="146175"/>
          </a:solidFill>
          <a:ln/>
        </p:spPr>
        <p:txBody>
          <a:bodyPr/>
          <a:p/>
        </p:txBody>
      </p:sp>
      <p:sp>
        <p:nvSpPr>
          <p:cNvPr id="14" name="Shape 9"/>
          <p:cNvSpPr/>
          <p:nvPr/>
        </p:nvSpPr>
        <p:spPr>
          <a:xfrm>
            <a:off x="4062984" y="6793992"/>
            <a:ext cx="2040636" cy="64008"/>
          </a:xfrm>
          <a:prstGeom prst="rect">
            <a:avLst/>
          </a:prstGeom>
          <a:solidFill>
            <a:srgbClr val="11B5AE"/>
          </a:solidFill>
          <a:ln/>
        </p:spPr>
        <p:txBody>
          <a:bodyPr/>
          <a:p/>
        </p:txBody>
      </p:sp>
      <p:sp>
        <p:nvSpPr>
          <p:cNvPr id="15" name="Shape 10"/>
          <p:cNvSpPr/>
          <p:nvPr/>
        </p:nvSpPr>
        <p:spPr>
          <a:xfrm>
            <a:off x="6094476" y="6793992"/>
            <a:ext cx="2040636" cy="64008"/>
          </a:xfrm>
          <a:prstGeom prst="rect">
            <a:avLst/>
          </a:prstGeom>
          <a:solidFill>
            <a:srgbClr val="6CCAD4"/>
          </a:solidFill>
          <a:ln/>
        </p:spPr>
        <p:txBody>
          <a:bodyPr/>
          <a:p/>
        </p:txBody>
      </p:sp>
      <p:sp>
        <p:nvSpPr>
          <p:cNvPr id="16" name="Shape 11"/>
          <p:cNvSpPr/>
          <p:nvPr/>
        </p:nvSpPr>
        <p:spPr>
          <a:xfrm>
            <a:off x="8125968" y="6793992"/>
            <a:ext cx="2040636" cy="64008"/>
          </a:xfrm>
          <a:prstGeom prst="rect">
            <a:avLst/>
          </a:prstGeom>
          <a:solidFill>
            <a:srgbClr val="7FC04C"/>
          </a:solidFill>
          <a:ln/>
        </p:spPr>
        <p:txBody>
          <a:bodyPr/>
          <a:p/>
        </p:txBody>
      </p:sp>
      <p:sp>
        <p:nvSpPr>
          <p:cNvPr id="17" name="Shape 12"/>
          <p:cNvSpPr/>
          <p:nvPr/>
        </p:nvSpPr>
        <p:spPr>
          <a:xfrm>
            <a:off x="10157460" y="6793992"/>
            <a:ext cx="2040636" cy="64008"/>
          </a:xfrm>
          <a:prstGeom prst="rect">
            <a:avLst/>
          </a:prstGeom>
          <a:solidFill>
            <a:srgbClr val="E1DD57"/>
          </a:solidFill>
          <a:ln/>
        </p:spPr>
        <p:txBody>
          <a:bodyPr/>
          <a:p/>
        </p:txBody>
      </p:sp>
      <p:sp>
        <p:nvSpPr>
          <p:cNvPr id="18" name="TextBox 17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01485C"/>
                </a:solidFill>
              </a:rPr>
              <a:t>Charters Towers, August 2026 — page 5 of 5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84080" y="384048"/>
            <a:ext cx="1828800" cy="457200"/>
          </a:xfrm>
          <a:prstGeom prst="roundRect">
            <a:avLst/>
          </a:prstGeom>
          <a:solidFill>
            <a:srgbClr val="0148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i-STAT</a:t>
            </a:r>
          </a:p>
        </p:txBody>
      </p:sp>
      <p:pic>
        <p:nvPicPr>
          <p:cNvPr id="20" name="Picture 19" descr="cth_p5_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5534103" cy="4846320"/>
          </a:xfrm>
          <a:prstGeom prst="rect">
            <a:avLst/>
          </a:prstGeom>
          <a:ln>
            <a:solidFill>
              <a:srgbClr val="E2E8EA"/>
            </a:solidFill>
          </a:ln>
        </p:spPr>
      </p:pic>
      <p:sp>
        <p:nvSpPr>
          <p:cNvPr id="21" name="TextBox 20"/>
          <p:cNvSpPr txBox="1"/>
          <p:nvPr/>
        </p:nvSpPr>
        <p:spPr>
          <a:xfrm>
            <a:off x="548640" y="6035040"/>
            <a:ext cx="5534103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Page 5: error causes and the 12-month pattern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2783" y="1188720"/>
            <a:ext cx="5210097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1485C"/>
                </a:solidFill>
              </a:rPr>
              <a:t>Page 5 — understanding the errors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Error Type Summary: the month’s error codes with their likely cause and count, the top code flagged when it is a repeat.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Top Error Code Analysis: the device message and a plain-English explanation of each leading code — what the operator saw and what to do about it. Here CODE 95 (operator cancelled before mandatory data was entered) leads for the second time.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Error Type Trend: the top error type each month for the last twelve, repeats flagged — the difference between a bad month and a habit.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A link to the online training resources closes every report.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Conceived, designed and built by Craig MacKenzie · Chemistry Department, Townsville Group Laboratory · Pathology Queensland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" name="Shape 7"/>
          <p:cNvSpPr/>
          <p:nvPr/>
        </p:nvSpPr>
        <p:spPr>
          <a:xfrm>
            <a:off x="0" y="6793992"/>
            <a:ext cx="2040636" cy="64008"/>
          </a:xfrm>
          <a:prstGeom prst="rect">
            <a:avLst/>
          </a:prstGeom>
          <a:solidFill>
            <a:srgbClr val="01485C"/>
          </a:solidFill>
          <a:ln/>
        </p:spPr>
        <p:txBody>
          <a:bodyPr/>
          <a:p/>
        </p:txBody>
      </p:sp>
      <p:sp>
        <p:nvSpPr>
          <p:cNvPr id="13" name="Shape 8"/>
          <p:cNvSpPr/>
          <p:nvPr/>
        </p:nvSpPr>
        <p:spPr>
          <a:xfrm>
            <a:off x="2031492" y="6793992"/>
            <a:ext cx="2040636" cy="64008"/>
          </a:xfrm>
          <a:prstGeom prst="rect">
            <a:avLst/>
          </a:prstGeom>
          <a:solidFill>
            <a:srgbClr val="146175"/>
          </a:solidFill>
          <a:ln/>
        </p:spPr>
        <p:txBody>
          <a:bodyPr/>
          <a:p/>
        </p:txBody>
      </p:sp>
      <p:sp>
        <p:nvSpPr>
          <p:cNvPr id="14" name="Shape 9"/>
          <p:cNvSpPr/>
          <p:nvPr/>
        </p:nvSpPr>
        <p:spPr>
          <a:xfrm>
            <a:off x="4062984" y="6793992"/>
            <a:ext cx="2040636" cy="64008"/>
          </a:xfrm>
          <a:prstGeom prst="rect">
            <a:avLst/>
          </a:prstGeom>
          <a:solidFill>
            <a:srgbClr val="11B5AE"/>
          </a:solidFill>
          <a:ln/>
        </p:spPr>
        <p:txBody>
          <a:bodyPr/>
          <a:p/>
        </p:txBody>
      </p:sp>
      <p:sp>
        <p:nvSpPr>
          <p:cNvPr id="15" name="Shape 10"/>
          <p:cNvSpPr/>
          <p:nvPr/>
        </p:nvSpPr>
        <p:spPr>
          <a:xfrm>
            <a:off x="6094476" y="6793992"/>
            <a:ext cx="2040636" cy="64008"/>
          </a:xfrm>
          <a:prstGeom prst="rect">
            <a:avLst/>
          </a:prstGeom>
          <a:solidFill>
            <a:srgbClr val="6CCAD4"/>
          </a:solidFill>
          <a:ln/>
        </p:spPr>
        <p:txBody>
          <a:bodyPr/>
          <a:p/>
        </p:txBody>
      </p:sp>
      <p:sp>
        <p:nvSpPr>
          <p:cNvPr id="16" name="Shape 11"/>
          <p:cNvSpPr/>
          <p:nvPr/>
        </p:nvSpPr>
        <p:spPr>
          <a:xfrm>
            <a:off x="8125968" y="6793992"/>
            <a:ext cx="2040636" cy="64008"/>
          </a:xfrm>
          <a:prstGeom prst="rect">
            <a:avLst/>
          </a:prstGeom>
          <a:solidFill>
            <a:srgbClr val="7FC04C"/>
          </a:solidFill>
          <a:ln/>
        </p:spPr>
        <p:txBody>
          <a:bodyPr/>
          <a:p/>
        </p:txBody>
      </p:sp>
      <p:sp>
        <p:nvSpPr>
          <p:cNvPr id="17" name="Shape 12"/>
          <p:cNvSpPr/>
          <p:nvPr/>
        </p:nvSpPr>
        <p:spPr>
          <a:xfrm>
            <a:off x="10157460" y="6793992"/>
            <a:ext cx="2040636" cy="64008"/>
          </a:xfrm>
          <a:prstGeom prst="rect">
            <a:avLst/>
          </a:prstGeom>
          <a:solidFill>
            <a:srgbClr val="E1DD57"/>
          </a:solidFill>
          <a:ln/>
        </p:spPr>
        <p:txBody>
          <a:bodyPr/>
          <a:p/>
        </p:txBody>
      </p:sp>
      <p:sp>
        <p:nvSpPr>
          <p:cNvPr id="18" name="TextBox 17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01485C"/>
                </a:solidFill>
              </a:rPr>
              <a:t>ABL — Townsville ED, August 2026 — pages 1–2 of 5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84080" y="384048"/>
            <a:ext cx="1828800" cy="457200"/>
          </a:xfrm>
          <a:prstGeom prst="roundRect">
            <a:avLst/>
          </a:prstGeom>
          <a:solidFill>
            <a:srgbClr val="0148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i-STAT</a:t>
            </a:r>
          </a:p>
        </p:txBody>
      </p:sp>
      <p:pic>
        <p:nvPicPr>
          <p:cNvPr id="20" name="Picture 19" descr="abl_dept_p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3429521" cy="4846320"/>
          </a:xfrm>
          <a:prstGeom prst="rect">
            <a:avLst/>
          </a:prstGeom>
          <a:ln>
            <a:solidFill>
              <a:srgbClr val="E2E8EA"/>
            </a:solidFill>
          </a:ln>
        </p:spPr>
      </p:pic>
      <p:sp>
        <p:nvSpPr>
          <p:cNvPr id="21" name="TextBox 20"/>
          <p:cNvSpPr txBox="1"/>
          <p:nvPr/>
        </p:nvSpPr>
        <p:spPr>
          <a:xfrm>
            <a:off x="548640" y="6035040"/>
            <a:ext cx="3429521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Page 1: department snapshot, first analyser trend</a:t>
            </a:r>
          </a:p>
        </p:txBody>
      </p:sp>
      <p:pic>
        <p:nvPicPr>
          <p:cNvPr id="22" name="Picture 21" descr="abl_dept_p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06240" y="1143000"/>
            <a:ext cx="3429521" cy="4846320"/>
          </a:xfrm>
          <a:prstGeom prst="rect">
            <a:avLst/>
          </a:prstGeom>
          <a:ln>
            <a:solidFill>
              <a:srgbClr val="E2E8EA"/>
            </a:solidFill>
          </a:ln>
        </p:spPr>
      </p:pic>
      <p:sp>
        <p:nvSpPr>
          <p:cNvPr id="23" name="TextBox 22"/>
          <p:cNvSpPr txBox="1"/>
          <p:nvPr/>
        </p:nvSpPr>
        <p:spPr>
          <a:xfrm>
            <a:off x="4206240" y="6035040"/>
            <a:ext cx="3429521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Page 2: tests and error mix, first analyser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1188720"/>
            <a:ext cx="356616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1485C"/>
                </a:solidFill>
              </a:rPr>
              <a:t>The ABL department report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One report per hospital department. Page 1 — Monthly Snapshot: department error rate with its band, the analysers covered, the top error code, operators with errors (and how many were too low-volume to assess), operators flagged this month by name, and recurring alerts from the 12-month lookback.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Then the Error Rate Trend for the first analyser against the performance bands.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Page 2 — Tests Run &amp; Error Mix for that analyser: workload on top, each month’s errors as a percentage of tests split by ABL error code, every segment labelled.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Conceived, designed and built by Craig MacKenzie · Chemistry Department, Townsville Group Laboratory · Pathology Queensland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" name="Shape 7"/>
          <p:cNvSpPr/>
          <p:nvPr/>
        </p:nvSpPr>
        <p:spPr>
          <a:xfrm>
            <a:off x="0" y="6793992"/>
            <a:ext cx="2040636" cy="64008"/>
          </a:xfrm>
          <a:prstGeom prst="rect">
            <a:avLst/>
          </a:prstGeom>
          <a:solidFill>
            <a:srgbClr val="01485C"/>
          </a:solidFill>
          <a:ln/>
        </p:spPr>
        <p:txBody>
          <a:bodyPr/>
          <a:p/>
        </p:txBody>
      </p:sp>
      <p:sp>
        <p:nvSpPr>
          <p:cNvPr id="13" name="Shape 8"/>
          <p:cNvSpPr/>
          <p:nvPr/>
        </p:nvSpPr>
        <p:spPr>
          <a:xfrm>
            <a:off x="2031492" y="6793992"/>
            <a:ext cx="2040636" cy="64008"/>
          </a:xfrm>
          <a:prstGeom prst="rect">
            <a:avLst/>
          </a:prstGeom>
          <a:solidFill>
            <a:srgbClr val="146175"/>
          </a:solidFill>
          <a:ln/>
        </p:spPr>
        <p:txBody>
          <a:bodyPr/>
          <a:p/>
        </p:txBody>
      </p:sp>
      <p:sp>
        <p:nvSpPr>
          <p:cNvPr id="14" name="Shape 9"/>
          <p:cNvSpPr/>
          <p:nvPr/>
        </p:nvSpPr>
        <p:spPr>
          <a:xfrm>
            <a:off x="4062984" y="6793992"/>
            <a:ext cx="2040636" cy="64008"/>
          </a:xfrm>
          <a:prstGeom prst="rect">
            <a:avLst/>
          </a:prstGeom>
          <a:solidFill>
            <a:srgbClr val="11B5AE"/>
          </a:solidFill>
          <a:ln/>
        </p:spPr>
        <p:txBody>
          <a:bodyPr/>
          <a:p/>
        </p:txBody>
      </p:sp>
      <p:sp>
        <p:nvSpPr>
          <p:cNvPr id="15" name="Shape 10"/>
          <p:cNvSpPr/>
          <p:nvPr/>
        </p:nvSpPr>
        <p:spPr>
          <a:xfrm>
            <a:off x="6094476" y="6793992"/>
            <a:ext cx="2040636" cy="64008"/>
          </a:xfrm>
          <a:prstGeom prst="rect">
            <a:avLst/>
          </a:prstGeom>
          <a:solidFill>
            <a:srgbClr val="6CCAD4"/>
          </a:solidFill>
          <a:ln/>
        </p:spPr>
        <p:txBody>
          <a:bodyPr/>
          <a:p/>
        </p:txBody>
      </p:sp>
      <p:sp>
        <p:nvSpPr>
          <p:cNvPr id="16" name="Shape 11"/>
          <p:cNvSpPr/>
          <p:nvPr/>
        </p:nvSpPr>
        <p:spPr>
          <a:xfrm>
            <a:off x="8125968" y="6793992"/>
            <a:ext cx="2040636" cy="64008"/>
          </a:xfrm>
          <a:prstGeom prst="rect">
            <a:avLst/>
          </a:prstGeom>
          <a:solidFill>
            <a:srgbClr val="7FC04C"/>
          </a:solidFill>
          <a:ln/>
        </p:spPr>
        <p:txBody>
          <a:bodyPr/>
          <a:p/>
        </p:txBody>
      </p:sp>
      <p:sp>
        <p:nvSpPr>
          <p:cNvPr id="17" name="Shape 12"/>
          <p:cNvSpPr/>
          <p:nvPr/>
        </p:nvSpPr>
        <p:spPr>
          <a:xfrm>
            <a:off x="10157460" y="6793992"/>
            <a:ext cx="2040636" cy="64008"/>
          </a:xfrm>
          <a:prstGeom prst="rect">
            <a:avLst/>
          </a:prstGeom>
          <a:solidFill>
            <a:srgbClr val="E1DD57"/>
          </a:solidFill>
          <a:ln/>
        </p:spPr>
        <p:txBody>
          <a:bodyPr/>
          <a:p/>
        </p:txBody>
      </p:sp>
      <p:sp>
        <p:nvSpPr>
          <p:cNvPr id="18" name="TextBox 17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01485C"/>
                </a:solidFill>
              </a:rPr>
              <a:t>ABL — Townsville ED, August 2026 — pages 3–4 of 5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84080" y="384048"/>
            <a:ext cx="1828800" cy="457200"/>
          </a:xfrm>
          <a:prstGeom prst="roundRect">
            <a:avLst/>
          </a:prstGeom>
          <a:solidFill>
            <a:srgbClr val="0148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i-STAT</a:t>
            </a:r>
          </a:p>
        </p:txBody>
      </p:sp>
      <p:pic>
        <p:nvPicPr>
          <p:cNvPr id="20" name="Picture 19" descr="abl_dept_p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3429521" cy="4846320"/>
          </a:xfrm>
          <a:prstGeom prst="rect">
            <a:avLst/>
          </a:prstGeom>
          <a:ln>
            <a:solidFill>
              <a:srgbClr val="E2E8EA"/>
            </a:solidFill>
          </a:ln>
        </p:spPr>
      </p:pic>
      <p:sp>
        <p:nvSpPr>
          <p:cNvPr id="21" name="TextBox 20"/>
          <p:cNvSpPr txBox="1"/>
          <p:nvPr/>
        </p:nvSpPr>
        <p:spPr>
          <a:xfrm>
            <a:off x="548640" y="6035040"/>
            <a:ext cx="3429521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Page 3: second analyser trend</a:t>
            </a:r>
          </a:p>
        </p:txBody>
      </p:sp>
      <p:pic>
        <p:nvPicPr>
          <p:cNvPr id="22" name="Picture 21" descr="abl_dept_p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06240" y="1143000"/>
            <a:ext cx="3429521" cy="4846320"/>
          </a:xfrm>
          <a:prstGeom prst="rect">
            <a:avLst/>
          </a:prstGeom>
          <a:ln>
            <a:solidFill>
              <a:srgbClr val="E2E8EA"/>
            </a:solidFill>
          </a:ln>
        </p:spPr>
      </p:pic>
      <p:sp>
        <p:nvSpPr>
          <p:cNvPr id="23" name="TextBox 22"/>
          <p:cNvSpPr txBox="1"/>
          <p:nvPr/>
        </p:nvSpPr>
        <p:spPr>
          <a:xfrm>
            <a:off x="4206240" y="6035040"/>
            <a:ext cx="3429521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Page 4: error mix, analyser performance, operators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1188720"/>
            <a:ext cx="356616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1485C"/>
                </a:solidFill>
              </a:rPr>
              <a:t>Per analyser, then per operator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Pages 3–4 repeat both charts for the second analyser, so each instrument’s twelve months are visible on their own.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Analyzer Performance: total tests, total errors and error % per analyser with its band.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Operator Error Details by Analyzer: every operator on each analyser with tests run, a column per ABL error code (328–791), total errors and error %. Flagged operators — over 10% error with more than 10 tests — are in red; low-volume operators are marked and not assessed.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Conceived, designed and built by Craig MacKenzie · Chemistry Department, Townsville Group Laboratory · Pathology Queensland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" name="Shape 7"/>
          <p:cNvSpPr/>
          <p:nvPr/>
        </p:nvSpPr>
        <p:spPr>
          <a:xfrm>
            <a:off x="0" y="6793992"/>
            <a:ext cx="2040636" cy="64008"/>
          </a:xfrm>
          <a:prstGeom prst="rect">
            <a:avLst/>
          </a:prstGeom>
          <a:solidFill>
            <a:srgbClr val="01485C"/>
          </a:solidFill>
          <a:ln/>
        </p:spPr>
        <p:txBody>
          <a:bodyPr/>
          <a:p/>
        </p:txBody>
      </p:sp>
      <p:sp>
        <p:nvSpPr>
          <p:cNvPr id="13" name="Shape 8"/>
          <p:cNvSpPr/>
          <p:nvPr/>
        </p:nvSpPr>
        <p:spPr>
          <a:xfrm>
            <a:off x="2031492" y="6793992"/>
            <a:ext cx="2040636" cy="64008"/>
          </a:xfrm>
          <a:prstGeom prst="rect">
            <a:avLst/>
          </a:prstGeom>
          <a:solidFill>
            <a:srgbClr val="146175"/>
          </a:solidFill>
          <a:ln/>
        </p:spPr>
        <p:txBody>
          <a:bodyPr/>
          <a:p/>
        </p:txBody>
      </p:sp>
      <p:sp>
        <p:nvSpPr>
          <p:cNvPr id="14" name="Shape 9"/>
          <p:cNvSpPr/>
          <p:nvPr/>
        </p:nvSpPr>
        <p:spPr>
          <a:xfrm>
            <a:off x="4062984" y="6793992"/>
            <a:ext cx="2040636" cy="64008"/>
          </a:xfrm>
          <a:prstGeom prst="rect">
            <a:avLst/>
          </a:prstGeom>
          <a:solidFill>
            <a:srgbClr val="11B5AE"/>
          </a:solidFill>
          <a:ln/>
        </p:spPr>
        <p:txBody>
          <a:bodyPr/>
          <a:p/>
        </p:txBody>
      </p:sp>
      <p:sp>
        <p:nvSpPr>
          <p:cNvPr id="15" name="Shape 10"/>
          <p:cNvSpPr/>
          <p:nvPr/>
        </p:nvSpPr>
        <p:spPr>
          <a:xfrm>
            <a:off x="6094476" y="6793992"/>
            <a:ext cx="2040636" cy="64008"/>
          </a:xfrm>
          <a:prstGeom prst="rect">
            <a:avLst/>
          </a:prstGeom>
          <a:solidFill>
            <a:srgbClr val="6CCAD4"/>
          </a:solidFill>
          <a:ln/>
        </p:spPr>
        <p:txBody>
          <a:bodyPr/>
          <a:p/>
        </p:txBody>
      </p:sp>
      <p:sp>
        <p:nvSpPr>
          <p:cNvPr id="16" name="Shape 11"/>
          <p:cNvSpPr/>
          <p:nvPr/>
        </p:nvSpPr>
        <p:spPr>
          <a:xfrm>
            <a:off x="8125968" y="6793992"/>
            <a:ext cx="2040636" cy="64008"/>
          </a:xfrm>
          <a:prstGeom prst="rect">
            <a:avLst/>
          </a:prstGeom>
          <a:solidFill>
            <a:srgbClr val="7FC04C"/>
          </a:solidFill>
          <a:ln/>
        </p:spPr>
        <p:txBody>
          <a:bodyPr/>
          <a:p/>
        </p:txBody>
      </p:sp>
      <p:sp>
        <p:nvSpPr>
          <p:cNvPr id="17" name="Shape 12"/>
          <p:cNvSpPr/>
          <p:nvPr/>
        </p:nvSpPr>
        <p:spPr>
          <a:xfrm>
            <a:off x="10157460" y="6793992"/>
            <a:ext cx="2040636" cy="64008"/>
          </a:xfrm>
          <a:prstGeom prst="rect">
            <a:avLst/>
          </a:prstGeom>
          <a:solidFill>
            <a:srgbClr val="E1DD57"/>
          </a:solidFill>
          <a:ln/>
        </p:spPr>
        <p:txBody>
          <a:bodyPr/>
          <a:p/>
        </p:txBody>
      </p:sp>
      <p:sp>
        <p:nvSpPr>
          <p:cNvPr id="18" name="TextBox 17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01485C"/>
                </a:solidFill>
              </a:rPr>
              <a:t>ABL — Townsville ED, August 2026 — page 5 of 5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84080" y="384048"/>
            <a:ext cx="1828800" cy="457200"/>
          </a:xfrm>
          <a:prstGeom prst="roundRect">
            <a:avLst/>
          </a:prstGeom>
          <a:solidFill>
            <a:srgbClr val="0148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i-STAT</a:t>
            </a:r>
          </a:p>
        </p:txBody>
      </p:sp>
      <p:pic>
        <p:nvPicPr>
          <p:cNvPr id="20" name="Picture 19" descr="abl_dept_p5_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7798985" cy="4846320"/>
          </a:xfrm>
          <a:prstGeom prst="rect">
            <a:avLst/>
          </a:prstGeom>
          <a:ln>
            <a:solidFill>
              <a:srgbClr val="E2E8EA"/>
            </a:solidFill>
          </a:ln>
        </p:spPr>
      </p:pic>
      <p:sp>
        <p:nvSpPr>
          <p:cNvPr id="21" name="TextBox 20"/>
          <p:cNvSpPr txBox="1"/>
          <p:nvPr/>
        </p:nvSpPr>
        <p:spPr>
          <a:xfrm>
            <a:off x="548640" y="6035040"/>
            <a:ext cx="779898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Page 5: error type summary and the 12-month review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67664" y="1188720"/>
            <a:ext cx="2945215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1485C"/>
                </a:solidFill>
              </a:rPr>
              <a:t>What the errors were, and who keeps appearing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Error Type Summary: the department’s count of each ABL error code for the month with its share of all errors — the department’s error fingerprint.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Operators Requiring Review: the 12-month lookback — every operator flagged in two or more months, with each month’s error rate and error types. This is the list for a conversation, not a single bad month.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Operator names in the ABL history are encrypted on the drive in the same way as the i-STAT history.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Conceived, designed and built by Craig MacKenzie · Chemistry Department, Townsville Group Laboratory · Pathology Queensland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" name="Shape 7"/>
          <p:cNvSpPr/>
          <p:nvPr/>
        </p:nvSpPr>
        <p:spPr>
          <a:xfrm>
            <a:off x="0" y="6793992"/>
            <a:ext cx="2040636" cy="64008"/>
          </a:xfrm>
          <a:prstGeom prst="rect">
            <a:avLst/>
          </a:prstGeom>
          <a:solidFill>
            <a:srgbClr val="01485C"/>
          </a:solidFill>
          <a:ln/>
        </p:spPr>
        <p:txBody>
          <a:bodyPr/>
          <a:p/>
        </p:txBody>
      </p:sp>
      <p:sp>
        <p:nvSpPr>
          <p:cNvPr id="13" name="Shape 8"/>
          <p:cNvSpPr/>
          <p:nvPr/>
        </p:nvSpPr>
        <p:spPr>
          <a:xfrm>
            <a:off x="2031492" y="6793992"/>
            <a:ext cx="2040636" cy="64008"/>
          </a:xfrm>
          <a:prstGeom prst="rect">
            <a:avLst/>
          </a:prstGeom>
          <a:solidFill>
            <a:srgbClr val="146175"/>
          </a:solidFill>
          <a:ln/>
        </p:spPr>
        <p:txBody>
          <a:bodyPr/>
          <a:p/>
        </p:txBody>
      </p:sp>
      <p:sp>
        <p:nvSpPr>
          <p:cNvPr id="14" name="Shape 9"/>
          <p:cNvSpPr/>
          <p:nvPr/>
        </p:nvSpPr>
        <p:spPr>
          <a:xfrm>
            <a:off x="4062984" y="6793992"/>
            <a:ext cx="2040636" cy="64008"/>
          </a:xfrm>
          <a:prstGeom prst="rect">
            <a:avLst/>
          </a:prstGeom>
          <a:solidFill>
            <a:srgbClr val="11B5AE"/>
          </a:solidFill>
          <a:ln/>
        </p:spPr>
        <p:txBody>
          <a:bodyPr/>
          <a:p/>
        </p:txBody>
      </p:sp>
      <p:sp>
        <p:nvSpPr>
          <p:cNvPr id="15" name="Shape 10"/>
          <p:cNvSpPr/>
          <p:nvPr/>
        </p:nvSpPr>
        <p:spPr>
          <a:xfrm>
            <a:off x="6094476" y="6793992"/>
            <a:ext cx="2040636" cy="64008"/>
          </a:xfrm>
          <a:prstGeom prst="rect">
            <a:avLst/>
          </a:prstGeom>
          <a:solidFill>
            <a:srgbClr val="6CCAD4"/>
          </a:solidFill>
          <a:ln/>
        </p:spPr>
        <p:txBody>
          <a:bodyPr/>
          <a:p/>
        </p:txBody>
      </p:sp>
      <p:sp>
        <p:nvSpPr>
          <p:cNvPr id="16" name="Shape 11"/>
          <p:cNvSpPr/>
          <p:nvPr/>
        </p:nvSpPr>
        <p:spPr>
          <a:xfrm>
            <a:off x="8125968" y="6793992"/>
            <a:ext cx="2040636" cy="64008"/>
          </a:xfrm>
          <a:prstGeom prst="rect">
            <a:avLst/>
          </a:prstGeom>
          <a:solidFill>
            <a:srgbClr val="7FC04C"/>
          </a:solidFill>
          <a:ln/>
        </p:spPr>
        <p:txBody>
          <a:bodyPr/>
          <a:p/>
        </p:txBody>
      </p:sp>
      <p:sp>
        <p:nvSpPr>
          <p:cNvPr id="17" name="Shape 12"/>
          <p:cNvSpPr/>
          <p:nvPr/>
        </p:nvSpPr>
        <p:spPr>
          <a:xfrm>
            <a:off x="10157460" y="6793992"/>
            <a:ext cx="2040636" cy="64008"/>
          </a:xfrm>
          <a:prstGeom prst="rect">
            <a:avLst/>
          </a:prstGeom>
          <a:solidFill>
            <a:srgbClr val="E1DD57"/>
          </a:solidFill>
          <a:ln/>
        </p:spPr>
        <p:txBody>
          <a:bodyPr/>
          <a:p/>
        </p:txBody>
      </p:sp>
      <p:sp>
        <p:nvSpPr>
          <p:cNvPr id="18" name="TextBox 17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01485C"/>
                </a:solidFill>
              </a:rPr>
              <a:t>ABL — the Hospital Summary, August 2026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84080" y="384048"/>
            <a:ext cx="1828800" cy="457200"/>
          </a:xfrm>
          <a:prstGeom prst="roundRect">
            <a:avLst/>
          </a:prstGeom>
          <a:solidFill>
            <a:srgbClr val="0148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i-STAT</a:t>
            </a:r>
          </a:p>
        </p:txBody>
      </p:sp>
      <p:pic>
        <p:nvPicPr>
          <p:cNvPr id="20" name="Picture 19" descr="abl_hosp_p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3429521" cy="4846320"/>
          </a:xfrm>
          <a:prstGeom prst="rect">
            <a:avLst/>
          </a:prstGeom>
          <a:ln>
            <a:solidFill>
              <a:srgbClr val="E2E8EA"/>
            </a:solidFill>
          </a:ln>
        </p:spPr>
      </p:pic>
      <p:sp>
        <p:nvSpPr>
          <p:cNvPr id="21" name="TextBox 20"/>
          <p:cNvSpPr txBox="1"/>
          <p:nvPr/>
        </p:nvSpPr>
        <p:spPr>
          <a:xfrm>
            <a:off x="548640" y="6035040"/>
            <a:ext cx="3429521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One page per hospital, every department and analyser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98201" y="1188720"/>
            <a:ext cx="7314678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1485C"/>
                </a:solidFill>
              </a:rPr>
              <a:t>The whole hospital on one page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Hospital Snapshot: the hospital’s error rate and band, its departments, how many operators are flagged and in which departments, low-volume operators, and any analyser with recent history that did not report this month.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Departments table: analysers, operators, tests, errors, error % and band, flagged and low-volume counts per department, with a whole-hospital total.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Analysers table: every analyser with its tests, errors, error % and band; an analyser that has gone quiet appears in red with its last active month.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Names stay in the department reports; the summary is for the site lead.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Conceived, designed and built by Craig MacKenzie · Chemistry Department, Townsville Group Laboratory · Pathology Queensland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" name="Shape 7"/>
          <p:cNvSpPr/>
          <p:nvPr/>
        </p:nvSpPr>
        <p:spPr>
          <a:xfrm>
            <a:off x="0" y="6793992"/>
            <a:ext cx="2040636" cy="64008"/>
          </a:xfrm>
          <a:prstGeom prst="rect">
            <a:avLst/>
          </a:prstGeom>
          <a:solidFill>
            <a:srgbClr val="01485C"/>
          </a:solidFill>
          <a:ln/>
        </p:spPr>
        <p:txBody>
          <a:bodyPr/>
          <a:p/>
        </p:txBody>
      </p:sp>
      <p:sp>
        <p:nvSpPr>
          <p:cNvPr id="13" name="Shape 8"/>
          <p:cNvSpPr/>
          <p:nvPr/>
        </p:nvSpPr>
        <p:spPr>
          <a:xfrm>
            <a:off x="2031492" y="6793992"/>
            <a:ext cx="2040636" cy="64008"/>
          </a:xfrm>
          <a:prstGeom prst="rect">
            <a:avLst/>
          </a:prstGeom>
          <a:solidFill>
            <a:srgbClr val="146175"/>
          </a:solidFill>
          <a:ln/>
        </p:spPr>
        <p:txBody>
          <a:bodyPr/>
          <a:p/>
        </p:txBody>
      </p:sp>
      <p:sp>
        <p:nvSpPr>
          <p:cNvPr id="14" name="Shape 9"/>
          <p:cNvSpPr/>
          <p:nvPr/>
        </p:nvSpPr>
        <p:spPr>
          <a:xfrm>
            <a:off x="4062984" y="6793992"/>
            <a:ext cx="2040636" cy="64008"/>
          </a:xfrm>
          <a:prstGeom prst="rect">
            <a:avLst/>
          </a:prstGeom>
          <a:solidFill>
            <a:srgbClr val="11B5AE"/>
          </a:solidFill>
          <a:ln/>
        </p:spPr>
        <p:txBody>
          <a:bodyPr/>
          <a:p/>
        </p:txBody>
      </p:sp>
      <p:sp>
        <p:nvSpPr>
          <p:cNvPr id="15" name="Shape 10"/>
          <p:cNvSpPr/>
          <p:nvPr/>
        </p:nvSpPr>
        <p:spPr>
          <a:xfrm>
            <a:off x="6094476" y="6793992"/>
            <a:ext cx="2040636" cy="64008"/>
          </a:xfrm>
          <a:prstGeom prst="rect">
            <a:avLst/>
          </a:prstGeom>
          <a:solidFill>
            <a:srgbClr val="6CCAD4"/>
          </a:solidFill>
          <a:ln/>
        </p:spPr>
        <p:txBody>
          <a:bodyPr/>
          <a:p/>
        </p:txBody>
      </p:sp>
      <p:sp>
        <p:nvSpPr>
          <p:cNvPr id="16" name="Shape 11"/>
          <p:cNvSpPr/>
          <p:nvPr/>
        </p:nvSpPr>
        <p:spPr>
          <a:xfrm>
            <a:off x="8125968" y="6793992"/>
            <a:ext cx="2040636" cy="64008"/>
          </a:xfrm>
          <a:prstGeom prst="rect">
            <a:avLst/>
          </a:prstGeom>
          <a:solidFill>
            <a:srgbClr val="7FC04C"/>
          </a:solidFill>
          <a:ln/>
        </p:spPr>
        <p:txBody>
          <a:bodyPr/>
          <a:p/>
        </p:txBody>
      </p:sp>
      <p:sp>
        <p:nvSpPr>
          <p:cNvPr id="17" name="Shape 12"/>
          <p:cNvSpPr/>
          <p:nvPr/>
        </p:nvSpPr>
        <p:spPr>
          <a:xfrm>
            <a:off x="10157460" y="6793992"/>
            <a:ext cx="2040636" cy="64008"/>
          </a:xfrm>
          <a:prstGeom prst="rect">
            <a:avLst/>
          </a:prstGeom>
          <a:solidFill>
            <a:srgbClr val="E1DD57"/>
          </a:solidFill>
          <a:ln/>
        </p:spPr>
        <p:txBody>
          <a:bodyPr/>
          <a:p/>
        </p:txBody>
      </p:sp>
      <p:sp>
        <p:nvSpPr>
          <p:cNvPr id="18" name="TextBox 17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01485C"/>
                </a:solidFill>
              </a:rPr>
              <a:t>Summaries for site leads and area managers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84080" y="384048"/>
            <a:ext cx="1828800" cy="457200"/>
          </a:xfrm>
          <a:prstGeom prst="roundRect">
            <a:avLst/>
          </a:prstGeom>
          <a:solidFill>
            <a:srgbClr val="0148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i-STAT</a:t>
            </a:r>
          </a:p>
        </p:txBody>
      </p:sp>
      <p:pic>
        <p:nvPicPr>
          <p:cNvPr id="20" name="Picture 19" descr="site_p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3429521" cy="4846320"/>
          </a:xfrm>
          <a:prstGeom prst="rect">
            <a:avLst/>
          </a:prstGeom>
          <a:ln>
            <a:solidFill>
              <a:srgbClr val="E2E8EA"/>
            </a:solidFill>
          </a:ln>
        </p:spPr>
      </p:pic>
      <p:sp>
        <p:nvSpPr>
          <p:cNvPr id="21" name="TextBox 20"/>
          <p:cNvSpPr txBox="1"/>
          <p:nvPr/>
        </p:nvSpPr>
        <p:spPr>
          <a:xfrm>
            <a:off x="548640" y="6035040"/>
            <a:ext cx="3429521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Site Overview — every ward of a large site on one page</a:t>
            </a:r>
          </a:p>
        </p:txBody>
      </p:sp>
      <p:pic>
        <p:nvPicPr>
          <p:cNvPr id="22" name="Picture 21" descr="area_p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06240" y="1143000"/>
            <a:ext cx="3429521" cy="4846320"/>
          </a:xfrm>
          <a:prstGeom prst="rect">
            <a:avLst/>
          </a:prstGeom>
          <a:ln>
            <a:solidFill>
              <a:srgbClr val="E2E8EA"/>
            </a:solidFill>
          </a:ln>
        </p:spPr>
      </p:pic>
      <p:sp>
        <p:nvSpPr>
          <p:cNvPr id="23" name="TextBox 22"/>
          <p:cNvSpPr txBox="1"/>
          <p:nvPr/>
        </p:nvSpPr>
        <p:spPr>
          <a:xfrm>
            <a:off x="4206240" y="6035040"/>
            <a:ext cx="3429521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Area Summary — every hospital in the HHS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1188720"/>
            <a:ext cx="356616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1485C"/>
                </a:solidFill>
              </a:rPr>
              <a:t>The whole picture on one page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Site Overview: each ward’s analyser with cartridges, errors, error %, performance band, simulator runs and a ceramic pass or fail, plus a site total.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Area Summary: the same figures per hospital across the HHS, an area total, and a table of every analyser that missed simulators or ceramics.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Both are produced automatically with every run, in the same folder as the reports.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Conceived, designed and built by Craig MacKenzie · Chemistry Department, Townsville Group Laboratory · Pathology Queensland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" name="Shape 7"/>
          <p:cNvSpPr/>
          <p:nvPr/>
        </p:nvSpPr>
        <p:spPr>
          <a:xfrm>
            <a:off x="0" y="6793992"/>
            <a:ext cx="2040636" cy="64008"/>
          </a:xfrm>
          <a:prstGeom prst="rect">
            <a:avLst/>
          </a:prstGeom>
          <a:solidFill>
            <a:srgbClr val="01485C"/>
          </a:solidFill>
          <a:ln/>
        </p:spPr>
        <p:txBody>
          <a:bodyPr/>
          <a:p/>
        </p:txBody>
      </p:sp>
      <p:sp>
        <p:nvSpPr>
          <p:cNvPr id="13" name="Shape 8"/>
          <p:cNvSpPr/>
          <p:nvPr/>
        </p:nvSpPr>
        <p:spPr>
          <a:xfrm>
            <a:off x="2031492" y="6793992"/>
            <a:ext cx="2040636" cy="64008"/>
          </a:xfrm>
          <a:prstGeom prst="rect">
            <a:avLst/>
          </a:prstGeom>
          <a:solidFill>
            <a:srgbClr val="146175"/>
          </a:solidFill>
          <a:ln/>
        </p:spPr>
        <p:txBody>
          <a:bodyPr/>
          <a:p/>
        </p:txBody>
      </p:sp>
      <p:sp>
        <p:nvSpPr>
          <p:cNvPr id="14" name="Shape 9"/>
          <p:cNvSpPr/>
          <p:nvPr/>
        </p:nvSpPr>
        <p:spPr>
          <a:xfrm>
            <a:off x="4062984" y="6793992"/>
            <a:ext cx="2040636" cy="64008"/>
          </a:xfrm>
          <a:prstGeom prst="rect">
            <a:avLst/>
          </a:prstGeom>
          <a:solidFill>
            <a:srgbClr val="11B5AE"/>
          </a:solidFill>
          <a:ln/>
        </p:spPr>
        <p:txBody>
          <a:bodyPr/>
          <a:p/>
        </p:txBody>
      </p:sp>
      <p:sp>
        <p:nvSpPr>
          <p:cNvPr id="15" name="Shape 10"/>
          <p:cNvSpPr/>
          <p:nvPr/>
        </p:nvSpPr>
        <p:spPr>
          <a:xfrm>
            <a:off x="6094476" y="6793992"/>
            <a:ext cx="2040636" cy="64008"/>
          </a:xfrm>
          <a:prstGeom prst="rect">
            <a:avLst/>
          </a:prstGeom>
          <a:solidFill>
            <a:srgbClr val="6CCAD4"/>
          </a:solidFill>
          <a:ln/>
        </p:spPr>
        <p:txBody>
          <a:bodyPr/>
          <a:p/>
        </p:txBody>
      </p:sp>
      <p:sp>
        <p:nvSpPr>
          <p:cNvPr id="16" name="Shape 11"/>
          <p:cNvSpPr/>
          <p:nvPr/>
        </p:nvSpPr>
        <p:spPr>
          <a:xfrm>
            <a:off x="8125968" y="6793992"/>
            <a:ext cx="2040636" cy="64008"/>
          </a:xfrm>
          <a:prstGeom prst="rect">
            <a:avLst/>
          </a:prstGeom>
          <a:solidFill>
            <a:srgbClr val="7FC04C"/>
          </a:solidFill>
          <a:ln/>
        </p:spPr>
        <p:txBody>
          <a:bodyPr/>
          <a:p/>
        </p:txBody>
      </p:sp>
      <p:sp>
        <p:nvSpPr>
          <p:cNvPr id="17" name="Shape 12"/>
          <p:cNvSpPr/>
          <p:nvPr/>
        </p:nvSpPr>
        <p:spPr>
          <a:xfrm>
            <a:off x="10157460" y="6793992"/>
            <a:ext cx="2040636" cy="64008"/>
          </a:xfrm>
          <a:prstGeom prst="rect">
            <a:avLst/>
          </a:prstGeom>
          <a:solidFill>
            <a:srgbClr val="E1DD57"/>
          </a:solidFill>
          <a:ln/>
        </p:spPr>
        <p:txBody>
          <a:bodyPr/>
          <a:p/>
        </p:txBody>
      </p:sp>
      <p:sp>
        <p:nvSpPr>
          <p:cNvPr id="18" name="TextBox 17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01485C"/>
                </a:solidFill>
              </a:rPr>
              <a:t>Dormant analysers — found, left out, listed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84080" y="384048"/>
            <a:ext cx="1828800" cy="457200"/>
          </a:xfrm>
          <a:prstGeom prst="roundRect">
            <a:avLst/>
          </a:prstGeom>
          <a:solidFill>
            <a:srgbClr val="0148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i-STAT</a:t>
            </a:r>
          </a:p>
        </p:txBody>
      </p:sp>
      <p:pic>
        <p:nvPicPr>
          <p:cNvPr id="20" name="Picture 19" descr="dormant_p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3429521" cy="4846320"/>
          </a:xfrm>
          <a:prstGeom prst="rect">
            <a:avLst/>
          </a:prstGeom>
          <a:ln>
            <a:solidFill>
              <a:srgbClr val="E2E8EA"/>
            </a:solidFill>
          </a:ln>
        </p:spPr>
      </p:pic>
      <p:sp>
        <p:nvSpPr>
          <p:cNvPr id="21" name="TextBox 20"/>
          <p:cNvSpPr txBox="1"/>
          <p:nvPr/>
        </p:nvSpPr>
        <p:spPr>
          <a:xfrm>
            <a:off x="548640" y="6035040"/>
            <a:ext cx="3429521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The dormant-analyser list for August 2026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80560" y="1188720"/>
            <a:ext cx="71323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1485C"/>
                </a:solidFill>
              </a:rPr>
              <a:t>The four-month rule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An analyser with no cartridges, no simulator runs and no ceramic cleaning for four consecutive months is dormant: it gets no report and no longer counts against its site’s checks.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One or two quiet months change nothing. The reports exist to catch wards skipping simulators, so nothing is removed early.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Any use brings the unit straight back the next month.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Every run writes the list: hospital, location, serial, months idle and last activity. In August 2026, 163 units — mostly old models sitting beside their replacements — a ready-made retirement list.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Conceived, designed and built by Craig MacKenzie · Chemistry Department, Townsville Group Laboratory · Pathology Queensland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" name="Shape 7"/>
          <p:cNvSpPr/>
          <p:nvPr/>
        </p:nvSpPr>
        <p:spPr>
          <a:xfrm>
            <a:off x="0" y="6793992"/>
            <a:ext cx="2040636" cy="64008"/>
          </a:xfrm>
          <a:prstGeom prst="rect">
            <a:avLst/>
          </a:prstGeom>
          <a:solidFill>
            <a:srgbClr val="01485C"/>
          </a:solidFill>
          <a:ln/>
        </p:spPr>
        <p:txBody>
          <a:bodyPr/>
          <a:p/>
        </p:txBody>
      </p:sp>
      <p:sp>
        <p:nvSpPr>
          <p:cNvPr id="13" name="Shape 8"/>
          <p:cNvSpPr/>
          <p:nvPr/>
        </p:nvSpPr>
        <p:spPr>
          <a:xfrm>
            <a:off x="2031492" y="6793992"/>
            <a:ext cx="2040636" cy="64008"/>
          </a:xfrm>
          <a:prstGeom prst="rect">
            <a:avLst/>
          </a:prstGeom>
          <a:solidFill>
            <a:srgbClr val="146175"/>
          </a:solidFill>
          <a:ln/>
        </p:spPr>
        <p:txBody>
          <a:bodyPr/>
          <a:p/>
        </p:txBody>
      </p:sp>
      <p:sp>
        <p:nvSpPr>
          <p:cNvPr id="14" name="Shape 9"/>
          <p:cNvSpPr/>
          <p:nvPr/>
        </p:nvSpPr>
        <p:spPr>
          <a:xfrm>
            <a:off x="4062984" y="6793992"/>
            <a:ext cx="2040636" cy="64008"/>
          </a:xfrm>
          <a:prstGeom prst="rect">
            <a:avLst/>
          </a:prstGeom>
          <a:solidFill>
            <a:srgbClr val="11B5AE"/>
          </a:solidFill>
          <a:ln/>
        </p:spPr>
        <p:txBody>
          <a:bodyPr/>
          <a:p/>
        </p:txBody>
      </p:sp>
      <p:sp>
        <p:nvSpPr>
          <p:cNvPr id="15" name="Shape 10"/>
          <p:cNvSpPr/>
          <p:nvPr/>
        </p:nvSpPr>
        <p:spPr>
          <a:xfrm>
            <a:off x="6094476" y="6793992"/>
            <a:ext cx="2040636" cy="64008"/>
          </a:xfrm>
          <a:prstGeom prst="rect">
            <a:avLst/>
          </a:prstGeom>
          <a:solidFill>
            <a:srgbClr val="6CCAD4"/>
          </a:solidFill>
          <a:ln/>
        </p:spPr>
        <p:txBody>
          <a:bodyPr/>
          <a:p/>
        </p:txBody>
      </p:sp>
      <p:sp>
        <p:nvSpPr>
          <p:cNvPr id="16" name="Shape 11"/>
          <p:cNvSpPr/>
          <p:nvPr/>
        </p:nvSpPr>
        <p:spPr>
          <a:xfrm>
            <a:off x="8125968" y="6793992"/>
            <a:ext cx="2040636" cy="64008"/>
          </a:xfrm>
          <a:prstGeom prst="rect">
            <a:avLst/>
          </a:prstGeom>
          <a:solidFill>
            <a:srgbClr val="7FC04C"/>
          </a:solidFill>
          <a:ln/>
        </p:spPr>
        <p:txBody>
          <a:bodyPr/>
          <a:p/>
        </p:txBody>
      </p:sp>
      <p:sp>
        <p:nvSpPr>
          <p:cNvPr id="17" name="Shape 12"/>
          <p:cNvSpPr/>
          <p:nvPr/>
        </p:nvSpPr>
        <p:spPr>
          <a:xfrm>
            <a:off x="10157460" y="6793992"/>
            <a:ext cx="2040636" cy="64008"/>
          </a:xfrm>
          <a:prstGeom prst="rect">
            <a:avLst/>
          </a:prstGeom>
          <a:solidFill>
            <a:srgbClr val="E1DD57"/>
          </a:solidFill>
          <a:ln/>
        </p:spPr>
        <p:txBody>
          <a:bodyPr/>
          <a:p/>
        </p:txBody>
      </p:sp>
      <p:sp>
        <p:nvSpPr>
          <p:cNvPr id="18" name="TextBox 17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01485C"/>
                </a:solidFill>
              </a:rPr>
              <a:t>How it protects the data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1280160"/>
            <a:ext cx="5440680" cy="2103120"/>
          </a:xfrm>
          <a:prstGeom prst="roundRect">
            <a:avLst>
              <a:gd name="adj" fmla="val 8000"/>
            </a:avLst>
          </a:prstGeom>
          <a:solidFill>
            <a:srgbClr val="E5F2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1417319"/>
            <a:ext cx="4983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1485C"/>
                </a:solidFill>
              </a:rPr>
              <a:t>Runs from an encrypted USB drive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1847088"/>
            <a:ext cx="4983480" cy="1463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Its own Python runtime, no installation, no admin rights, no changes to the PC. BitLocker To Go encrypts the whole drive.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72200" y="1280160"/>
            <a:ext cx="5440680" cy="2103120"/>
          </a:xfrm>
          <a:prstGeom prst="roundRect">
            <a:avLst>
              <a:gd name="adj" fmla="val 8000"/>
            </a:avLst>
          </a:prstGeom>
          <a:solidFill>
            <a:srgbClr val="E5F2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0" y="1417319"/>
            <a:ext cx="4983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1485C"/>
                </a:solidFill>
              </a:rPr>
              <a:t>Offline by enforcement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1847088"/>
            <a:ext cx="4983480" cy="1463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All three servers bind to the local machine only, and a runtime guard blocks and logs any attempt to reach the network. Zero outbound connections, ever.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3566160"/>
            <a:ext cx="5440680" cy="2103120"/>
          </a:xfrm>
          <a:prstGeom prst="roundRect">
            <a:avLst>
              <a:gd name="adj" fmla="val 8000"/>
            </a:avLst>
          </a:prstGeom>
          <a:solidFill>
            <a:srgbClr val="FDF0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" y="3703320"/>
            <a:ext cx="4983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B4540A"/>
                </a:solidFill>
              </a:rPr>
              <a:t>Named staff data encrypted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4133087"/>
            <a:ext cx="4983480" cy="1463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The rolling staff and device history is AES-encrypted with a password that is never stored. Reports cannot be generated until it is unlocked.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72200" y="3566160"/>
            <a:ext cx="5440680" cy="2103120"/>
          </a:xfrm>
          <a:prstGeom prst="roundRect">
            <a:avLst>
              <a:gd name="adj" fmla="val 8000"/>
            </a:avLst>
          </a:prstGeom>
          <a:solidFill>
            <a:srgbClr val="E5F2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0" y="3703320"/>
            <a:ext cx="4983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1485C"/>
                </a:solidFill>
              </a:rPr>
              <a:t>Controlled roll-out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4133087"/>
            <a:ext cx="4983480" cy="1463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It runs only on PCs approved by the PoC lead, reviewed on the 12-month QIS cycle, with an audit trail of every launch and every report generated.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5806440"/>
            <a:ext cx="11064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Full detail for IT: SECURITY_README.md on the drive and the Security Briefing deck.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Conceived, designed and built by Craig MacKenzie · Chemistry Department, Townsville Group Laboratory · Pathology Queensland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" name="Shape 7"/>
          <p:cNvSpPr/>
          <p:nvPr/>
        </p:nvSpPr>
        <p:spPr>
          <a:xfrm>
            <a:off x="0" y="6793992"/>
            <a:ext cx="2040636" cy="64008"/>
          </a:xfrm>
          <a:prstGeom prst="rect">
            <a:avLst/>
          </a:prstGeom>
          <a:solidFill>
            <a:srgbClr val="01485C"/>
          </a:solidFill>
          <a:ln/>
        </p:spPr>
        <p:txBody>
          <a:bodyPr/>
          <a:p/>
        </p:txBody>
      </p:sp>
      <p:sp>
        <p:nvSpPr>
          <p:cNvPr id="13" name="Shape 8"/>
          <p:cNvSpPr/>
          <p:nvPr/>
        </p:nvSpPr>
        <p:spPr>
          <a:xfrm>
            <a:off x="2031492" y="6793992"/>
            <a:ext cx="2040636" cy="64008"/>
          </a:xfrm>
          <a:prstGeom prst="rect">
            <a:avLst/>
          </a:prstGeom>
          <a:solidFill>
            <a:srgbClr val="146175"/>
          </a:solidFill>
          <a:ln/>
        </p:spPr>
        <p:txBody>
          <a:bodyPr/>
          <a:p/>
        </p:txBody>
      </p:sp>
      <p:sp>
        <p:nvSpPr>
          <p:cNvPr id="14" name="Shape 9"/>
          <p:cNvSpPr/>
          <p:nvPr/>
        </p:nvSpPr>
        <p:spPr>
          <a:xfrm>
            <a:off x="4062984" y="6793992"/>
            <a:ext cx="2040636" cy="64008"/>
          </a:xfrm>
          <a:prstGeom prst="rect">
            <a:avLst/>
          </a:prstGeom>
          <a:solidFill>
            <a:srgbClr val="11B5AE"/>
          </a:solidFill>
          <a:ln/>
        </p:spPr>
        <p:txBody>
          <a:bodyPr/>
          <a:p/>
        </p:txBody>
      </p:sp>
      <p:sp>
        <p:nvSpPr>
          <p:cNvPr id="15" name="Shape 10"/>
          <p:cNvSpPr/>
          <p:nvPr/>
        </p:nvSpPr>
        <p:spPr>
          <a:xfrm>
            <a:off x="6094476" y="6793992"/>
            <a:ext cx="2040636" cy="64008"/>
          </a:xfrm>
          <a:prstGeom prst="rect">
            <a:avLst/>
          </a:prstGeom>
          <a:solidFill>
            <a:srgbClr val="6CCAD4"/>
          </a:solidFill>
          <a:ln/>
        </p:spPr>
        <p:txBody>
          <a:bodyPr/>
          <a:p/>
        </p:txBody>
      </p:sp>
      <p:sp>
        <p:nvSpPr>
          <p:cNvPr id="16" name="Shape 11"/>
          <p:cNvSpPr/>
          <p:nvPr/>
        </p:nvSpPr>
        <p:spPr>
          <a:xfrm>
            <a:off x="8125968" y="6793992"/>
            <a:ext cx="2040636" cy="64008"/>
          </a:xfrm>
          <a:prstGeom prst="rect">
            <a:avLst/>
          </a:prstGeom>
          <a:solidFill>
            <a:srgbClr val="7FC04C"/>
          </a:solidFill>
          <a:ln/>
        </p:spPr>
        <p:txBody>
          <a:bodyPr/>
          <a:p/>
        </p:txBody>
      </p:sp>
      <p:sp>
        <p:nvSpPr>
          <p:cNvPr id="17" name="Shape 12"/>
          <p:cNvSpPr/>
          <p:nvPr/>
        </p:nvSpPr>
        <p:spPr>
          <a:xfrm>
            <a:off x="10157460" y="6793992"/>
            <a:ext cx="2040636" cy="64008"/>
          </a:xfrm>
          <a:prstGeom prst="rect">
            <a:avLst/>
          </a:prstGeom>
          <a:solidFill>
            <a:srgbClr val="E1DD57"/>
          </a:solidFill>
          <a:ln/>
        </p:spPr>
        <p:txBody>
          <a:bodyPr/>
          <a:p/>
        </p:txBody>
      </p:sp>
      <p:sp>
        <p:nvSpPr>
          <p:cNvPr id="18" name="TextBox 17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01485C"/>
                </a:solidFill>
              </a:rPr>
              <a:t>Getting the reports for your site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1280160"/>
            <a:ext cx="5440680" cy="2057400"/>
          </a:xfrm>
          <a:prstGeom prst="roundRect">
            <a:avLst>
              <a:gd name="adj" fmla="val 8000"/>
            </a:avLst>
          </a:prstGeom>
          <a:solidFill>
            <a:srgbClr val="E5F2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1417319"/>
            <a:ext cx="4983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1485C"/>
                </a:solidFill>
              </a:rPr>
              <a:t>1.  Ask the PoC team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1847088"/>
            <a:ext cx="498348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Reports are generated centrally each month from the middleware exports and distributed by HHS folder.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72200" y="1280160"/>
            <a:ext cx="5440680" cy="2057400"/>
          </a:xfrm>
          <a:prstGeom prst="roundRect">
            <a:avLst>
              <a:gd name="adj" fmla="val 8000"/>
            </a:avLst>
          </a:prstGeom>
          <a:solidFill>
            <a:srgbClr val="E5F2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0" y="1417319"/>
            <a:ext cx="4983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1485C"/>
                </a:solidFill>
              </a:rPr>
              <a:t>2.  Tell us your wards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1847088"/>
            <a:ext cx="498348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Large sites get one report per ward. If a ward name or split is wrong, it is a one-line change.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3520440"/>
            <a:ext cx="5440680" cy="2057400"/>
          </a:xfrm>
          <a:prstGeom prst="roundRect">
            <a:avLst>
              <a:gd name="adj" fmla="val 8000"/>
            </a:avLst>
          </a:prstGeom>
          <a:solidFill>
            <a:srgbClr val="E5F2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" y="3657600"/>
            <a:ext cx="4983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1485C"/>
                </a:solidFill>
              </a:rPr>
              <a:t>3.  Check the dormant list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4087368"/>
            <a:ext cx="498348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Units on it are candidates for retirement, or should be back in service and maintained.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72200" y="3520440"/>
            <a:ext cx="5440680" cy="2057400"/>
          </a:xfrm>
          <a:prstGeom prst="roundRect">
            <a:avLst>
              <a:gd name="adj" fmla="val 8000"/>
            </a:avLst>
          </a:prstGeom>
          <a:solidFill>
            <a:srgbClr val="E5F2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0" y="3657600"/>
            <a:ext cx="4983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1485C"/>
                </a:solidFill>
              </a:rPr>
              <a:t>4.  Read the summaries first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4087368"/>
            <a:ext cx="498348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Site Overview for a site lead, Area Summary for an area manager, then the ward reports that need action.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5806440"/>
            <a:ext cx="11064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Support: Pathology Queensland Point of Care team · Chemistry Department, Townsville Group Laboratory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Conceived, designed and built by Craig MacKenzie · Chemistry Department, Townsville Group Laboratory · Pathology Queensland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2026-09-04T01:56:42Z</dcterms:created>
  <dcterms:modified xsi:type="dcterms:W3CDTF">2026-09-04T01:56:42Z</dcterms:modified>
</cp:coreProperties>
</file>