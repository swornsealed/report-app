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walks through the complete monthly routine: starting the program, generating i-STAT reports, generating ABL reports, and what to do when something looks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B3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42062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" name="Image 0" descr="q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658368"/>
            <a:ext cx="2157984" cy="274320"/>
          </a:xfrm>
          <a:prstGeom prst="rect">
            <a:avLst/>
          </a:prstGeom>
        </p:spPr>
      </p:pic>
      <p:pic>
        <p:nvPicPr>
          <p:cNvPr id="4" name="Image 1" descr="wordm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987552"/>
            <a:ext cx="3566160" cy="41788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562088" y="1298448"/>
            <a:ext cx="4123944" cy="2944368"/>
          </a:xfrm>
          <a:prstGeom prst="roundRect">
            <a:avLst>
              <a:gd name="adj" fmla="val 2484"/>
            </a:avLst>
          </a:prstGeom>
          <a:solidFill>
            <a:srgbClr val="FFFFFF"/>
          </a:solidFill>
          <a:ln w="12700">
            <a:solidFill>
              <a:srgbClr val="E2E8EA"/>
            </a:solidFill>
            <a:prstDash val="solid"/>
          </a:ln>
          <a:effectLst>
            <a:outerShdw sx="100000" sy="100000" kx="0" ky="0" algn="bl" rotWithShape="0" blurRad="177800" dist="50800" dir="5400000">
              <a:srgbClr val="012632">
                <a:alpha val="35000"/>
              </a:srgbClr>
            </a:outerShdw>
          </a:effectLst>
        </p:spPr>
        <p:txBody>
          <a:bodyPr/>
          <a:p/>
        </p:txBody>
      </p:sp>
      <p:pic>
        <p:nvPicPr>
          <p:cNvPr id="6" name="Image 2" descr="port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371600"/>
            <a:ext cx="3977640" cy="2798064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7562088" y="4279392"/>
            <a:ext cx="41239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self-contained analytics and document-generation stack on one encrypted drive</a:t>
            </a:r>
            <a:endParaRPr lang="en-US" sz="11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23774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Report Generator</a:t>
            </a:r>
            <a:endParaRPr lang="en-US" sz="40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324612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architecture — the i-STAT engine, its dependencies and its security model</a:t>
            </a:r>
            <a:endParaRPr lang="en-US" sz="1900" dirty="0"/>
          </a:p>
        </p:txBody>
      </p:sp>
      <p:sp>
        <p:nvSpPr>
          <p:cNvPr id="10" name="Text 5"/>
          <p:cNvSpPr txBox="1"/>
          <p:nvPr/>
        </p:nvSpPr>
        <p:spPr>
          <a:xfrm>
            <a:off x="548640" y="589788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Pathology Queensland · Point of Care Testing · September 2026</a:t>
            </a:r>
            <a:endParaRPr lang="en-US" sz="1300" dirty="0"/>
          </a:p>
        </p:txBody>
      </p:sp>
      <p:sp>
        <p:nvSpPr>
          <p:cNvPr id="11" name="Text 6"/>
          <p:cNvSpPr txBox="1"/>
          <p:nvPr/>
        </p:nvSpPr>
        <p:spPr>
          <a:xfrm>
            <a:off x="548640" y="6016752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C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Conceived, designed and built by Craig MacKenzie · Chemistry Department, Townsville Group Laboratory · Pathology Queensland</a:t>
            </a:r>
            <a:endParaRPr lang="en-US" sz="1100" dirty="0"/>
          </a:p>
          <a:p>
            <a:pPr/>
            <a:r>
              <a:rPr sz="1100">
                <a:solidFill>
                  <a:srgbClr val="6CCAD4"/>
                </a:solidFill>
                <a:latin typeface="Calibri"/>
              </a:rPr>
              <a:t>Amendments and oversight by Damian Juskiw · Supervising Scientist, Chemical Pathology, Townsville</a:t>
            </a:r>
          </a:p>
        </p:txBody>
      </p:sp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System architecture at a glance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F7178"/>
                </a:solidFill>
              </a:rPr>
              <a:t>Three loopback-only web services on an embedded runtime, orchestrated from a single launcher, with every byte of state on the drive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920240"/>
            <a:ext cx="23774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1485C"/>
                </a:solidFill>
              </a:rPr>
              <a:t>Operator</a:t>
            </a:r>
          </a:p>
          <a:p>
            <a:pPr algn="ctr"/>
            <a:r>
              <a:rPr sz="950">
                <a:solidFill>
                  <a:srgbClr val="17272E"/>
                </a:solidFill>
              </a:rPr>
              <a:t>Browser on the host PC — talks to 127.0.0.1 only; nothing is installed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3246120"/>
            <a:ext cx="2377440" cy="1005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1485C"/>
                </a:solidFill>
              </a:rPr>
              <a:t>Start PQ Reports.bat</a:t>
            </a:r>
          </a:p>
          <a:p>
            <a:pPr algn="ctr"/>
            <a:r>
              <a:rPr sz="950">
                <a:solidFill>
                  <a:srgbClr val="17272E"/>
                </a:solidFill>
              </a:rPr>
              <a:t>Pins matplotlib’s cache to the drive, starts the portal, opens the browser when ready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0" y="1920240"/>
            <a:ext cx="2651760" cy="1143000"/>
          </a:xfrm>
          <a:prstGeom prst="roundRect">
            <a:avLst>
              <a:gd name="adj" fmla="val 10000"/>
            </a:avLst>
          </a:prstGeom>
          <a:solidFill>
            <a:srgbClr val="01485C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Portal  ·  Flask  :5750</a:t>
            </a:r>
          </a:p>
          <a:p>
            <a:pPr algn="ctr"/>
            <a:r>
              <a:rPr sz="950">
                <a:solidFill>
                  <a:srgbClr val="FFFFFF"/>
                </a:solidFill>
              </a:rPr>
              <a:t>Engine selection, licence gate and installer, licence register, same-origin guard; spawns the engines as child processes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0" y="3429000"/>
            <a:ext cx="2651760" cy="114300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1485C"/>
                </a:solidFill>
              </a:rPr>
              <a:t>i-STAT engine  ·  Flask  :5757</a:t>
            </a:r>
          </a:p>
          <a:p>
            <a:pPr algn="ctr"/>
            <a:r>
              <a:rPr sz="950">
                <a:solidFill>
                  <a:srgbClr val="17272E"/>
                </a:solidFill>
              </a:rPr>
              <a:t>3,238-line analytics and rendering engine, 101 functions, 7 HTTP endpoints, background worker thread with a progress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0" y="4937760"/>
            <a:ext cx="2651760" cy="91440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1485C"/>
                </a:solidFill>
              </a:rPr>
              <a:t>ABL engine  ·  Flask  :5758</a:t>
            </a:r>
          </a:p>
          <a:p>
            <a:pPr algn="ctr"/>
            <a:r>
              <a:rPr sz="950">
                <a:solidFill>
                  <a:srgbClr val="17272E"/>
                </a:solidFill>
              </a:rPr>
              <a:t>Sister engine for Radiometer blood gas — same encryption, licensing and charting core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086600" y="192024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4540A"/>
                </a:solidFill>
              </a:rPr>
              <a:t>Embedded Python 3.13</a:t>
            </a:r>
          </a:p>
          <a:p>
            <a:pPr algn="ctr"/>
            <a:r>
              <a:rPr sz="950">
                <a:solidFill>
                  <a:srgbClr val="17272E"/>
                </a:solidFill>
              </a:rPr>
              <a:t>Portable interpreter and site-packages on the drive; zero host dependencies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086600" y="3429000"/>
            <a:ext cx="2103120" cy="11430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4540A"/>
                </a:solidFill>
              </a:rPr>
              <a:t>Encrypted state</a:t>
            </a:r>
          </a:p>
          <a:p>
            <a:pPr algn="ctr"/>
            <a:r>
              <a:rPr sz="950">
                <a:solidFill>
                  <a:srgbClr val="17272E"/>
                </a:solidFill>
              </a:rPr>
              <a:t>Four history stores, AES at rest, 24-month rolling window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86600" y="493776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B4540A"/>
                </a:solidFill>
              </a:rPr>
              <a:t>Runtime guards</a:t>
            </a:r>
          </a:p>
          <a:p>
            <a:pPr algn="ctr"/>
            <a:r>
              <a:rPr sz="950">
                <a:solidFill>
                  <a:srgbClr val="17272E"/>
                </a:solidFill>
              </a:rPr>
              <a:t>netguard socket interception · licence enforcement before every request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92640" y="1920240"/>
            <a:ext cx="1965960" cy="39319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01485C"/>
                </a:solidFill>
              </a:rPr>
              <a:t>Outputs</a:t>
            </a:r>
          </a:p>
          <a:p>
            <a:pPr algn="ctr"/>
            <a:r>
              <a:rPr sz="950">
                <a:solidFill>
                  <a:srgbClr val="17272E"/>
                </a:solidFill>
              </a:rPr>
              <a:t>Reports\iSTAT\YYYY-MM Month
One folder per HHS
Hospital and ward reports · Site Overviews · Area Summaries · Cartridge Stock · Dormant list
~490 Word documents per run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926080" y="2423160"/>
            <a:ext cx="731520" cy="64008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2926080" y="2651760"/>
            <a:ext cx="731520" cy="1097279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4983480" y="3063240"/>
            <a:ext cx="0" cy="36576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4983480" y="4572000"/>
            <a:ext cx="0" cy="36576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6309360" y="3995928"/>
            <a:ext cx="77724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6309360" y="2487168"/>
            <a:ext cx="77724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309360" y="5394960"/>
            <a:ext cx="77724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189720" y="3995928"/>
            <a:ext cx="50292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The processing pipeline — eight stages per run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234440"/>
            <a:ext cx="2606040" cy="210312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485C"/>
                </a:solidFill>
              </a:rPr>
              <a:t>1  Ingest</a:t>
            </a:r>
          </a:p>
          <a:p>
            <a:pPr algn="ctr"/>
            <a:r>
              <a:rPr sz="1050">
                <a:solidFill>
                  <a:srgbClr val="17272E"/>
                </a:solidFill>
              </a:rPr>
              <a:t>openpyxl + pandas parse the multi-sheet middleware export: usage, error events, simulator and ceramic sheets, with header-row discovery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154680" y="2286000"/>
            <a:ext cx="22860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3383280" y="1234440"/>
            <a:ext cx="2606040" cy="210312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485C"/>
                </a:solidFill>
              </a:rPr>
              <a:t>2  Normalise</a:t>
            </a:r>
          </a:p>
          <a:p>
            <a:pPr algn="ctr"/>
            <a:r>
              <a:rPr sz="1050">
                <a:solidFill>
                  <a:srgbClr val="17272E"/>
                </a:solidFill>
              </a:rPr>
              <a:t>Regex-driven column mapping, device-ID extraction, hospital and HHS prefix parsing, cartridge-type column detection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989320" y="2286000"/>
            <a:ext cx="22860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6217920" y="1234440"/>
            <a:ext cx="2606040" cy="210312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485C"/>
                </a:solidFill>
              </a:rPr>
              <a:t>3  Partition</a:t>
            </a:r>
          </a:p>
          <a:p>
            <a:pPr algn="ctr"/>
            <a:r>
              <a:rPr sz="1050">
                <a:solidFill>
                  <a:srgbClr val="17272E"/>
                </a:solidFill>
              </a:rPr>
              <a:t>Per-hospital slices; 24 large sites split per analyser with folder overrides and ward-title rules; error events re-joined by location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960" y="2286000"/>
            <a:ext cx="22860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52560" y="1234440"/>
            <a:ext cx="2606040" cy="210312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485C"/>
                </a:solidFill>
              </a:rPr>
              <a:t>4  Analyse</a:t>
            </a:r>
          </a:p>
          <a:p>
            <a:pPr algn="ctr"/>
            <a:r>
              <a:rPr sz="1050">
                <a:solidFill>
                  <a:srgbClr val="17272E"/>
                </a:solidFill>
              </a:rPr>
              <a:t>Error rates and performance bands, staff thresholds and recurring flags, the 4-month dormant rule, 12-month cartridge series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611880"/>
            <a:ext cx="2606040" cy="210312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540A"/>
                </a:solidFill>
              </a:rPr>
              <a:t>5  Chart</a:t>
            </a:r>
          </a:p>
          <a:p>
            <a:pPr algn="ctr"/>
            <a:r>
              <a:rPr sz="1050">
                <a:solidFill>
                  <a:srgbClr val="17272E"/>
                </a:solidFill>
              </a:rPr>
              <a:t>matplotlib (Agg backend) renders two charts per analyser on fixed 12-slot axes, capped at the report month, labelled on every segment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154680" y="4663440"/>
            <a:ext cx="22860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383280" y="3611880"/>
            <a:ext cx="2606040" cy="210312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540A"/>
                </a:solidFill>
              </a:rPr>
              <a:t>6  Assemble</a:t>
            </a:r>
          </a:p>
          <a:p>
            <a:pPr algn="ctr"/>
            <a:r>
              <a:rPr sz="1050">
                <a:solidFill>
                  <a:srgbClr val="17272E"/>
                </a:solidFill>
              </a:rPr>
              <a:t>python-docx builds the report at OOXML level: shaded tables, dxa column widths, keep-with-next pagination, 7.2-inch figures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989320" y="4663440"/>
            <a:ext cx="22860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6217920" y="3611880"/>
            <a:ext cx="2606040" cy="210312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540A"/>
                </a:solidFill>
              </a:rPr>
              <a:t>7  Summarise</a:t>
            </a:r>
          </a:p>
          <a:p>
            <a:pPr algn="ctr"/>
            <a:r>
              <a:rPr sz="1050">
                <a:solidFill>
                  <a:srgbClr val="17272E"/>
                </a:solidFill>
              </a:rPr>
              <a:t>Site Overviews, Area Summaries with cartridge totals, a Cartridge Stock report per HHS, and the dormant-analyser list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23960" y="4663440"/>
            <a:ext cx="228600" cy="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052560" y="3611880"/>
            <a:ext cx="2606040" cy="2103120"/>
          </a:xfrm>
          <a:prstGeom prst="roundRect">
            <a:avLst>
              <a:gd name="adj" fmla="val 10000"/>
            </a:avLst>
          </a:prstGeom>
          <a:solidFill>
            <a:srgbClr val="FDF0E4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B4540A"/>
                </a:solidFill>
              </a:rPr>
              <a:t>8  Persist</a:t>
            </a:r>
          </a:p>
          <a:p>
            <a:pPr algn="ctr"/>
            <a:r>
              <a:rPr sz="1050">
                <a:solidFill>
                  <a:srgbClr val="17272E"/>
                </a:solidFill>
              </a:rPr>
              <a:t>Idempotent monthly upsert into the encrypted histories and the activity ledger; a re-run of a month overwrites, never duplicates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5897880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F7178"/>
                </a:solidFill>
              </a:rPr>
              <a:t>Every hospital runs inside its own fault boundary: an exception in one site is logged and the run continues, so one bad export row never costs the other 158 hospitals their reports.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The dependency stack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F7178"/>
                </a:solidFill>
              </a:rPr>
              <a:t>Eight components, all open-source or operating-system native, all pinned and carried on the drive — nothing is fetched at run time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55448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43400"/>
                <a:gridCol w="43434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Component</a:t>
                      </a:r>
                    </a:p>
                  </a:txBody>
                  <a:tcPr marL="73152" marR="73152" marT="36576" marB="36576">
                    <a:solidFill>
                      <a:srgbClr val="0148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Role in the engine</a:t>
                      </a:r>
                    </a:p>
                  </a:txBody>
                  <a:tcPr marL="73152" marR="73152" marT="36576" marB="36576">
                    <a:solidFill>
                      <a:srgbClr val="0148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Why it matters</a:t>
                      </a:r>
                    </a:p>
                  </a:txBody>
                  <a:tcPr marL="73152" marR="73152" marT="36576" marB="36576">
                    <a:solidFill>
                      <a:srgbClr val="0148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1485C"/>
                          </a:solidFill>
                        </a:rPr>
                        <a:t>Python 3.13 (embeddable)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Interpreter and standard library, shipped in the python\ folder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No installation, no admin rights, identical behaviour on every licensed PC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1485C"/>
                          </a:solidFill>
                        </a:rPr>
                        <a:t>Flask ≥ 3.0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HTTP front end for portal and engines, bound to 127.0.0.1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A browser UI with a progress API, with no server exposed beyond the PC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1485C"/>
                          </a:solidFill>
                        </a:rPr>
                        <a:t>pandas ≥ 2.0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Vectorised analytics over the export: grouping, rates, joins by location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Thousands of rows per sheet processed in milliseconds, not loops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1485C"/>
                          </a:solidFill>
                        </a:rPr>
                        <a:t>openpyxl ≥ 3.1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Streams the .xlsx export sheet by sheet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Reads the middleware export directly, values only, no Excel required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1485C"/>
                          </a:solidFill>
                        </a:rPr>
                        <a:t>python-docx ≥ 1.1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Generates the Word reports from a branded template at OOXML level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Pixel-controlled tables, pagination and figures in native .docx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1485C"/>
                          </a:solidFill>
                        </a:rPr>
                        <a:t>matplotlib ≥ 3.8 (Agg)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Headless chart rasterisation for the trend and volume charts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Deterministic charts with no display server and a drive-local font cache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1485C"/>
                          </a:solidFill>
                        </a:rPr>
                        <a:t>cryptography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PBKDF2-HMAC-SHA256 key derivation, Fernet (AES-128-CBC + HMAC-SHA256), Ed25519 signatures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Encrypted histories and tamper-proof licences from one audited library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1485C"/>
                          </a:solidFill>
                        </a:rPr>
                        <a:t>Windows native (ctypes, WMI)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Volume serial, system UUID and board serial for the machine fingerprint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7272E"/>
                          </a:solidFill>
                        </a:rPr>
                        <a:t>Motherboard-bound licensing without any third-party agent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Stateful intelligence — the history layer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F7178"/>
                </a:solidFill>
              </a:rPr>
              <a:t>Each run is not a snapshot: four encrypted stores give every report a 12-month memory and let the engine recognise patterns a single export cannot show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691640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1801368"/>
            <a:ext cx="5038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error_rate_history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194560"/>
            <a:ext cx="5038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Per analyser, per month: error rate, cartridges run, error-type mix and cartridge counts by type (patient and QC). Feeds the trend charts, the 12-month averages and the ordering guide.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1691640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1801368"/>
            <a:ext cx="5038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staff_error_history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2194560"/>
            <a:ext cx="5038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Named operators and their monthly error counts per site. Drives the “This Month” and “Recurring” follow-up logic — consecutive months at the same site are flagged automatically.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794760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3904488"/>
            <a:ext cx="5038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error_type_history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297680"/>
            <a:ext cx="5038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The leading error code each month per analyser, so a repeat (the same top code two months running) is surfaced as a habit rather than a bad month.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172200" y="3794760"/>
            <a:ext cx="5440680" cy="192024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3368" y="3904488"/>
            <a:ext cx="503834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device_activity_history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73368" y="4297680"/>
            <a:ext cx="5038344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Cartridges, simulator runs and ceramic cleans per analyser per month. Four consecutive empty months trigger the dormant rule: no report, no penalty to the site, a line on the review list.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F7178"/>
                </a:solidFill>
              </a:rPr>
              <a:t>All four stores are AES-encrypted at rest with a key derived from the operator password (600,000 PBKDF2 iterations) and never written to disk; a plaintext sweep on unlock removes any legacy copies.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Defence in depth — six independent controls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1481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1  Whole-drive encryption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1874519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BitLocker To Go on the USB device. Lost drive, unreadable drive. Nothing is ever written to the host PC.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7" y="1481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2  Loopback-only binding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7" y="1874519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All three services bind to 127.0.0.1. There is no listening socket another machine could reach, even on the same network.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1481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3  netguard interception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1874519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socket.connect, connect_ex and sendto are patched at start-up: any non-loopback destination is refused and written to an audit log. A runtime control, not a policy.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657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767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4  Encrypted histories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16052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PBKDF2-HMAC-SHA256 (600,000 iterations) derives a Fernet key; AES-128-CBC with HMAC-SHA256 authentication. The password is held in memory only.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79" y="3657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7" y="3767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5  Ed25519 licensing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7" y="416052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Every PC needs a licence signed by the PoC lead’s private key, bound to its motherboard fingerprint, pinned to a bundle version and dated to the QIS cycle.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657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3767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6  Audit trail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416052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licence_audit.log and istat_network_audit.log record every launch, licence event and blocked connection; the register lists every copy in circulation.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Licensing cryptography — how a PC is bound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F7178"/>
                </a:solidFill>
              </a:rPr>
              <a:t>A hardware fingerprint, an asymmetric signature and a dated, version-pinned payload — the LotWarden pattern, issued centrally with a full 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1600200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1485C"/>
                </a:solidFill>
              </a:rPr>
              <a:t>Machine fingerprint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2057400"/>
            <a:ext cx="1234440" cy="86868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1485C"/>
                </a:solidFill>
              </a:rPr>
              <a:t>System UUID</a:t>
            </a:r>
          </a:p>
          <a:p>
            <a:pPr algn="ctr"/>
            <a:r>
              <a:rPr sz="850">
                <a:solidFill>
                  <a:srgbClr val="17272E"/>
                </a:solidFill>
              </a:rPr>
              <a:t>SMBIOS, via WMI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920240" y="2057400"/>
            <a:ext cx="1234440" cy="86868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1485C"/>
                </a:solidFill>
              </a:rPr>
              <a:t>Board serial</a:t>
            </a:r>
          </a:p>
          <a:p>
            <a:pPr algn="ctr"/>
            <a:r>
              <a:rPr sz="850">
                <a:solidFill>
                  <a:srgbClr val="17272E"/>
                </a:solidFill>
              </a:rPr>
              <a:t>motherboard, via WMI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2057400"/>
            <a:ext cx="1234440" cy="86868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1485C"/>
                </a:solidFill>
              </a:rPr>
              <a:t>Volume serial</a:t>
            </a:r>
          </a:p>
          <a:p>
            <a:pPr algn="ctr"/>
            <a:r>
              <a:rPr sz="850">
                <a:solidFill>
                  <a:srgbClr val="17272E"/>
                </a:solidFill>
              </a:rPr>
              <a:t>system drive, Win32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63440" y="2057400"/>
            <a:ext cx="1234440" cy="868680"/>
          </a:xfrm>
          <a:prstGeom prst="roundRect">
            <a:avLst>
              <a:gd name="adj" fmla="val 10000"/>
            </a:avLst>
          </a:prstGeom>
          <a:solidFill>
            <a:srgbClr val="E5F2F0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50" b="1">
                <a:solidFill>
                  <a:srgbClr val="01485C"/>
                </a:solidFill>
              </a:rPr>
              <a:t>Hostname</a:t>
            </a:r>
          </a:p>
          <a:p>
            <a:pPr algn="ctr"/>
            <a:r>
              <a:rPr sz="850">
                <a:solidFill>
                  <a:srgbClr val="17272E"/>
                </a:solidFill>
              </a:rPr>
              <a:t>socket.gethostname()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017520" y="2926080"/>
            <a:ext cx="0" cy="36576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1463040" y="329184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01485C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SHA-256 of the joined facts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017520" y="3931920"/>
            <a:ext cx="0" cy="365760"/>
          </a:xfrm>
          <a:prstGeom prst="line">
            <a:avLst/>
          </a:prstGeom>
          <a:ln w="19050">
            <a:solidFill>
              <a:srgbClr val="5F7178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463040" y="4297680"/>
            <a:ext cx="3108960" cy="6400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01485C"/>
                </a:solidFill>
              </a:rPr>
              <a:t>XXXX-XXXX-XXXX</a:t>
            </a:r>
          </a:p>
          <a:p>
            <a:pPr algn="ctr"/>
            <a:r>
              <a:rPr sz="950">
                <a:solidFill>
                  <a:srgbClr val="17272E"/>
                </a:solidFill>
              </a:rPr>
              <a:t>first 12 hex digits, shown on the selection page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120640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5F7178"/>
                </a:solidFill>
              </a:rPr>
              <a:t>A copy of the drive on another PC produces a different fingerprint and is refused. The identifiers are read by the operating system, so there is no agent to install and nothing to tamper with.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16002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1485C"/>
                </a:solidFill>
              </a:rPr>
              <a:t>Licence lifecycle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60" y="2057400"/>
            <a:ext cx="1188720" cy="822960"/>
          </a:xfrm>
          <a:prstGeom prst="roundRect">
            <a:avLst>
              <a:gd name="adj" fmla="val 10000"/>
            </a:avLst>
          </a:prstGeom>
          <a:solidFill>
            <a:srgbClr val="01485C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Issue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35240" y="2057400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17272E"/>
                </a:solidFill>
              </a:rPr>
              <a:t>pq_keygen signs a JSON payload (site, machines, seats, expiry, max_version) with the Ed25519 private key — held offline by the PoC lead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60" y="3044952"/>
            <a:ext cx="1188720" cy="822960"/>
          </a:xfrm>
          <a:prstGeom prst="roundRect">
            <a:avLst>
              <a:gd name="adj" fmla="val 10000"/>
            </a:avLst>
          </a:prstGeom>
          <a:solidFill>
            <a:srgbClr val="11B5AE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Install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35240" y="3044952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17272E"/>
                </a:solidFill>
              </a:rPr>
              <a:t>The .lic file goes to the drive root or through the selection page; the bundle carries only the public key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09360" y="4032504"/>
            <a:ext cx="1188720" cy="822960"/>
          </a:xfrm>
          <a:prstGeom prst="roundRect">
            <a:avLst>
              <a:gd name="adj" fmla="val 10000"/>
            </a:avLst>
          </a:prstGeom>
          <a:solidFill>
            <a:srgbClr val="01485C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Verify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40" y="4032504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17272E"/>
                </a:solidFill>
              </a:rPr>
              <a:t>Every request to either engine passes the licence gate: signature, fingerprint, date and version are checked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309360" y="5020056"/>
            <a:ext cx="1188720" cy="822960"/>
          </a:xfrm>
          <a:prstGeom prst="roundRect">
            <a:avLst>
              <a:gd name="adj" fmla="val 10000"/>
            </a:avLst>
          </a:prstGeom>
          <a:solidFill>
            <a:srgbClr val="11B5AE"/>
          </a:solidFill>
          <a:ln w="12700"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Expire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5020056"/>
            <a:ext cx="40233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050" b="0">
                <a:solidFill>
                  <a:srgbClr val="17272E"/>
                </a:solidFill>
              </a:rPr>
              <a:t>LICENSED → EXPIRING (30 days’ notice) → GRACE (30 days) → locked. Each QIS review re-issues against the new bundle version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The document engine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F7178"/>
                </a:solidFill>
              </a:rPr>
              <a:t>Native Word output, generated at the XML level, so the reports look hand-built and open on any Queensland Health PC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16916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180136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Branded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19456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Every document starts from template.docx: Pathology Queensland header, logos and footer fields. The engine strips the body and rebuilds it, so branding changes are a template edit, not a code change.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16916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98848" y="180136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OOXML-level layout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98848" y="219456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Borders, cell shading, dxa column widths, cell padding and keep-with-next are written directly into the document XML — sections never split across pages, tables never orphan a heading.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169164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47888" y="180136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Deterministic figures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19456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Charts are rasterised headlessly and embedded at a fixed 7.2-inch width with twelve fixed slots, so a January chart and a December chart line up on the wall.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3931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4164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Five document types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43484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Hospital and ward reports (six pages), Site Overviews, Area Summaries, Cartridge Stock reports and the dormant list — all from shared helpers and one title block.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297680" y="3931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498848" y="404164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Throughput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98848" y="443484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About 490 documents in roughly eleven minutes on an ordinary laptop: around 1.3 seconds per document including two charts, with real-time counting on the progress card.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93192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47888" y="404164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Filed for distribution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47888" y="443484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17272E"/>
                </a:solidFill>
              </a:rPr>
              <a:t>Reports\iSTAT\YYYY-MM Month, one sub-folder per Hospital and Health Service, summaries beside the reports they summarise, dormant list at the top.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Scale and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28016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1371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1485C"/>
                </a:solidFill>
              </a:rPr>
              <a:t>159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192023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hospitals in a single export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83280" y="128016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6160" y="1371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1485C"/>
                </a:solidFill>
              </a:rPr>
              <a:t>490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192023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Word documents per monthly run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128016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0" y="1371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1485C"/>
                </a:solidFill>
              </a:rPr>
              <a:t>16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192023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HHS folders, each with its own summaries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52560" y="128016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137160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1485C"/>
                </a:solidFill>
              </a:rPr>
              <a:t>11 min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35440" y="1920239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for a complete statewide run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269748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27889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1485C"/>
                </a:solidFill>
              </a:rPr>
              <a:t>24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33375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large sites reported per ward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83280" y="269748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27889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1485C"/>
                </a:solidFill>
              </a:rPr>
              <a:t>12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33375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months of memory behind every chart and average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217920" y="269748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0" y="27889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1485C"/>
                </a:solidFill>
              </a:rPr>
              <a:t>600,000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00800" y="33375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PBKDF2 iterations protecting the histories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52560" y="2697480"/>
            <a:ext cx="26060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>
            <a:solidFill>
              <a:srgbClr val="C9D6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2788920"/>
            <a:ext cx="2240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2800" b="1">
                <a:solidFill>
                  <a:srgbClr val="01485C"/>
                </a:solidFill>
              </a:rPr>
              <a:t>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5440" y="3337560"/>
            <a:ext cx="2240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outbound network connections, by enforcement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42062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1485C"/>
                </a:solidFill>
              </a:rPr>
              <a:t>What those numbers mean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4572000"/>
            <a:ext cx="110642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0">
                <a:solidFill>
                  <a:srgbClr val="17272E"/>
                </a:solidFill>
              </a:rPr>
              <a:t>The work that previously took a scientist most of a week each month — opening the export, filtering by site, charting, pasting into Word, filing — now takes one drop of the file and one click, and produces more than it ever did: per-ward reports, area roll-ups, ordering guides and a retirement list.</a:t>
            </a:r>
          </a:p>
          <a:p>
            <a:pPr algn="l">
              <a:spcAft>
                <a:spcPts val="500"/>
              </a:spcAft>
            </a:pPr>
            <a:r>
              <a:rPr sz="1200" b="0">
                <a:solidFill>
                  <a:srgbClr val="17272E"/>
                </a:solidFill>
              </a:rPr>
              <a:t>Because the engine keeps its own encrypted memory, each run gets better: trends lengthen, recurring operators and repeat error codes surface automatically, and ordering averages settle.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Engineering practice behind it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1481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Version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" y="1874519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Git repository with a whitelist .gitignore: code, templates and documentation are tracked; exports, histories, reports, licences and the private key can never be committed.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297679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98847" y="1481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Reproducible deployment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98847" y="1874519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Master → staging bundle → USB, every file compared byte for byte after copying; one VERSION file ties the bundle to its licences.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371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1481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Fault isolation and idempotence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1874519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Each hospital runs in its own try/except; a month can be re-run safely because history updates upsert rather than append.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3657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3767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De-identified demo pipeline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16052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A streaming de-identifier replaces every staff identity with a synthetic one so recordings, decks and the landing page never show a real name.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97679" y="3657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498847" y="3767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Sandboxed testing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98847" y="416052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Flask test clients and isolated sandboxes with twelve months of backfilled history validate every change before it reaches the drive.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19" y="3657600"/>
            <a:ext cx="3566160" cy="2011680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47888" y="3767328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Documentation set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47888" y="4160520"/>
            <a:ext cx="3163824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250" b="0">
                <a:solidFill>
                  <a:srgbClr val="17272E"/>
                </a:solidFill>
              </a:rPr>
              <a:t>User guide, security briefing, two manager overviews, this deck, a security README for IT and a licensing runbook for the PoC lead.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Built to be extended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84080" y="384048"/>
            <a:ext cx="1828800" cy="457200"/>
          </a:xfrm>
          <a:prstGeom prst="roundRect">
            <a:avLst/>
          </a:prstGeom>
          <a:solidFill>
            <a:srgbClr val="0148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</a:rPr>
              <a:t>i-STAT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0515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0">
                <a:solidFill>
                  <a:srgbClr val="5F7178"/>
                </a:solidFill>
              </a:rPr>
              <a:t>Configuration tables, not code paths: the changes managers most often ask for are single-line edits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1600200"/>
          <a:ext cx="110642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6126480"/>
                <a:gridCol w="164592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Request</a:t>
                      </a:r>
                    </a:p>
                  </a:txBody>
                  <a:tcPr marL="73152" marR="73152" marT="36576" marB="36576">
                    <a:solidFill>
                      <a:srgbClr val="0148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What changes</a:t>
                      </a:r>
                    </a:p>
                  </a:txBody>
                  <a:tcPr marL="73152" marR="73152" marT="36576" marB="36576">
                    <a:solidFill>
                      <a:srgbClr val="01485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Effort</a:t>
                      </a:r>
                    </a:p>
                  </a:txBody>
                  <a:tcPr marL="73152" marR="73152" marT="36576" marB="36576">
                    <a:solidFill>
                      <a:srgbClr val="0148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1485C"/>
                          </a:solidFill>
                        </a:rPr>
                        <a:t>A new cartridge type from Abbott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One entry in the cartridge order list and the box-size table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Minutes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1485C"/>
                          </a:solidFill>
                        </a:rPr>
                        <a:t>Split another hospital by ward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One hospital name in the per-device list; ward titles and folder overrides are tables too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Minutes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1485C"/>
                          </a:solidFill>
                        </a:rPr>
                        <a:t>A new Hospital and Health Service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One entry in the HHS name table; folders and summaries follow automatically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Minutes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1485C"/>
                          </a:solidFill>
                        </a:rPr>
                        <a:t>A new summary document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Shared title block, table and chart helpers — the Cartridge Stock report was built on them in a day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Days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1485C"/>
                          </a:solidFill>
                        </a:rPr>
                        <a:t>A new analyser family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The ABL engine reuses the encryption, licensing, charting and summary architecture end to end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Weeks</a:t>
                      </a:r>
                    </a:p>
                  </a:txBody>
                  <a:tcPr marL="73152" marR="73152" marT="36576" marB="36576">
                    <a:solidFill>
                      <a:srgbClr val="E5F2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1485C"/>
                          </a:solidFill>
                        </a:rPr>
                        <a:t>A new reporting rule (e.g. dormant months)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Named constants at the top of the engine, documented in the user guide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7272E"/>
                          </a:solidFill>
                        </a:rPr>
                        <a:t>Minutes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548640" y="51206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50" b="0">
                <a:solidFill>
                  <a:srgbClr val="5F7178"/>
                </a:solidFill>
              </a:rPr>
              <a:t>The two engines share one security model and one licensing model, so a control added for i-STAT — encrypted histories, the network guard, central licences — reaches the ABL reports in the same release.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12" name="Shape 7"/>
          <p:cNvSpPr/>
          <p:nvPr/>
        </p:nvSpPr>
        <p:spPr>
          <a:xfrm>
            <a:off x="0" y="6793992"/>
            <a:ext cx="2040636" cy="64008"/>
          </a:xfrm>
          <a:prstGeom prst="rect">
            <a:avLst/>
          </a:prstGeom>
          <a:solidFill>
            <a:srgbClr val="01485C"/>
          </a:solidFill>
          <a:ln/>
        </p:spPr>
        <p:txBody>
          <a:bodyPr/>
          <a:p/>
        </p:txBody>
      </p:sp>
      <p:sp>
        <p:nvSpPr>
          <p:cNvPr id="13" name="Shape 8"/>
          <p:cNvSpPr/>
          <p:nvPr/>
        </p:nvSpPr>
        <p:spPr>
          <a:xfrm>
            <a:off x="2031492" y="6793992"/>
            <a:ext cx="2040636" cy="64008"/>
          </a:xfrm>
          <a:prstGeom prst="rect">
            <a:avLst/>
          </a:prstGeom>
          <a:solidFill>
            <a:srgbClr val="146175"/>
          </a:solidFill>
          <a:ln/>
        </p:spPr>
        <p:txBody>
          <a:bodyPr/>
          <a:p/>
        </p:txBody>
      </p:sp>
      <p:sp>
        <p:nvSpPr>
          <p:cNvPr id="14" name="Shape 9"/>
          <p:cNvSpPr/>
          <p:nvPr/>
        </p:nvSpPr>
        <p:spPr>
          <a:xfrm>
            <a:off x="4062984" y="6793992"/>
            <a:ext cx="2040636" cy="64008"/>
          </a:xfrm>
          <a:prstGeom prst="rect">
            <a:avLst/>
          </a:prstGeom>
          <a:solidFill>
            <a:srgbClr val="11B5AE"/>
          </a:solidFill>
          <a:ln/>
        </p:spPr>
        <p:txBody>
          <a:bodyPr/>
          <a:p/>
        </p:txBody>
      </p:sp>
      <p:sp>
        <p:nvSpPr>
          <p:cNvPr id="15" name="Shape 10"/>
          <p:cNvSpPr/>
          <p:nvPr/>
        </p:nvSpPr>
        <p:spPr>
          <a:xfrm>
            <a:off x="6094476" y="6793992"/>
            <a:ext cx="2040636" cy="64008"/>
          </a:xfrm>
          <a:prstGeom prst="rect">
            <a:avLst/>
          </a:prstGeom>
          <a:solidFill>
            <a:srgbClr val="6CCAD4"/>
          </a:solidFill>
          <a:ln/>
        </p:spPr>
        <p:txBody>
          <a:bodyPr/>
          <a:p/>
        </p:txBody>
      </p:sp>
      <p:sp>
        <p:nvSpPr>
          <p:cNvPr id="16" name="Shape 11"/>
          <p:cNvSpPr/>
          <p:nvPr/>
        </p:nvSpPr>
        <p:spPr>
          <a:xfrm>
            <a:off x="8125968" y="6793992"/>
            <a:ext cx="2040636" cy="64008"/>
          </a:xfrm>
          <a:prstGeom prst="rect">
            <a:avLst/>
          </a:prstGeom>
          <a:solidFill>
            <a:srgbClr val="7FC04C"/>
          </a:solidFill>
          <a:ln/>
        </p:spPr>
        <p:txBody>
          <a:bodyPr/>
          <a:p/>
        </p:txBody>
      </p:sp>
      <p:sp>
        <p:nvSpPr>
          <p:cNvPr id="17" name="Shape 12"/>
          <p:cNvSpPr/>
          <p:nvPr/>
        </p:nvSpPr>
        <p:spPr>
          <a:xfrm>
            <a:off x="10157460" y="6793992"/>
            <a:ext cx="2040636" cy="64008"/>
          </a:xfrm>
          <a:prstGeom prst="rect">
            <a:avLst/>
          </a:prstGeom>
          <a:solidFill>
            <a:srgbClr val="E1DD57"/>
          </a:solidFill>
          <a:ln/>
        </p:spPr>
        <p:txBody>
          <a:bodyPr/>
          <a:p/>
        </p:txBody>
      </p:sp>
      <p:sp>
        <p:nvSpPr>
          <p:cNvPr id="18" name="TextBox 17"/>
          <p:cNvSpPr txBox="1"/>
          <p:nvPr/>
        </p:nvSpPr>
        <p:spPr>
          <a:xfrm>
            <a:off x="548640" y="320040"/>
            <a:ext cx="9144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1485C"/>
                </a:solidFill>
              </a:rPr>
              <a:t>In one slide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554480"/>
            <a:ext cx="3566160" cy="3749039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1664207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What it 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2057400"/>
            <a:ext cx="3163824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7272E"/>
                </a:solidFill>
              </a:rPr>
              <a:t>A portable, self-contained analytics and document-generation platform: an embedded Python runtime, three loopback-only services and an encrypted state layer that turns one monthly export into around 490 branded Word reports, summaries and ordering guides.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1554480"/>
            <a:ext cx="3566160" cy="3749039"/>
          </a:xfrm>
          <a:prstGeom prst="roundRect">
            <a:avLst>
              <a:gd name="adj" fmla="val 8000"/>
            </a:avLst>
          </a:prstGeom>
          <a:solidFill>
            <a:srgbClr val="FD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98848" y="1664207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B4540A"/>
                </a:solidFill>
              </a:rPr>
              <a:t>What it depends 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98848" y="2057400"/>
            <a:ext cx="3163824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7272E"/>
                </a:solidFill>
              </a:rPr>
              <a:t>Eight pinned, open-source or operating-system-native components — Python, Flask, pandas, openpyxl, python-docx, matplotlib, cryptography and Windows identity APIs — all carried on the drive. No cloud, no installation, no network.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46720" y="1554480"/>
            <a:ext cx="3566160" cy="3749039"/>
          </a:xfrm>
          <a:prstGeom prst="roundRect">
            <a:avLst>
              <a:gd name="adj" fmla="val 8000"/>
            </a:avLst>
          </a:prstGeom>
          <a:solidFill>
            <a:srgbClr val="E5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47888" y="1664207"/>
            <a:ext cx="316382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01485C"/>
                </a:solidFill>
              </a:rPr>
              <a:t>What protects 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47888" y="2057400"/>
            <a:ext cx="3163824" cy="32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7272E"/>
                </a:solidFill>
              </a:rPr>
              <a:t>Six independent controls: whole-drive encryption, loopback binding, socket-level network interception, AES-encrypted histories, motherboard-bound Ed25519 licences on the QIS cycle, and audit logs of every launch and every blocked connection.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179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Conceived, designed and built by Craig MacKenzie · Chemistry Department, Townsville Group Laboratory · Pathology Queensland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5F7178"/>
                </a:solidFill>
              </a:rPr>
              <a:t>Amendments and oversight by Damian Juskiw · Supervising Scientist, Chemical Pathology, Townsville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2026-09-04T01:56:42Z</dcterms:created>
  <dcterms:modified xsi:type="dcterms:W3CDTF">2026-09-04T01:56:42Z</dcterms:modified>
</cp:coreProperties>
</file>