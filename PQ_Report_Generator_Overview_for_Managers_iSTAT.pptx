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guide walks through the complete monthly routine: starting the program, generating i-STAT reports, generating ABL reports, and what to do when something looks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" name="Image 0" descr="q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728" y="658368"/>
            <a:ext cx="2157984" cy="274320"/>
          </a:xfrm>
          <a:prstGeom prst="rect">
            <a:avLst/>
          </a:prstGeom>
        </p:spPr>
      </p:pic>
      <p:pic>
        <p:nvPicPr>
          <p:cNvPr id="4" name="Image 1" descr="wor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87552"/>
            <a:ext cx="3566160" cy="417881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562088" y="1298448"/>
            <a:ext cx="4123944" cy="29443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177800" dist="50800" dir="5400000">
              <a:srgbClr val="012632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6" name="Image 2" descr="port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371600"/>
            <a:ext cx="3977640" cy="2798064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562088" y="4279392"/>
            <a:ext cx="412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drive, one click, every hospital and ward reported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23774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Report Generator</a:t>
            </a:r>
            <a:endParaRPr lang="en-US" sz="40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32461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i-STAT reports — an overview for managers</a:t>
            </a:r>
            <a:endParaRPr lang="en-US" sz="19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5897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Queensland · Point of Care Testing · September 2026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62910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Conceived, designed and built by Craig MacKenzie · Chemistry Department, Townsville Group Laboratory · Pathology Queensland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A full run in one minute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01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VIDEO</a:t>
            </a:r>
          </a:p>
        </p:txBody>
      </p:sp>
      <p:pic>
        <p:nvPicPr>
          <p:cNvPr id="20" name="ru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143000"/>
            <a:ext cx="7607808" cy="4754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12480" y="1143000"/>
            <a:ext cx="3200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Click the picture to play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A real August 2026 run recorded end to end: launch, unlock the encrypted history, drop the export, load the hospitals, generate, results.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Generation for 159 hospitals takes about ten minutes; the video shows it at 30× speed, everything else at real speed.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Every staff name in the demo is synthetic. Hospitals, wards and analyser serials are real.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What one run produces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188720"/>
            <a:ext cx="21031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1280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1485C"/>
                </a:solidFill>
              </a:rPr>
              <a:t>159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18105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hospitals in one export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16352" y="1188720"/>
            <a:ext cx="21031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9232" y="1280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1485C"/>
                </a:solidFill>
              </a:rPr>
              <a:t>474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9232" y="18105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Word documents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84064" y="1188720"/>
            <a:ext cx="21031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66944" y="1280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1485C"/>
                </a:solidFill>
              </a:rPr>
              <a:t>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66944" y="18105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HHS folders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51775" y="1188720"/>
            <a:ext cx="21031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34655" y="1280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1485C"/>
                </a:solidFill>
              </a:rPr>
              <a:t>163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4655" y="18105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dormant analysers listed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19488" y="1188720"/>
            <a:ext cx="21031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02367" y="1280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1485C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7" y="18105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network connections, ever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6060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Filed by Hospital and Health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063240"/>
            <a:ext cx="1920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CA\   40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ChildQLD\   17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Mackay\   17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NoWe\   19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ToCa\   22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WiBa\   38 documents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3063240"/>
            <a:ext cx="1920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CQLD\   31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DaDo\   45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MeNo\   63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SoWe\   16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Townsv\   33 documents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3063240"/>
            <a:ext cx="1920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CWest\   17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GoCo\   25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MeSo\   39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SuCo\   25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WeMo\   26 documents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7492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Dormant_iSTATs_August2026.docx sits at the top level of the month folder — every analyser left out and why.</a:t>
            </a:r>
          </a:p>
        </p:txBody>
      </p:sp>
      <p:pic>
        <p:nvPicPr>
          <p:cNvPr id="39" name="Picture 38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606040"/>
            <a:ext cx="5120640" cy="32004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492240" y="585215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The results card at the end of a run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Charters Towers, August 2026 — pages 1–2 of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01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i-STAT</a:t>
            </a:r>
          </a:p>
        </p:txBody>
      </p:sp>
      <p:pic>
        <p:nvPicPr>
          <p:cNvPr id="20" name="Picture 19" descr="cth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3429521" cy="4846320"/>
          </a:xfrm>
          <a:prstGeom prst="rect">
            <a:avLst/>
          </a:prstGeom>
          <a:ln>
            <a:solidFill>
              <a:srgbClr val="E2E8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48640" y="6035040"/>
            <a:ext cx="342952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Page 1: snapshot and first trend</a:t>
            </a:r>
          </a:p>
        </p:txBody>
      </p:sp>
      <p:pic>
        <p:nvPicPr>
          <p:cNvPr id="22" name="Picture 21" descr="cth_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143000"/>
            <a:ext cx="3429521" cy="4846320"/>
          </a:xfrm>
          <a:prstGeom prst="rect">
            <a:avLst/>
          </a:prstGeom>
          <a:ln>
            <a:solidFill>
              <a:srgbClr val="E2E8EA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4206240" y="6035040"/>
            <a:ext cx="342952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Page 2: error mix, second trend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1188720"/>
            <a:ext cx="3566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Page 1 — the month at a glance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Monthly Snapshot: overall error rate with its performance band (3.6%, Champions); simulator runs per analyser; ceramic cleaning per analyser (here one of two failed); the top error code, flagged when it repeats from the previous month; staff flagged this month (four with 3+ errors); recurring staff alerts.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Error Rate Trend for the first analyser: twelve months against the colour bands, so a drift is visible before it becomes a problem.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Page 2 — Cartridges Run &amp; Error Mix for the same analyser: workload on top, each month’s errors as a percentage split by category (handling, overfilled, underfilled, sample volume and so on), then the trend chart for the second analyser.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Charters Towers, August 2026 — pages 3–4 of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01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i-STAT</a:t>
            </a:r>
          </a:p>
        </p:txBody>
      </p:sp>
      <p:pic>
        <p:nvPicPr>
          <p:cNvPr id="20" name="Picture 19" descr="cth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3429521" cy="4846320"/>
          </a:xfrm>
          <a:prstGeom prst="rect">
            <a:avLst/>
          </a:prstGeom>
          <a:ln>
            <a:solidFill>
              <a:srgbClr val="E2E8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48640" y="6035040"/>
            <a:ext cx="342952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Page 3: performance and QC checks</a:t>
            </a:r>
          </a:p>
        </p:txBody>
      </p:sp>
      <p:pic>
        <p:nvPicPr>
          <p:cNvPr id="22" name="Picture 21" descr="cth_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143000"/>
            <a:ext cx="3429521" cy="4846320"/>
          </a:xfrm>
          <a:prstGeom prst="rect">
            <a:avLst/>
          </a:prstGeom>
          <a:ln>
            <a:solidFill>
              <a:srgbClr val="E2E8EA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4206240" y="6035040"/>
            <a:ext cx="342952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Page 4: staff follow-up, every error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1188720"/>
            <a:ext cx="3566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Page 3 — performance and QC compliance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Error mix for the second analyser, then the Performance Summary: cartridges, errors and error rate per analyser with its band, and the site total.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Simulators run per analyser, and the Monthly Ceramic Cleaning check per analyser — FAIL if any analyser is below the three cartridges required.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Page 4 — Staff Requiring Follow-up: this month’s staff with three or more errors, with their error count and personal error rate; a Recurring section appears when someone is flagged in consecutive months.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All cartridge errors recorded this month: every event by location and staff member, the code and its likely cause, flagged staff in red — the evidence behind the follow-up list.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Charters Towers, August 2026 — page 5 of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01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i-STAT</a:t>
            </a:r>
          </a:p>
        </p:txBody>
      </p:sp>
      <p:pic>
        <p:nvPicPr>
          <p:cNvPr id="20" name="Picture 19" descr="cth_p5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5534103" cy="4846320"/>
          </a:xfrm>
          <a:prstGeom prst="rect">
            <a:avLst/>
          </a:prstGeom>
          <a:ln>
            <a:solidFill>
              <a:srgbClr val="E2E8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48640" y="6035040"/>
            <a:ext cx="55341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Page 5: error causes and the 12-month pattern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2783" y="1188720"/>
            <a:ext cx="5210097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Page 5 — understanding the errors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Error Type Summary: the month’s error codes with their likely cause and count, the top code flagged when it is a repeat.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Top Error Code Analysis: the device message and a plain-English explanation of each leading code — what the operator saw and what to do about it. Here CODE 95 (operator cancelled before mandatory data was entered) leads for the second time.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Error Type Trend: the top error type each month for the last twelve, repeats flagged — the difference between a bad month and a habit.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A link to the online training resources closes every report.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Summaries for site leads and area managers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01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i-STAT</a:t>
            </a:r>
          </a:p>
        </p:txBody>
      </p:sp>
      <p:pic>
        <p:nvPicPr>
          <p:cNvPr id="20" name="Picture 19" descr="site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3429521" cy="4846320"/>
          </a:xfrm>
          <a:prstGeom prst="rect">
            <a:avLst/>
          </a:prstGeom>
          <a:ln>
            <a:solidFill>
              <a:srgbClr val="E2E8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48640" y="6035040"/>
            <a:ext cx="342952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Site Overview — every ward of a large site on one page</a:t>
            </a:r>
          </a:p>
        </p:txBody>
      </p:sp>
      <p:pic>
        <p:nvPicPr>
          <p:cNvPr id="22" name="Picture 21" descr="area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143000"/>
            <a:ext cx="3429521" cy="4846320"/>
          </a:xfrm>
          <a:prstGeom prst="rect">
            <a:avLst/>
          </a:prstGeom>
          <a:ln>
            <a:solidFill>
              <a:srgbClr val="E2E8EA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4206240" y="6035040"/>
            <a:ext cx="342952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Area Summary — every hospital in the HHS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1188720"/>
            <a:ext cx="3566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The whole picture on one page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Site Overview: each ward’s analyser with cartridges, errors, error %, performance band, simulator runs and a ceramic pass or fail, plus a site total.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Area Summary: the same figures per hospital across the HHS, an area total, and a table of every analyser that missed simulators or ceramics.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Both are produced automatically with every run, in the same folder as the reports.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Dormant analysers — found, left out, listed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01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i-STAT</a:t>
            </a:r>
          </a:p>
        </p:txBody>
      </p:sp>
      <p:pic>
        <p:nvPicPr>
          <p:cNvPr id="20" name="Picture 19" descr="dormant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3429521" cy="4846320"/>
          </a:xfrm>
          <a:prstGeom prst="rect">
            <a:avLst/>
          </a:prstGeom>
          <a:ln>
            <a:solidFill>
              <a:srgbClr val="E2E8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48640" y="6035040"/>
            <a:ext cx="342952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The dormant-analyser list for August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188720"/>
            <a:ext cx="7132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The four-month rule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An analyser with no cartridges, no simulator runs and no ceramic cleaning for four consecutive months is dormant: it gets no report and no longer counts against its site’s checks.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One or two quiet months change nothing. The reports exist to catch wards skipping simulators, so nothing is removed early.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Any use brings the unit straight back the next month.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Every run writes the list: hospital, location, serial, months idle and last activity. In August 2026, 163 units — mostly old models sitting beside their replacements — a ready-made retirement list.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How it protects the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2801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1417319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Runs from an encrypted USB 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1847088"/>
            <a:ext cx="49834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Its own Python runtime, no installation, no admin rights, no changes to the PC. BitLocker To Go encrypts the whole drive.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2801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19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Offline by enforcement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847088"/>
            <a:ext cx="49834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All three servers bind to the local machine only, and a runtime guard blocks and logs any attempt to reach the network. Zero outbound connections, ever.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5661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70332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540A"/>
                </a:solidFill>
              </a:rPr>
              <a:t>Named staff data encrypted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133087"/>
            <a:ext cx="49834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The rolling staff and device history is AES-encrypted with a password that is never stored. Reports cannot be generated until it is unlocked.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5661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70332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Controlled roll-out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133087"/>
            <a:ext cx="49834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It runs only on PCs approved by the PoC lead, reviewed on the 12-month QIS cycle, with an audit trail of every launch and every report generated.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Full detail for IT: SECURITY_README.md on the drive and the Security Briefing deck.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Getting the reports for your site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28016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1417319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1.  Ask the PoC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1847088"/>
            <a:ext cx="4983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Reports are generated centrally each month from the middleware exports and distributed by HHS folder.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28016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19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2.  Tell us your wards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847088"/>
            <a:ext cx="4983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Large sites get one report per ward. If a ward name or split is wrong, it is a one-line change.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52044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65760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3.  Check the dormant 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087368"/>
            <a:ext cx="4983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Units on it are candidates for retirement, or should be back in service and maintained.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52044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5760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4.  Read the summaries first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087368"/>
            <a:ext cx="4983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Site Overview for a site lead, Area Summary for an area manager, then the ward reports that need action.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Support: Pathology Queensland Point of Care team · Chemistry Department, Townsville Group Laboratory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2026-09-04T01:56:42Z</dcterms:created>
  <dcterms:modified xsi:type="dcterms:W3CDTF">2026-09-04T01:56:42Z</dcterms:modified>
</cp:coreProperties>
</file>