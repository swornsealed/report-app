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guide walks through the complete monthly routine: starting the program, generating i-STAT reports, generating ABL reports, and what to do when something looks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passwords exist: BitLocker for the drive itself, and the history password inside the i-STAT app. Stress that the history password has no recovery — a forgotten password means the history must be reset.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someone clicks Open before an engine has finished starting, the button waits and navigates automatically — no need to retry.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screen exists because the staff-performance history on the drive is encrypted. Generation is blocked until the password is entered.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filename convention (YYYYMM) drives the auto-detected period. Loading a big export takes a few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Generation is per-hospital, so one problem hospital never spoils the batch — any errors are listed at the end while the rest complete.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ABL flow mirrors i-STAT, but selection is by department rather than hospital, and there is no unlock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flag thresholds are fixed in the app so every department is judged identically, month after month — there is nothing to configure.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half of the i-STAT report, in document order, each with a miniature of what that section looks like: snapshot block, trend chart over the colour bands, the banded device table, simulator QC counts, and the ceramic cleaning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feature: the second Historical Performance chart, matching the ABL reports. Workload line above, error-mix bars below, month totals on top of each stack. Ten months of history (Sep 2025 - Jun 2026) were backfilled from the retained exports, so it debuts fully populated.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half of the i-STAT report with a miniature beside each section. Red consistently means "look here" — red names in the details, the ⚠ repeat flag, and the follow-up tables are the parts to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half of the ABL report with a miniature beside each section: the snapshot paragraph, the two-part historical charts (rate trend above, workload with error-type breakdown below), and the analyser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ABL twin of the i-STAT chart — this is the original the i-STAT version was modelled on. Workload line above, error-code bars below, legend naming each ABL code. In this real example one code dominates every month, which is exactly the insight the chart exists to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half of the ABL report with miniatures: the per-analyser operator tables carry the ⚠ and * symbols (thresholds fixed in the app), the error-code fingerprint, and the 12-month review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routine takes a few minutes plus generation time. Everything stays on the drive; distribution of the Word files is the only step that leaves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issues are cold-start timing or the wrong input file. Nothing here loses data — histories only update when a generation succeeds.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at the end — it is the one-screen crib sheet for anyone running the reports for the first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pic>
        <p:nvPicPr>
          <p:cNvPr id="3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4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62088" y="1298448"/>
            <a:ext cx="4123944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</p:sp>
      <p:pic>
        <p:nvPicPr>
          <p:cNvPr id="6" name="Image 2" descr="por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3977640" cy="279806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562088" y="4279392"/>
            <a:ext cx="4123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selection page you see at every launch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23774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guide — generating the monthly i-STAT and ABL reports</a:t>
            </a:r>
            <a:endParaRPr lang="en-US" sz="19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291072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by Craig MacKenzie · Chemistry Department · Townsville Group Laboratory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 — what you need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949440" cy="960120"/>
          </a:xfrm>
          <a:prstGeom prst="roundRect">
            <a:avLst>
              <a:gd name="adj" fmla="val 9524"/>
            </a:avLst>
          </a:prstGeom>
          <a:solidFill>
            <a:srgbClr val="E5F2F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8132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USB drive   </a:t>
            </a:r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runs from it; nothing is installed on the PC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6949440" cy="960120"/>
          </a:xfrm>
          <a:prstGeom prst="roundRect">
            <a:avLst>
              <a:gd name="adj" fmla="val 9524"/>
            </a:avLst>
          </a:prstGeom>
          <a:solidFill>
            <a:srgbClr val="E5F2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59689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password   </a:t>
            </a:r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asks for it when you plug the drive in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602736"/>
            <a:ext cx="6949440" cy="960120"/>
          </a:xfrm>
          <a:prstGeom prst="roundRect">
            <a:avLst>
              <a:gd name="adj" fmla="val 9524"/>
            </a:avLst>
          </a:prstGeom>
          <a:solidFill>
            <a:srgbClr val="FDF0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12464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password (i-STAT)   </a:t>
            </a:r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asks for it at each launch — held by the PoC team; there is NO recovery if forgotten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718304"/>
            <a:ext cx="6949440" cy="960120"/>
          </a:xfrm>
          <a:prstGeom prst="roundRect">
            <a:avLst>
              <a:gd name="adj" fmla="val 9524"/>
            </a:avLst>
          </a:prstGeom>
          <a:solidFill>
            <a:srgbClr val="E5F2F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82803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month’s export files   </a:t>
            </a:r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i-STAT export (e.g. "iSTAT Report 202609.xlsx") and the ABL operator error export — keep them in "Monthly reports" on the drive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863840" y="1371600"/>
            <a:ext cx="3794760" cy="4206240"/>
          </a:xfrm>
          <a:prstGeom prst="roundRect">
            <a:avLst>
              <a:gd name="adj" fmla="val 2892"/>
            </a:avLst>
          </a:prstGeom>
          <a:solidFill>
            <a:srgbClr val="012B3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138160" y="1600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2194560"/>
            <a:ext cx="32461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launch on a new computer can take up to 30 seconds — the browser opens by itself when ready.</a:t>
            </a:r>
            <a:endParaRPr lang="en-US" sz="13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black console window is the engine room: leave it open while working, close it to stop everything.</a:t>
            </a:r>
            <a:endParaRPr lang="en-US" sz="13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never leave the drive — everything is processed locally.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5" name="Shape 13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6" name="Shape 14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7" name="Shape 15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8" name="Shape 16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9" name="Shape 17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the program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44752"/>
            <a:ext cx="475488" cy="47548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447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399032"/>
            <a:ext cx="5650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in the drive
</a:t>
            </a:r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BitLocker password when Windows asks.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450592"/>
            <a:ext cx="475488" cy="47548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4505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404872"/>
            <a:ext cx="5650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Double-click  "Start PQ Reports.bat"
</a:t>
            </a:r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root of the drive. A console window opens and stays open.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3456432"/>
            <a:ext cx="475488" cy="47548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410712"/>
            <a:ext cx="5650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the browser
</a:t>
            </a:r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selection page opens itself at localhost:5750 when everything is ready.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4462272"/>
            <a:ext cx="475488" cy="47548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462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4416552"/>
            <a:ext cx="5650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report type
</a:t>
            </a:r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"i-STAT — Point of Care" or "ABL — Blood Gas" from the drop-down and click Open. Green dots = engine ready.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196328" y="1389888"/>
            <a:ext cx="4489704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</p:sp>
      <p:pic>
        <p:nvPicPr>
          <p:cNvPr id="16" name="Image 0" descr="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463040"/>
            <a:ext cx="4343400" cy="3054096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196328" y="4626864"/>
            <a:ext cx="4489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selection page — both engines show a green dot when ready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269480" y="489204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run both report types in one session — finish one, then use the browser Back button or reopen localhost:5750.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0" name="Shape 17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1" name="Shape 18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2" name="Shape 19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3" name="Shape 20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4" name="Shape 21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the history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784080" y="384048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1485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784080" y="3840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581912"/>
            <a:ext cx="475488" cy="47548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581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536192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history password
</a:t>
            </a:r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i-STAT app opens on this screen every launch. Type the team’s history password and press Unlock (or Enter).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2770632"/>
            <a:ext cx="475488" cy="47548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70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724912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password?
</a:t>
            </a:r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get a clear message and can try again. Every attempt is recorded in the audit log.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6035040" cy="1554480"/>
          </a:xfrm>
          <a:prstGeom prst="roundRect">
            <a:avLst>
              <a:gd name="adj" fmla="val 7059"/>
            </a:avLst>
          </a:prstGeom>
          <a:solidFill>
            <a:srgbClr val="FDF0E4"/>
          </a:solidFill>
          <a:ln w="19050">
            <a:solidFill>
              <a:srgbClr val="B4540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160520"/>
            <a:ext cx="5486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4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Forgotten password?  </a:t>
            </a:r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recovery — by design. The history must be reset and rebuilt from the retained monthly exports. Contact the PoC lead before touching anything.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242048" y="1481328"/>
            <a:ext cx="4443984" cy="3163824"/>
          </a:xfrm>
          <a:prstGeom prst="roundRect">
            <a:avLst>
              <a:gd name="adj" fmla="val 2312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</p:sp>
      <p:pic>
        <p:nvPicPr>
          <p:cNvPr id="14" name="Image 0" descr="locksc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554480"/>
            <a:ext cx="4297680" cy="30175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242048" y="4681728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cannot be generated until unlocked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7" name="Shape 14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8" name="Shape 15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9" name="Shape 16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0" name="Shape 17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1" name="Shape 18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export and set the period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784080" y="384048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1485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784080" y="3840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581912"/>
            <a:ext cx="475488" cy="47548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581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536192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monthly export onto Step 1
</a:t>
            </a:r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"iSTAT Report YYYYMM.xlsx" from the "Monthly reports" folder onto the drop zone (or click it to browse).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2770632"/>
            <a:ext cx="475488" cy="47548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70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724912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report period
</a:t>
            </a:r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and year fill in automatically from the filename — correct them if needed.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959352"/>
            <a:ext cx="475488" cy="47548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9593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3913632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"Load Hospitals"
</a:t>
            </a:r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reads the file and lists every hospital found, grouped by HHS.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12064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file is not a valid i-STAT export, the app refuses it with a clear message — it will never silently produce empty reports.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242048" y="1481328"/>
            <a:ext cx="4443984" cy="3502152"/>
          </a:xfrm>
          <a:prstGeom prst="roundRect">
            <a:avLst>
              <a:gd name="adj" fmla="val 2089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</p:sp>
      <p:pic>
        <p:nvPicPr>
          <p:cNvPr id="16" name="Image 0" descr="istat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554480"/>
            <a:ext cx="4297680" cy="335584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242048" y="5020056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drop zone · Step 2: report period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9" name="Shape 16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0" name="Shape 17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1" name="Shape 18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2" name="Shape 19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3" name="Shape 20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hospitals and generate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784080" y="384048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1485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784080" y="3840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581912"/>
            <a:ext cx="475488" cy="47548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581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536192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the hospitals you need
</a:t>
            </a:r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"Select All", or tick whole HHS groups / individual hospitals. The summary shows the count.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2770632"/>
            <a:ext cx="475488" cy="47548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70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724912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"Generate Reports"
</a:t>
            </a:r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progress bar shows each hospital as it is processed.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959352"/>
            <a:ext cx="475488" cy="47548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9593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3913632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reports folder
</a:t>
            </a:r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"Reports Ready" appears, click the button — reports are filed by HHS.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315200" y="1554480"/>
            <a:ext cx="4297680" cy="932688"/>
          </a:xfrm>
          <a:prstGeom prst="roundRect">
            <a:avLst>
              <a:gd name="adj" fmla="val 9804"/>
            </a:avLst>
          </a:prstGeom>
          <a:solidFill>
            <a:srgbClr val="E5F2F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43800" y="16459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location
</a:t>
            </a:r>
            <a:pPr indent="0" marL="0">
              <a:buNone/>
            </a:pPr>
            <a:r>
              <a:rPr lang="en-US" sz="11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Reports\iSTAT\&lt;YYYY-MM Month&gt;\&lt;HHS&gt;\i-STAT_&lt;Hospital&gt;_&lt;Month&gt;.docx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15200" y="2615184"/>
            <a:ext cx="4297680" cy="932688"/>
          </a:xfrm>
          <a:prstGeom prst="roundRect">
            <a:avLst>
              <a:gd name="adj" fmla="val 9804"/>
            </a:avLst>
          </a:prstGeom>
          <a:solidFill>
            <a:srgbClr val="E5F2F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43800" y="2706624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sites
</a:t>
            </a:r>
            <a:pPr indent="0" marL="0">
              <a:buNone/>
            </a:pPr>
            <a:r>
              <a:rPr lang="en-US" sz="11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Townsville, Mt Isa, Mackay and Redcliffe generate one report per device automatically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315200" y="3675888"/>
            <a:ext cx="4297680" cy="932688"/>
          </a:xfrm>
          <a:prstGeom prst="roundRect">
            <a:avLst>
              <a:gd name="adj" fmla="val 9804"/>
            </a:avLst>
          </a:prstGeom>
          <a:solidFill>
            <a:srgbClr val="E5F2F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43800" y="376732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a month
</a:t>
            </a:r>
            <a:pPr indent="0" marL="0">
              <a:buNone/>
            </a:pPr>
            <a:r>
              <a:rPr lang="en-US" sz="11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the same month again any time — its data is simply replaced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315200" y="4736592"/>
            <a:ext cx="4297680" cy="932688"/>
          </a:xfrm>
          <a:prstGeom prst="roundRect">
            <a:avLst>
              <a:gd name="adj" fmla="val 9804"/>
            </a:avLst>
          </a:prstGeom>
          <a:solidFill>
            <a:srgbClr val="E5F2F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43800" y="4828032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&amp; follow-up
</a:t>
            </a:r>
            <a:pPr indent="0" marL="0">
              <a:buNone/>
            </a:pPr>
            <a:r>
              <a:rPr lang="en-US" sz="11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and recurring-operator flags update themselves each run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3" name="Shape 21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4" name="Shape 22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5" name="Shape 23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6" name="Shape 24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the reports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784080" y="384048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1B5A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784080" y="3840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581912"/>
            <a:ext cx="475488" cy="47548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581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536192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ABL operator error export
</a:t>
            </a:r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monthly Radiometer ABL export (.xlsx). No password needed for the ABL app.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2770632"/>
            <a:ext cx="475488" cy="47548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70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724912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report month and year
</a:t>
            </a:r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Auto-detected from the filename where possible.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959352"/>
            <a:ext cx="475488" cy="47548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9593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3913632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"Load Analyzers"
</a:t>
            </a:r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Hospital → Department appears with its analysers listed — tick the reports you want.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5148072"/>
            <a:ext cx="475488" cy="475488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5148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5102352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"Generate Reports"
</a:t>
            </a:r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bar, then "Reports Ready" and the open-folder button, exactly like i-STAT.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242048" y="1481328"/>
            <a:ext cx="4443984" cy="3502152"/>
          </a:xfrm>
          <a:prstGeom prst="roundRect">
            <a:avLst>
              <a:gd name="adj" fmla="val 2089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</p:sp>
      <p:pic>
        <p:nvPicPr>
          <p:cNvPr id="18" name="Image 0" descr="abl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554480"/>
            <a:ext cx="4297680" cy="335584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242048" y="5020056"/>
            <a:ext cx="4443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ABL app — same look, department-based selection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1" name="Shape 1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2" name="Shape 1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3" name="Shape 2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4" name="Shape 2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5" name="Shape 2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and things to know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784080" y="384048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1B5A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784080" y="3840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86400" cy="2103120"/>
          </a:xfrm>
          <a:prstGeom prst="roundRect">
            <a:avLst>
              <a:gd name="adj" fmla="val 5217"/>
            </a:avLst>
          </a:prstGeom>
          <a:solidFill>
            <a:srgbClr val="E5F2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6420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reports land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4884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Reports\ABL\&lt;YYYY-MM Month&gt;\&lt;Hospital&gt;\ABL_&lt;Department&gt;_&lt;Month&gt;.docx — one Word report per department, on PQ letterhead.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1463040"/>
            <a:ext cx="5486400" cy="2103120"/>
          </a:xfrm>
          <a:prstGeom prst="roundRect">
            <a:avLst>
              <a:gd name="adj" fmla="val 5217"/>
            </a:avLst>
          </a:prstGeom>
          <a:solidFill>
            <a:srgbClr val="FDF0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6520" y="166420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rules (fixed)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14884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operator is flagged ⚠ with MORE than 10 tests (11+) AND an error rate over 10% in the month. 10 tests or fewer = "not assessed", never flagged.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749040"/>
            <a:ext cx="5486400" cy="2103120"/>
          </a:xfrm>
          <a:prstGeom prst="roundRect">
            <a:avLst>
              <a:gd name="adj" fmla="val 5217"/>
            </a:avLst>
          </a:prstGeom>
          <a:solidFill>
            <a:srgbClr val="E5F2F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95020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a month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43484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the same month again any time — that month’s data is simply replaced, and the trend charts stay correct.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3749040"/>
            <a:ext cx="5486400" cy="2103120"/>
          </a:xfrm>
          <a:prstGeom prst="roundRect">
            <a:avLst>
              <a:gd name="adj" fmla="val 5217"/>
            </a:avLst>
          </a:prstGeom>
          <a:solidFill>
            <a:srgbClr val="E5F2F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46520" y="395020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charts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443484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Per-analyser history builds month by month automatically; a repeated top error is flagged in red.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8" name="Shape 16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9" name="Shape 17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0" name="Shape 18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1" name="Shape 19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report contains (1 of 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784080" y="384048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1485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784080" y="3840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420624" cy="420624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325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1271016"/>
            <a:ext cx="5029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Snapshot
</a:t>
            </a:r>
            <a:pPr indent="0" marL="0">
              <a:buNone/>
            </a:pPr>
            <a:r>
              <a:rPr lang="en-US" sz="11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 in one block: overall rate, errors vs cartridges, top error, flagged staff.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0" y="1280160"/>
            <a:ext cx="521208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5875">
            <a:solidFill>
              <a:srgbClr val="E2E8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1408176"/>
            <a:ext cx="47548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 4.5%</a:t>
            </a:r>
            <a:pPr indent="0" marL="0">
              <a:buNone/>
            </a:pPr>
            <a:r>
              <a:rPr lang="en-US" sz="10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(12 errors / 266 cartridges)
</a:t>
            </a:r>
            <a:pPr indent="0" marL="0">
              <a:buNone/>
            </a:pPr>
            <a:r>
              <a:rPr lang="en-US" sz="10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error: P3 Cartridge Handling  ·  Staff flagged: 2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295144"/>
            <a:ext cx="420624" cy="420624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951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" y="2240280"/>
            <a:ext cx="5029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Performance
</a:t>
            </a:r>
            <a:pPr indent="0" marL="0">
              <a:buNone/>
            </a:pPr>
            <a:r>
              <a:rPr lang="en-US" sz="11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charts per device: the error-rate trend over the colour bands, and the Cartridges Run &amp; Error Mix chart (next slide).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0" y="2249424"/>
            <a:ext cx="521208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5875">
            <a:solidFill>
              <a:srgbClr val="E2E8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01968" y="2359152"/>
            <a:ext cx="3840480" cy="155448"/>
          </a:xfrm>
          <a:prstGeom prst="rect">
            <a:avLst/>
          </a:prstGeom>
          <a:solidFill>
            <a:srgbClr val="C00000">
              <a:alpha val="3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601968" y="2514600"/>
            <a:ext cx="3840480" cy="155448"/>
          </a:xfrm>
          <a:prstGeom prst="rect">
            <a:avLst/>
          </a:prstGeom>
          <a:solidFill>
            <a:srgbClr val="D96800">
              <a:alpha val="3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601968" y="2670048"/>
            <a:ext cx="3840480" cy="155448"/>
          </a:xfrm>
          <a:prstGeom prst="rect">
            <a:avLst/>
          </a:prstGeom>
          <a:solidFill>
            <a:srgbClr val="2F5496">
              <a:alpha val="3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601968" y="2825496"/>
            <a:ext cx="3840480" cy="155448"/>
          </a:xfrm>
          <a:prstGeom prst="rect">
            <a:avLst/>
          </a:prstGeom>
          <a:solidFill>
            <a:srgbClr val="538135">
              <a:alpha val="3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059168" y="2468880"/>
            <a:ext cx="118872" cy="118872"/>
          </a:xfrm>
          <a:prstGeom prst="ellipse">
            <a:avLst/>
          </a:prstGeom>
          <a:solidFill>
            <a:srgbClr val="0148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90688" y="2578608"/>
            <a:ext cx="118872" cy="118872"/>
          </a:xfrm>
          <a:prstGeom prst="ellipse">
            <a:avLst/>
          </a:prstGeom>
          <a:solidFill>
            <a:srgbClr val="0148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22208" y="2542032"/>
            <a:ext cx="118872" cy="118872"/>
          </a:xfrm>
          <a:prstGeom prst="ellipse">
            <a:avLst/>
          </a:prstGeom>
          <a:solidFill>
            <a:srgbClr val="0148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53728" y="2724912"/>
            <a:ext cx="118872" cy="118872"/>
          </a:xfrm>
          <a:prstGeom prst="ellipse">
            <a:avLst/>
          </a:prstGeom>
          <a:solidFill>
            <a:srgbClr val="0148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985248" y="2825496"/>
            <a:ext cx="118872" cy="118872"/>
          </a:xfrm>
          <a:prstGeom prst="ellipse">
            <a:avLst/>
          </a:prstGeom>
          <a:solidFill>
            <a:srgbClr val="0148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469880" y="25420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38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↓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264408"/>
            <a:ext cx="420624" cy="420624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33856" y="3209544"/>
            <a:ext cx="5029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Summary
</a:t>
            </a:r>
            <a:pPr indent="0" marL="0">
              <a:buNone/>
            </a:pPr>
            <a:r>
              <a:rPr lang="en-US" sz="11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Device-by-device: cartridges, errors and rate, banded Champions → Needs attention.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0" y="3218688"/>
            <a:ext cx="521208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5875">
            <a:solidFill>
              <a:srgbClr val="E2E8E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9400" y="33101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 1;9001    80 carts    4 errors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0195560" y="3310128"/>
            <a:ext cx="960120" cy="274320"/>
          </a:xfrm>
          <a:prstGeom prst="roundRect">
            <a:avLst>
              <a:gd name="adj" fmla="val 26667"/>
            </a:avLst>
          </a:prstGeom>
          <a:solidFill>
            <a:srgbClr val="2F549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195560" y="331012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5.0% Excellent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629400" y="36758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 1;9002    74 carts    5 errors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0195560" y="3675888"/>
            <a:ext cx="960120" cy="274320"/>
          </a:xfrm>
          <a:prstGeom prst="roundRect">
            <a:avLst>
              <a:gd name="adj" fmla="val 26667"/>
            </a:avLst>
          </a:prstGeom>
          <a:solidFill>
            <a:srgbClr val="D968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0195560" y="367588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6.8% Accept.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4233672"/>
            <a:ext cx="420624" cy="420624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4233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133856" y="4178808"/>
            <a:ext cx="5029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Simulators Run
</a:t>
            </a:r>
            <a:pPr indent="0" marL="0">
              <a:buNone/>
            </a:pPr>
            <a:r>
              <a:rPr lang="en-US" sz="11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QC (simulator) checks recorded on each device during the month.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0" y="4187952"/>
            <a:ext cx="521208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5875">
            <a:solidFill>
              <a:srgbClr val="E2E8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29400" y="4187952"/>
            <a:ext cx="47548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EQC checks:   </a:t>
            </a:r>
            <a:pPr indent="0" marL="0">
              <a:buNone/>
            </a:pPr>
            <a:r>
              <a:rPr lang="en-US" sz="11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9001 — 8 ✓      9002 — 6 ✓      9003 — 7 ✓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202936"/>
            <a:ext cx="420624" cy="420624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5202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133856" y="5148072"/>
            <a:ext cx="5029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Ceramic Cleaning
</a:t>
            </a:r>
            <a:pPr indent="0" marL="0">
              <a:buNone/>
            </a:pPr>
            <a:r>
              <a:rPr lang="en-US" sz="11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analyser listed with its cleaning-cartridge count. Every i-STAT needs 3 per month; any shortfall fails the department.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400800" y="5157216"/>
            <a:ext cx="521208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5875">
            <a:solidFill>
              <a:srgbClr val="E2E8E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629400" y="5404104"/>
            <a:ext cx="1554480" cy="365760"/>
          </a:xfrm>
          <a:prstGeom prst="roundRect">
            <a:avLst>
              <a:gd name="adj" fmla="val 25000"/>
            </a:avLst>
          </a:prstGeom>
          <a:solidFill>
            <a:srgbClr val="53813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629400" y="540410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✓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366760" y="54041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listed per analyser; any analyser under 3 shows a red Fail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6400800" y="616305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shown with fictional data — layouts match the real Word report.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48" name="Shape 46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49" name="Shape 47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50" name="Shape 48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51" name="Shape 49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52" name="Shape 50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Cartridges Run &amp; Error Mix chart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784080" y="384048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1485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784080" y="3840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12648" y="1344168"/>
            <a:ext cx="8695944" cy="4123944"/>
          </a:xfrm>
          <a:prstGeom prst="roundRect">
            <a:avLst>
              <a:gd name="adj" fmla="val 177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</p:sp>
      <p:pic>
        <p:nvPicPr>
          <p:cNvPr id="6" name="Image 0" descr="volume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8549640" cy="3977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12648" y="5504688"/>
            <a:ext cx="8695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render (device serial only — no staff data). Every device gets one of these.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464040" y="1417320"/>
            <a:ext cx="2194560" cy="969264"/>
          </a:xfrm>
          <a:prstGeom prst="roundRect">
            <a:avLst>
              <a:gd name="adj" fmla="val 9434"/>
            </a:avLst>
          </a:prstGeom>
          <a:solidFill>
            <a:srgbClr val="E5F2F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0" y="1490472"/>
            <a:ext cx="19202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line
</a:t>
            </a:r>
            <a:pPr indent="0" marL="0">
              <a:buNone/>
            </a:pPr>
            <a:r>
              <a:rPr lang="en-US" sz="9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Cartridges run each month — the device’s workload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464040" y="2496312"/>
            <a:ext cx="2194560" cy="969264"/>
          </a:xfrm>
          <a:prstGeom prst="roundRect">
            <a:avLst>
              <a:gd name="adj" fmla="val 9434"/>
            </a:avLst>
          </a:prstGeom>
          <a:solidFill>
            <a:srgbClr val="E5F2F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601200" y="2569464"/>
            <a:ext cx="19202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Coloured bars
</a:t>
            </a:r>
            <a:pPr indent="0" marL="0">
              <a:buNone/>
            </a:pPr>
            <a:r>
              <a:rPr lang="en-US" sz="9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month’s errors as % of cartridges, split by error category — same colours as the legend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464040" y="3575304"/>
            <a:ext cx="2194560" cy="969264"/>
          </a:xfrm>
          <a:prstGeom prst="roundRect">
            <a:avLst>
              <a:gd name="adj" fmla="val 9434"/>
            </a:avLst>
          </a:prstGeom>
          <a:solidFill>
            <a:srgbClr val="E5F2F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0" y="3648456"/>
            <a:ext cx="19202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on top
</a:t>
            </a:r>
            <a:pPr indent="0" marL="0">
              <a:buNone/>
            </a:pPr>
            <a:r>
              <a:rPr lang="en-US" sz="9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month’s overall error rate sits above each stack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464040" y="4654296"/>
            <a:ext cx="2194560" cy="969264"/>
          </a:xfrm>
          <a:prstGeom prst="roundRect">
            <a:avLst>
              <a:gd name="adj" fmla="val 9434"/>
            </a:avLst>
          </a:prstGeom>
          <a:solidFill>
            <a:srgbClr val="E5F2F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601200" y="4727448"/>
            <a:ext cx="19202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itself
</a:t>
            </a:r>
            <a:pPr indent="0" marL="0">
              <a:buNone/>
            </a:pPr>
            <a:r>
              <a:rPr lang="en-US" sz="9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month is added every time you generate — history back to Sep 2025 is already included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two together: a rising error line with one colour dominating the bars tells you exactly what to fix — and whether workload explains it.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8" name="Shape 15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9" name="Shape 16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1" name="Shape 18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2" name="Shape 19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report contains (2 of 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784080" y="384048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1485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784080" y="3840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420624" cy="420624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325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1271016"/>
            <a:ext cx="5029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Error Details
</a:t>
            </a:r>
            <a:pPr indent="0" marL="0">
              <a:buNone/>
            </a:pPr>
            <a:r>
              <a:rPr lang="en-US" sz="11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error event with location, staff member, category and code. 3+ errors shows in red; a clean month prints "No errors ✓".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0" y="1280160"/>
            <a:ext cx="521208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5875">
            <a:solidFill>
              <a:srgbClr val="E2E8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1399032"/>
            <a:ext cx="4754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Brightwater ICU   </a:t>
            </a:r>
            <a:pPr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Hollybrook, Hayden   </a:t>
            </a:r>
            <a:pPr indent="0" marL="0">
              <a:buNone/>
            </a:pPr>
            <a:r>
              <a:rPr lang="en-US" sz="10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— Cartridge Handling   ×3
</a:t>
            </a:r>
            <a:pPr indent="0" marL="0">
              <a:buNone/>
            </a:pPr>
            <a:r>
              <a:rPr lang="en-US" sz="10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Brightwater ED     </a:t>
            </a:r>
            <a:pPr indent="0" marL="0">
              <a:buNone/>
            </a:pPr>
            <a:r>
              <a:rPr lang="en-US" sz="10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Tarwin, Morgan       </a:t>
            </a:r>
            <a:pPr indent="0" marL="0">
              <a:buNone/>
            </a:pPr>
            <a:r>
              <a:rPr lang="en-US" sz="10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 — Underfilled Cartridge   ×1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295144"/>
            <a:ext cx="420624" cy="420624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951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" y="2240280"/>
            <a:ext cx="5029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Type Summary
</a:t>
            </a:r>
            <a:pPr indent="0" marL="0">
              <a:buNone/>
            </a:pPr>
            <a:r>
              <a:rPr lang="en-US" sz="11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month’s top error types with likely cause and count — where errors come from.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0" y="2249424"/>
            <a:ext cx="521208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5875">
            <a:solidFill>
              <a:srgbClr val="E2E8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29400" y="233172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78040" y="2368296"/>
            <a:ext cx="2194560" cy="164592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427464" y="233172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258775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78040" y="2624328"/>
            <a:ext cx="1463040" cy="164592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95944" y="25877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284378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178040" y="2880360"/>
            <a:ext cx="731520" cy="164592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964424" y="28437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0" y="2313432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Handling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Underfilled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3264408"/>
            <a:ext cx="420624" cy="420624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33856" y="3209544"/>
            <a:ext cx="5029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Error Code Analysis
</a:t>
            </a:r>
            <a:pPr indent="0" marL="0">
              <a:buNone/>
            </a:pPr>
            <a:r>
              <a:rPr lang="en-US" sz="11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Plain-English explanation of each top code — the device message and its usual cause.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0" y="3218688"/>
            <a:ext cx="521208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5875">
            <a:solidFill>
              <a:srgbClr val="E2E8E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9400" y="3328416"/>
            <a:ext cx="4754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— Cartridge Handling  (6 occurrences)
</a:t>
            </a:r>
            <a:pPr indent="0" marL="0">
              <a:buNone/>
            </a:pPr>
            <a:r>
              <a:rPr lang="en-US" sz="10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"Usually caused by pressing on the cartridge after insertion, or moving the analyser mid-test..."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233672"/>
            <a:ext cx="420624" cy="420624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4233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33856" y="4178808"/>
            <a:ext cx="5029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Type Trend
</a:t>
            </a:r>
            <a:pPr indent="0" marL="0">
              <a:buNone/>
            </a:pPr>
            <a:r>
              <a:rPr lang="en-US" sz="11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Month-by-month top error type — the same code two months running is flagged ⚠.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0" y="4187952"/>
            <a:ext cx="521208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5875">
            <a:solidFill>
              <a:srgbClr val="E2E8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29400" y="4187952"/>
            <a:ext cx="47548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July: P6      August: P3      September: P3  </a:t>
            </a:r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repeated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5202936"/>
            <a:ext cx="420624" cy="420624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202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133856" y="5148072"/>
            <a:ext cx="5029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Requiring Follow-up
</a:t>
            </a:r>
            <a:pPr indent="0" marL="0">
              <a:buNone/>
            </a:pPr>
            <a:r>
              <a:rPr lang="en-US" sz="11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section: "This Month" (3+ errors) and "Recurring" (consecutive months at this site).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0" y="5157216"/>
            <a:ext cx="521208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5875">
            <a:solidFill>
              <a:srgbClr val="E2E8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29400" y="5285232"/>
            <a:ext cx="35661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Hollybrook, Hayden     5 errors     18.5%
</a:t>
            </a:r>
            <a:pPr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Quambone, Reese       3 errors     75.0%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287000" y="5431536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= act on it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400800" y="616305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shown with fictional data — layouts match the real Word report.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42" name="Shape 40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43" name="Shape 41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44" name="Shape 42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45" name="Shape 43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46" name="Shape 44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report contains (1 of 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784080" y="384048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1B5A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784080" y="3840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399032"/>
            <a:ext cx="420624" cy="420624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399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1344168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Snapshot
</a:t>
            </a:r>
            <a:pPr indent="0" marL="0">
              <a:buNone/>
            </a:pPr>
            <a:r>
              <a:rPr lang="en-US" sz="11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department at a glance: error rate, analysers covered, top error code, operators with errors and any flags raised.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0" y="1353312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875">
            <a:solidFill>
              <a:srgbClr val="E2E8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16276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error rate 3.6%
</a:t>
            </a:r>
            <a:pPr indent="0" marL="0">
              <a:buNone/>
            </a:pPr>
            <a:r>
              <a:rPr lang="en-US" sz="10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analysers  ·  Top error: 353  ·  14 operators with errors  ·  1 flagged ⚠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420624" cy="420624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" y="2825496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Performance
</a:t>
            </a:r>
            <a:pPr indent="0" marL="0">
              <a:buNone/>
            </a:pPr>
            <a:r>
              <a:rPr lang="en-US" sz="11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charts per analyser, building monthly: the error-rate trend, and the Tests Run &amp; Error Mix chart (next slide).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875">
            <a:solidFill>
              <a:srgbClr val="E2E8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95160" y="3218688"/>
            <a:ext cx="109728" cy="109728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15" name="Shape 13"/>
          <p:cNvSpPr/>
          <p:nvPr/>
        </p:nvSpPr>
        <p:spPr>
          <a:xfrm>
            <a:off x="7680960" y="3108960"/>
            <a:ext cx="109728" cy="109728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16" name="Shape 14"/>
          <p:cNvSpPr/>
          <p:nvPr/>
        </p:nvSpPr>
        <p:spPr>
          <a:xfrm>
            <a:off x="8366760" y="3255264"/>
            <a:ext cx="109728" cy="109728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17" name="Shape 15"/>
          <p:cNvSpPr/>
          <p:nvPr/>
        </p:nvSpPr>
        <p:spPr>
          <a:xfrm>
            <a:off x="9052560" y="3145536"/>
            <a:ext cx="109728" cy="109728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18" name="Shape 16"/>
          <p:cNvSpPr/>
          <p:nvPr/>
        </p:nvSpPr>
        <p:spPr>
          <a:xfrm>
            <a:off x="9738360" y="3054096"/>
            <a:ext cx="109728" cy="109728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19" name="Shape 17"/>
          <p:cNvSpPr/>
          <p:nvPr/>
        </p:nvSpPr>
        <p:spPr>
          <a:xfrm>
            <a:off x="6629400" y="3401568"/>
            <a:ext cx="3566160" cy="0"/>
          </a:xfrm>
          <a:prstGeom prst="line">
            <a:avLst/>
          </a:prstGeom>
          <a:noFill/>
          <a:ln w="12700">
            <a:solidFill>
              <a:srgbClr val="E2E8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49440" y="3694176"/>
            <a:ext cx="256032" cy="256032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1" name="Shape 19"/>
          <p:cNvSpPr/>
          <p:nvPr/>
        </p:nvSpPr>
        <p:spPr>
          <a:xfrm>
            <a:off x="6949440" y="3566160"/>
            <a:ext cx="256032" cy="128016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2" name="Shape 20"/>
          <p:cNvSpPr/>
          <p:nvPr/>
        </p:nvSpPr>
        <p:spPr>
          <a:xfrm>
            <a:off x="7635240" y="3767328"/>
            <a:ext cx="256032" cy="182880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3" name="Shape 21"/>
          <p:cNvSpPr/>
          <p:nvPr/>
        </p:nvSpPr>
        <p:spPr>
          <a:xfrm>
            <a:off x="7635240" y="3694176"/>
            <a:ext cx="256032" cy="73152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4" name="Shape 22"/>
          <p:cNvSpPr/>
          <p:nvPr/>
        </p:nvSpPr>
        <p:spPr>
          <a:xfrm>
            <a:off x="8321040" y="3675888"/>
            <a:ext cx="256032" cy="274320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5" name="Shape 23"/>
          <p:cNvSpPr/>
          <p:nvPr/>
        </p:nvSpPr>
        <p:spPr>
          <a:xfrm>
            <a:off x="8321040" y="3511296"/>
            <a:ext cx="256032" cy="164592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6" name="Shape 24"/>
          <p:cNvSpPr/>
          <p:nvPr/>
        </p:nvSpPr>
        <p:spPr>
          <a:xfrm>
            <a:off x="9006840" y="3749040"/>
            <a:ext cx="256032" cy="20116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7" name="Shape 25"/>
          <p:cNvSpPr/>
          <p:nvPr/>
        </p:nvSpPr>
        <p:spPr>
          <a:xfrm>
            <a:off x="9006840" y="3694176"/>
            <a:ext cx="256032" cy="54864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6"/>
          <p:cNvSpPr/>
          <p:nvPr/>
        </p:nvSpPr>
        <p:spPr>
          <a:xfrm>
            <a:off x="9692640" y="3803904"/>
            <a:ext cx="256032" cy="146304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9" name="Shape 27"/>
          <p:cNvSpPr/>
          <p:nvPr/>
        </p:nvSpPr>
        <p:spPr>
          <a:xfrm>
            <a:off x="9692640" y="3712464"/>
            <a:ext cx="256032" cy="91440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378440" y="31089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 ↑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+ error types ↓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4361688"/>
            <a:ext cx="420624" cy="420624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133856" y="4306824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Analyzer Performance
</a:t>
            </a:r>
            <a:pPr indent="0" marL="0">
              <a:buNone/>
            </a:pPr>
            <a:r>
              <a:rPr lang="en-US" sz="11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analyser: total tests run, total errors and the analyser’s error % for the month.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0" y="4315968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875">
            <a:solidFill>
              <a:srgbClr val="E2E8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629400" y="4480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ABL800 FLEX — ED       1,240 tests     38 errors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378440" y="4480560"/>
            <a:ext cx="960120" cy="274320"/>
          </a:xfrm>
          <a:prstGeom prst="roundRect">
            <a:avLst>
              <a:gd name="adj" fmla="val 26667"/>
            </a:avLst>
          </a:prstGeom>
          <a:solidFill>
            <a:srgbClr val="01485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0378440" y="448056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3.1%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629400" y="4864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ABL800 FLEX — ICU        985 tests     52 errors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0378440" y="4864608"/>
            <a:ext cx="960120" cy="274320"/>
          </a:xfrm>
          <a:prstGeom prst="roundRect">
            <a:avLst>
              <a:gd name="adj" fmla="val 26667"/>
            </a:avLst>
          </a:prstGeom>
          <a:solidFill>
            <a:srgbClr val="D968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0378440" y="486460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5.3%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6629400" y="52486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ABL90 — Theatre           412 tests       9 errors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378440" y="5248656"/>
            <a:ext cx="960120" cy="274320"/>
          </a:xfrm>
          <a:prstGeom prst="roundRect">
            <a:avLst>
              <a:gd name="adj" fmla="val 26667"/>
            </a:avLst>
          </a:prstGeom>
          <a:solidFill>
            <a:srgbClr val="01485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0378440" y="524865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2.2%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0" y="576986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shown with fictional data — layouts match the real Word report.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46" name="Shape 44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47" name="Shape 45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48" name="Shape 46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49" name="Shape 47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50" name="Shape 48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Tests Run &amp; Error Mix chart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784080" y="384048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1B5A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784080" y="3840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12648" y="1344168"/>
            <a:ext cx="8695944" cy="4123944"/>
          </a:xfrm>
          <a:prstGeom prst="roundRect">
            <a:avLst>
              <a:gd name="adj" fmla="val 177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</p:sp>
      <p:pic>
        <p:nvPicPr>
          <p:cNvPr id="6" name="Image 0" descr="abl_volume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8549640" cy="3977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12648" y="5504688"/>
            <a:ext cx="8695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render (analyser ID only — no staff data). Every analyser gets one of these.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464040" y="1417320"/>
            <a:ext cx="2194560" cy="969264"/>
          </a:xfrm>
          <a:prstGeom prst="roundRect">
            <a:avLst>
              <a:gd name="adj" fmla="val 9434"/>
            </a:avLst>
          </a:prstGeom>
          <a:solidFill>
            <a:srgbClr val="E5F2F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0" y="1490472"/>
            <a:ext cx="19202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line
</a:t>
            </a:r>
            <a:pPr indent="0" marL="0">
              <a:buNone/>
            </a:pPr>
            <a:r>
              <a:rPr lang="en-US" sz="9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 each month — the analyser’s workload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464040" y="2496312"/>
            <a:ext cx="2194560" cy="969264"/>
          </a:xfrm>
          <a:prstGeom prst="roundRect">
            <a:avLst>
              <a:gd name="adj" fmla="val 9434"/>
            </a:avLst>
          </a:prstGeom>
          <a:solidFill>
            <a:srgbClr val="E5F2F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601200" y="2569464"/>
            <a:ext cx="19202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Coloured bars
</a:t>
            </a:r>
            <a:pPr indent="0" marL="0">
              <a:buNone/>
            </a:pPr>
            <a:r>
              <a:rPr lang="en-US" sz="9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month’s errors as % of tests, split by ABL error code — each code named in the legend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464040" y="3575304"/>
            <a:ext cx="2194560" cy="969264"/>
          </a:xfrm>
          <a:prstGeom prst="roundRect">
            <a:avLst>
              <a:gd name="adj" fmla="val 9434"/>
            </a:avLst>
          </a:prstGeom>
          <a:solidFill>
            <a:srgbClr val="E5F2F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0" y="3648456"/>
            <a:ext cx="19202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on top
</a:t>
            </a:r>
            <a:pPr indent="0" marL="0">
              <a:buNone/>
            </a:pPr>
            <a:r>
              <a:rPr lang="en-US" sz="9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month’s overall error rate sits above each stack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464040" y="4654296"/>
            <a:ext cx="2194560" cy="969264"/>
          </a:xfrm>
          <a:prstGeom prst="roundRect">
            <a:avLst>
              <a:gd name="adj" fmla="val 9434"/>
            </a:avLst>
          </a:prstGeom>
          <a:solidFill>
            <a:srgbClr val="E5F2F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601200" y="4727448"/>
            <a:ext cx="19202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itself
</a:t>
            </a:r>
            <a:pPr indent="0" marL="0">
              <a:buNone/>
            </a:pPr>
            <a:r>
              <a:rPr lang="en-US" sz="9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month is added every time you generate — the chart grows automatically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reading as the i-STAT chart: a dominant colour in the bars names the problem — here, code 722 Sample Error is clearly the one to chase.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8" name="Shape 15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9" name="Shape 16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1" name="Shape 18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2" name="Shape 19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report contains (2 of 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784080" y="384048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1B5A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784080" y="3840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399032"/>
            <a:ext cx="420624" cy="420624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399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1344168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Error Details by Analyzer
</a:t>
            </a:r>
            <a:pPr indent="0" marL="0">
              <a:buNone/>
            </a:pPr>
            <a:r>
              <a:rPr lang="en-US" sz="11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operator on each analyser: tests run, a column per ABL error code (328–791) and their error %. ⚠ = flagged (more than 10 tests and over 10%); * = 10 tests or fewer, not assessed.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0" y="1353312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875">
            <a:solidFill>
              <a:srgbClr val="E2E8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146304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         Tests    353   368    Error %
</a:t>
            </a:r>
            <a:pPr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Farrow, Q.           42        3       1       11.9%  ⚠
</a:t>
            </a:r>
            <a:pPr indent="0" marL="0">
              <a:buNone/>
            </a:pPr>
            <a:r>
              <a:rPr lang="en-US" sz="10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Bracken, R.          61        1       0        1.6%
</a:t>
            </a:r>
            <a:pPr indent="0" marL="0">
              <a:buNone/>
            </a:pPr>
            <a:r>
              <a:rPr lang="en-US" sz="10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Elsmore, T.            6        1       0            *    not assessed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420624" cy="420624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" y="2825496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Type Summary
</a:t>
            </a:r>
            <a:pPr indent="0" marL="0">
              <a:buNone/>
            </a:pPr>
            <a:r>
              <a:rPr lang="en-US" sz="11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department-wide count of each ABL error code for the month — the department’s error fingerprint.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875">
            <a:solidFill>
              <a:srgbClr val="E2E8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29400" y="299923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78040" y="3035808"/>
            <a:ext cx="2286000" cy="164592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518904" y="29992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34670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78040" y="3383280"/>
            <a:ext cx="1371600" cy="164592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04504" y="33467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36941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178040" y="3730752"/>
            <a:ext cx="822960" cy="164592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55864" y="369417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195560" y="320040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code counts,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department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4361688"/>
            <a:ext cx="420624" cy="420624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33856" y="4306824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Requiring Review
</a:t>
            </a:r>
            <a:pPr indent="0" marL="0">
              <a:buNone/>
            </a:pPr>
            <a:r>
              <a:rPr lang="en-US" sz="11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12-month lookback: every operator flagged in two or more months, with rate, error types and the month of each flag — the list for competency review.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0" y="4315968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5875">
            <a:solidFill>
              <a:srgbClr val="E2E8E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9400" y="45720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Farrow, Q.    </a:t>
            </a:r>
            <a:pPr indent="0" marL="0">
              <a:buNone/>
            </a:pPr>
            <a:r>
              <a:rPr lang="en-US" sz="10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May (12.4%) and September (11.9%)
</a:t>
            </a:r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Nightly, C.    </a:t>
            </a:r>
            <a:pPr indent="0" marL="0">
              <a:buNone/>
            </a:pPr>
            <a:r>
              <a:rPr lang="en-US" sz="10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June (13.0%) and July (10.8%)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576986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shown with fictional data — layouts match the real Word report.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1" name="Shape 29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33" name="Shape 31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34" name="Shape 32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35" name="Shape 33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monthly routine, end to end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89888"/>
            <a:ext cx="457200" cy="457200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89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38988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this month’s two exports into "Monthly reports" on the drive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1847088"/>
            <a:ext cx="0" cy="256032"/>
          </a:xfrm>
          <a:prstGeom prst="line">
            <a:avLst/>
          </a:prstGeom>
          <a:noFill/>
          <a:ln w="19050">
            <a:solidFill>
              <a:srgbClr val="E2E8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121408"/>
            <a:ext cx="457200" cy="457200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12140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plug in → BitLocker password → Start PQ Reports.bat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77240" y="2578608"/>
            <a:ext cx="0" cy="256032"/>
          </a:xfrm>
          <a:prstGeom prst="line">
            <a:avLst/>
          </a:prstGeom>
          <a:noFill/>
          <a:ln w="19050">
            <a:solidFill>
              <a:srgbClr val="E2E8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5292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i-STAT: unlock history → drop export → Load Hospitals → Select All → Generate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77240" y="3310128"/>
            <a:ext cx="0" cy="256032"/>
          </a:xfrm>
          <a:prstGeom prst="line">
            <a:avLst/>
          </a:prstGeom>
          <a:noFill/>
          <a:ln w="19050">
            <a:solidFill>
              <a:srgbClr val="E2E8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584448"/>
            <a:ext cx="457200" cy="457200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58444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to the selection page → open ABL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777240" y="4041648"/>
            <a:ext cx="0" cy="256032"/>
          </a:xfrm>
          <a:prstGeom prst="line">
            <a:avLst/>
          </a:prstGeom>
          <a:noFill/>
          <a:ln w="19050">
            <a:solidFill>
              <a:srgbClr val="E2E8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315968"/>
            <a:ext cx="457200" cy="457200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315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31596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ABL: drop export → Load Analyzers → tick departments → Generate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777240" y="4773168"/>
            <a:ext cx="0" cy="256032"/>
          </a:xfrm>
          <a:prstGeom prst="line">
            <a:avLst/>
          </a:prstGeom>
          <a:noFill/>
          <a:ln w="19050">
            <a:solidFill>
              <a:srgbClr val="E2E8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5047488"/>
            <a:ext cx="457200" cy="457200"/>
          </a:xfrm>
          <a:prstGeom prst="ellipse">
            <a:avLst/>
          </a:prstGeom>
          <a:solidFill>
            <a:srgbClr val="7FC04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504748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Word reports, then distribute them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77240" y="5504688"/>
            <a:ext cx="0" cy="256032"/>
          </a:xfrm>
          <a:prstGeom prst="line">
            <a:avLst/>
          </a:prstGeom>
          <a:noFill/>
          <a:ln w="19050">
            <a:solidFill>
              <a:srgbClr val="E2E8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5779008"/>
            <a:ext cx="457200" cy="457200"/>
          </a:xfrm>
          <a:prstGeom prst="ellipse">
            <a:avLst/>
          </a:prstGeom>
          <a:solidFill>
            <a:srgbClr val="01485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5779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234440" y="577900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console window and safely eject the drive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1" name="Shape 29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33" name="Shape 31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34" name="Shape 32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35" name="Shape 33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looks wrong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7498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you see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 / what to 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 says "refused to connect"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engines are still starting (first launch can take ~30 s). Wait a moment and refresh — the launcher also opens the page itself when ready.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Console window closes instantly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That PC’s policy blocks USB programs (AppLocker). Use another machine or contact IT.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"History is locked" when generating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 the history password on the unlock screen first.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refuses the export 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file or changed layout — check you dropped the right monthly export. The app never guesses.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Errors listed after generation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named hospitals failed; the rest are fine. Note the message and re-run that hospital, or ask for support.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hospital is missing from the list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has no devices in this month’s export (or only retired ones, which are excluded automatically).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5" name="Shape 2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6" name="Shape 3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7" name="Shape 4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8" name="Shape 5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9" name="Shape 6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rgbClr val="01485C"/>
          </a:solidFill>
          <a:ln w="12700">
            <a:solidFill>
              <a:srgbClr val="11B5A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LAUNCHER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PQ Reports.bat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786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PAGE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localhost:5750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1129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 APP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76732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localhost:5757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44398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APP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70001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localhost:5758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70832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rgbClr val="01485C"/>
          </a:solidFill>
          <a:ln w="12700">
            <a:solidFill>
              <a:srgbClr val="11B5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45152" y="16459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 REPORTS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645152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Reports\iSTAT\&lt;YYYY-MM Month&gt;\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645152" y="25786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REPORTS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645152" y="28346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Reports\ABL\&lt;YYYY-MM Month&gt;\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645152" y="351129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 LIVE IN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645152" y="376732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reports\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645152" y="444398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GUIDE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645152" y="470001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PQ_Report_Generator_User_Guide.pptx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193024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rgbClr val="01485C"/>
          </a:solidFill>
          <a:ln w="12700">
            <a:solidFill>
              <a:srgbClr val="11B5A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67344" y="16459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467344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(drive) + history (i-STAT)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467344" y="25786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EVERYTHING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467344" y="28346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console window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467344" y="351129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DETAILS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467344" y="376732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SECURITY_README.md on the drive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467344" y="444398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467344" y="470001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PoC team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715000"/>
            <a:ext cx="23774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</p:spPr>
      </p:sp>
      <p:pic>
        <p:nvPicPr>
          <p:cNvPr id="31" name="Image 0" descr="cr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870448"/>
            <a:ext cx="1700784" cy="557784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3200400" y="59436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4" name="Shape 31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35" name="Shape 32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36" name="Shape 33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37" name="Shape 34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38" name="Shape 35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2026-09-04T01:56:42Z</dcterms:created>
  <dcterms:modified xsi:type="dcterms:W3CDTF">2026-09-04T01:56:42Z</dcterms:modified>
</cp:coreProperties>
</file>