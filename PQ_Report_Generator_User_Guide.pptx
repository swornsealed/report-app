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110642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passwords   </a:t>
            </a:r>
            <a:pPr indent="0" marL="0">
              <a:buNone/>
            </a:pPr>
            <a:r>
              <a:rPr lang="en-US" sz="1250" dirty="0">
                <a:solidFill>
                  <a:srgbClr val="17272E"/>
                </a:solidFill>
                <a:latin typeface="Calibri" pitchFamily="34" charset="0"/>
                <a:ea typeface="Calibri" pitchFamily="34" charset="-122"/>
                <a:cs typeface="Calibri" pitchFamily="34" charset="-120"/>
              </a:rPr>
              <a:t>Each app asks for its own at launch (i-STAT and ABL)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The ABL app asks for its history password first, like i-STAT.</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plus ABL_&lt;Hospital&gt;_Hospital_Summary_&lt;Month&gt;.docx per hospital.</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encrypted like i-STAT’s; 12-month charts with every error segment labelled;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188720"/>
            <a:ext cx="420624" cy="420624"/>
          </a:xfrm>
          <a:prstGeom prst="ellipse">
            <a:avLst/>
          </a:prstGeom>
          <a:solidFill>
            <a:srgbClr val="01485C"/>
          </a:solidFill>
          <a:ln/>
        </p:spPr>
        <p:txBody>
          <a:bodyPr/>
          <a:p/>
        </p:txBody>
      </p:sp>
      <p:sp>
        <p:nvSpPr>
          <p:cNvPr id="6" name="Text 4"/>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13385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143000"/>
            <a:ext cx="5212080" cy="859536"/>
          </a:xfrm>
          <a:prstGeom prst="roundRect">
            <a:avLst>
              <a:gd name="adj" fmla="val 8511"/>
            </a:avLst>
          </a:prstGeom>
          <a:solidFill>
            <a:srgbClr val="FFFFFF"/>
          </a:solidFill>
          <a:ln w="15875">
            <a:solidFill>
              <a:srgbClr val="E2E8EA"/>
            </a:solidFill>
            <a:prstDash val="solid"/>
          </a:ln>
        </p:spPr>
        <p:txBody>
          <a:bodyPr/>
          <a:p/>
        </p:txBody>
      </p:sp>
      <p:sp>
        <p:nvSpPr>
          <p:cNvPr id="9" name="Text 7"/>
          <p:cNvSpPr txBox="1"/>
          <p:nvPr/>
        </p:nvSpPr>
        <p:spPr>
          <a:xfrm>
            <a:off x="6629400" y="126187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011680"/>
            <a:ext cx="420624" cy="420624"/>
          </a:xfrm>
          <a:prstGeom prst="ellipse">
            <a:avLst/>
          </a:prstGeom>
          <a:solidFill>
            <a:srgbClr val="01485C"/>
          </a:solidFill>
          <a:ln/>
        </p:spPr>
        <p:txBody>
          <a:bodyPr/>
          <a:p/>
        </p:txBody>
      </p:sp>
      <p:sp>
        <p:nvSpPr>
          <p:cNvPr id="11" name="Text 9"/>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19568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1965960"/>
            <a:ext cx="5212080" cy="859536"/>
          </a:xfrm>
          <a:prstGeom prst="roundRect">
            <a:avLst>
              <a:gd name="adj" fmla="val 8511"/>
            </a:avLst>
          </a:prstGeom>
          <a:solidFill>
            <a:srgbClr val="FFFFFF"/>
          </a:solidFill>
          <a:ln w="15875">
            <a:solidFill>
              <a:srgbClr val="E2E8EA"/>
            </a:solidFill>
            <a:prstDash val="solid"/>
          </a:ln>
        </p:spPr>
        <p:txBody>
          <a:bodyPr/>
          <a:p/>
        </p:txBody>
      </p:sp>
      <p:sp>
        <p:nvSpPr>
          <p:cNvPr id="14" name="Text 12"/>
          <p:cNvSpPr txBox="1"/>
          <p:nvPr/>
        </p:nvSpPr>
        <p:spPr>
          <a:xfrm>
            <a:off x="6629400" y="204825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084832"/>
            <a:ext cx="2194560" cy="164592"/>
          </a:xfrm>
          <a:prstGeom prst="rect">
            <a:avLst/>
          </a:prstGeom>
          <a:solidFill>
            <a:srgbClr val="01485C"/>
          </a:solidFill>
          <a:ln/>
        </p:spPr>
        <p:txBody>
          <a:bodyPr/>
          <a:p/>
        </p:txBody>
      </p:sp>
      <p:sp>
        <p:nvSpPr>
          <p:cNvPr id="16" name="Text 14"/>
          <p:cNvSpPr txBox="1"/>
          <p:nvPr/>
        </p:nvSpPr>
        <p:spPr>
          <a:xfrm>
            <a:off x="9427464" y="204825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304288"/>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340864"/>
            <a:ext cx="1463040" cy="164592"/>
          </a:xfrm>
          <a:prstGeom prst="rect">
            <a:avLst/>
          </a:prstGeom>
          <a:solidFill>
            <a:srgbClr val="11B5AE"/>
          </a:solidFill>
          <a:ln/>
        </p:spPr>
        <p:txBody>
          <a:bodyPr/>
          <a:p/>
        </p:txBody>
      </p:sp>
      <p:sp>
        <p:nvSpPr>
          <p:cNvPr id="19" name="Text 17"/>
          <p:cNvSpPr txBox="1"/>
          <p:nvPr/>
        </p:nvSpPr>
        <p:spPr>
          <a:xfrm>
            <a:off x="8695944" y="2304288"/>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5603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596896"/>
            <a:ext cx="731520" cy="164592"/>
          </a:xfrm>
          <a:prstGeom prst="rect">
            <a:avLst/>
          </a:prstGeom>
          <a:solidFill>
            <a:srgbClr val="6CCAD4"/>
          </a:solidFill>
          <a:ln/>
        </p:spPr>
        <p:txBody>
          <a:bodyPr/>
          <a:p/>
        </p:txBody>
      </p:sp>
      <p:sp>
        <p:nvSpPr>
          <p:cNvPr id="22" name="Text 20"/>
          <p:cNvSpPr txBox="1"/>
          <p:nvPr/>
        </p:nvSpPr>
        <p:spPr>
          <a:xfrm>
            <a:off x="7964424" y="25603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029968"/>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2834640"/>
            <a:ext cx="420624" cy="420624"/>
          </a:xfrm>
          <a:prstGeom prst="ellipse">
            <a:avLst/>
          </a:prstGeom>
          <a:solidFill>
            <a:srgbClr val="01485C"/>
          </a:solidFill>
          <a:ln/>
        </p:spPr>
        <p:txBody>
          <a:bodyPr/>
          <a:p/>
        </p:txBody>
      </p:sp>
      <p:sp>
        <p:nvSpPr>
          <p:cNvPr id="25" name="Text 23"/>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277977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2788920"/>
            <a:ext cx="5212080" cy="859536"/>
          </a:xfrm>
          <a:prstGeom prst="roundRect">
            <a:avLst>
              <a:gd name="adj" fmla="val 8511"/>
            </a:avLst>
          </a:prstGeom>
          <a:solidFill>
            <a:srgbClr val="FFFFFF"/>
          </a:solidFill>
          <a:ln w="15875">
            <a:solidFill>
              <a:srgbClr val="E2E8EA"/>
            </a:solidFill>
            <a:prstDash val="solid"/>
          </a:ln>
        </p:spPr>
        <p:txBody>
          <a:bodyPr/>
          <a:p/>
        </p:txBody>
      </p:sp>
      <p:sp>
        <p:nvSpPr>
          <p:cNvPr id="28" name="Text 26"/>
          <p:cNvSpPr txBox="1"/>
          <p:nvPr/>
        </p:nvSpPr>
        <p:spPr>
          <a:xfrm>
            <a:off x="6629400" y="2898648"/>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3657600"/>
            <a:ext cx="420624" cy="420624"/>
          </a:xfrm>
          <a:prstGeom prst="ellipse">
            <a:avLst/>
          </a:prstGeom>
          <a:solidFill>
            <a:srgbClr val="01485C"/>
          </a:solidFill>
          <a:ln/>
        </p:spPr>
        <p:txBody>
          <a:bodyPr/>
          <a:p/>
        </p:txBody>
      </p:sp>
      <p:sp>
        <p:nvSpPr>
          <p:cNvPr id="30" name="Text 28"/>
          <p:cNvSpPr txBox="1"/>
          <p:nvPr/>
        </p:nvSpPr>
        <p:spPr>
          <a:xfrm>
            <a:off x="548640" y="36576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360273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361188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3" name="Text 31"/>
          <p:cNvSpPr txBox="1"/>
          <p:nvPr/>
        </p:nvSpPr>
        <p:spPr>
          <a:xfrm>
            <a:off x="6629400" y="3611880"/>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4480560"/>
            <a:ext cx="420624" cy="420624"/>
          </a:xfrm>
          <a:prstGeom prst="ellipse">
            <a:avLst/>
          </a:prstGeom>
          <a:solidFill>
            <a:srgbClr val="01485C"/>
          </a:solidFill>
          <a:ln/>
        </p:spPr>
        <p:txBody>
          <a:bodyPr/>
          <a:p/>
        </p:txBody>
      </p:sp>
      <p:sp>
        <p:nvSpPr>
          <p:cNvPr id="35" name="Text 33"/>
          <p:cNvSpPr txBox="1"/>
          <p:nvPr/>
        </p:nvSpPr>
        <p:spPr>
          <a:xfrm>
            <a:off x="548640"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442569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443484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8" name="Text 36"/>
          <p:cNvSpPr txBox="1"/>
          <p:nvPr/>
        </p:nvSpPr>
        <p:spPr>
          <a:xfrm>
            <a:off x="6629400" y="4562856"/>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4709160"/>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291072"/>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txBody>
          <a:bodyPr/>
          <a:p/>
        </p:txBody>
      </p:sp>
      <p:sp>
        <p:nvSpPr>
          <p:cNvPr id="42" name="Shape 40"/>
          <p:cNvSpPr/>
          <p:nvPr/>
        </p:nvSpPr>
        <p:spPr>
          <a:xfrm>
            <a:off x="2031492" y="6793992"/>
            <a:ext cx="2040636" cy="64008"/>
          </a:xfrm>
          <a:prstGeom prst="rect">
            <a:avLst/>
          </a:prstGeom>
          <a:solidFill>
            <a:srgbClr val="146175"/>
          </a:solidFill>
          <a:ln/>
        </p:spPr>
        <p:txBody>
          <a:bodyPr/>
          <a:p/>
        </p:txBody>
      </p:sp>
      <p:sp>
        <p:nvSpPr>
          <p:cNvPr id="43" name="Shape 41"/>
          <p:cNvSpPr/>
          <p:nvPr/>
        </p:nvSpPr>
        <p:spPr>
          <a:xfrm>
            <a:off x="4062984" y="6793992"/>
            <a:ext cx="2040636" cy="64008"/>
          </a:xfrm>
          <a:prstGeom prst="rect">
            <a:avLst/>
          </a:prstGeom>
          <a:solidFill>
            <a:srgbClr val="11B5AE"/>
          </a:solidFill>
          <a:ln/>
        </p:spPr>
        <p:txBody>
          <a:bodyPr/>
          <a:p/>
        </p:txBody>
      </p:sp>
      <p:sp>
        <p:nvSpPr>
          <p:cNvPr id="44" name="Shape 42"/>
          <p:cNvSpPr/>
          <p:nvPr/>
        </p:nvSpPr>
        <p:spPr>
          <a:xfrm>
            <a:off x="6094476" y="6793992"/>
            <a:ext cx="2040636" cy="64008"/>
          </a:xfrm>
          <a:prstGeom prst="rect">
            <a:avLst/>
          </a:prstGeom>
          <a:solidFill>
            <a:srgbClr val="6CCAD4"/>
          </a:solidFill>
          <a:ln/>
        </p:spPr>
        <p:txBody>
          <a:bodyPr/>
          <a:p/>
        </p:txBody>
      </p:sp>
      <p:sp>
        <p:nvSpPr>
          <p:cNvPr id="45" name="Shape 43"/>
          <p:cNvSpPr/>
          <p:nvPr/>
        </p:nvSpPr>
        <p:spPr>
          <a:xfrm>
            <a:off x="8125968" y="6793992"/>
            <a:ext cx="2040636" cy="64008"/>
          </a:xfrm>
          <a:prstGeom prst="rect">
            <a:avLst/>
          </a:prstGeom>
          <a:solidFill>
            <a:srgbClr val="7FC04C"/>
          </a:solidFill>
          <a:ln/>
        </p:spPr>
        <p:txBody>
          <a:bodyPr/>
          <a:p/>
        </p:txBody>
      </p:sp>
      <p:sp>
        <p:nvSpPr>
          <p:cNvPr id="46" name="Shape 44"/>
          <p:cNvSpPr/>
          <p:nvPr/>
        </p:nvSpPr>
        <p:spPr>
          <a:xfrm>
            <a:off x="10157460" y="6793992"/>
            <a:ext cx="2040636" cy="64008"/>
          </a:xfrm>
          <a:prstGeom prst="rect">
            <a:avLst/>
          </a:prstGeom>
          <a:solidFill>
            <a:srgbClr val="E1DD57"/>
          </a:solidFill>
          <a:ln/>
        </p:spPr>
        <p:txBody>
          <a:bodyPr/>
          <a:p/>
        </p:txBody>
      </p:sp>
      <p:sp>
        <p:nvSpPr>
          <p:cNvPr id="47" name="Shape 32"/>
          <p:cNvSpPr/>
          <p:nvPr/>
        </p:nvSpPr>
        <p:spPr>
          <a:xfrm>
            <a:off x="548640" y="5303519"/>
            <a:ext cx="420624" cy="420624"/>
          </a:xfrm>
          <a:prstGeom prst="ellipse">
            <a:avLst/>
          </a:prstGeom>
          <a:solidFill>
            <a:srgbClr val="01485C"/>
          </a:solidFill>
          <a:ln/>
        </p:spPr>
        <p:txBody>
          <a:bodyPr/>
          <a:p/>
        </p:txBody>
      </p:sp>
      <p:sp>
        <p:nvSpPr>
          <p:cNvPr id="48" name="Text 33"/>
          <p:cNvSpPr txBox="1"/>
          <p:nvPr/>
        </p:nvSpPr>
        <p:spPr>
          <a:xfrm>
            <a:off x="548640" y="5303519"/>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49" name="Text 34"/>
          <p:cNvSpPr txBox="1"/>
          <p:nvPr/>
        </p:nvSpPr>
        <p:spPr>
          <a:xfrm>
            <a:off x="1133856" y="5248655"/>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Usage
</a:t>
            </a:r>
            <a:pPr indent="0" marL="0">
              <a:buNone/>
            </a:pPr>
            <a:r>
              <a:rPr lang="en-US" sz="1100" dirty="0">
                <a:solidFill>
                  <a:srgbClr val="5F7178"/>
                </a:solidFill>
                <a:latin typeface="Calibri" pitchFamily="34" charset="0"/>
                <a:ea typeface="Calibri" pitchFamily="34" charset="-122"/>
                <a:cs typeface="Calibri" pitchFamily="34" charset="-120"/>
              </a:rPr>
              <a:t>This month’s cartridges by type (patient and QC), the 12-month average and peak, and a suggested monthly stock for ordering.</a:t>
            </a:r>
            <a:endParaRPr lang="en-US" sz="1300" dirty="0"/>
          </a:p>
        </p:txBody>
      </p:sp>
      <p:sp>
        <p:nvSpPr>
          <p:cNvPr id="50" name="Shape 35"/>
          <p:cNvSpPr/>
          <p:nvPr/>
        </p:nvSpPr>
        <p:spPr>
          <a:xfrm>
            <a:off x="6400800" y="5257799"/>
            <a:ext cx="5212080" cy="859536"/>
          </a:xfrm>
          <a:prstGeom prst="roundRect">
            <a:avLst>
              <a:gd name="adj" fmla="val 8511"/>
            </a:avLst>
          </a:prstGeom>
          <a:solidFill>
            <a:srgbClr val="FFFFFF"/>
          </a:solidFill>
          <a:ln w="15875">
            <a:solidFill>
              <a:srgbClr val="E2E8EA"/>
            </a:solidFill>
            <a:prstDash val="solid"/>
          </a:ln>
        </p:spPr>
        <p:txBody>
          <a:bodyPr/>
          <a:p/>
        </p:txBody>
      </p:sp>
      <p:sp>
        <p:nvSpPr>
          <p:cNvPr id="51" name="Text 36"/>
          <p:cNvSpPr txBox="1"/>
          <p:nvPr/>
        </p:nvSpPr>
        <p:spPr>
          <a:xfrm>
            <a:off x="6629400" y="5385815"/>
            <a:ext cx="3566160" cy="630936"/>
          </a:xfrm>
          <a:prstGeom prst="rect">
            <a:avLst/>
          </a:prstGeom>
          <a:noFill/>
          <a:ln/>
        </p:spPr>
        <p:txBody>
          <a:bodyPr wrap="square" lIns="0" tIns="0" rIns="0" bIns="0" rtlCol="0" anchor="t"/>
          <a:lstStyle/>
          <a:p>
            <a:pPr indent="0" marL="0">
              <a:buNone/>
            </a:pPr>
            <a:r>
              <a:rPr lang="en-US" sz="1050" b="0" dirty="0">
                <a:solidFill>
                  <a:srgbClr val="01485C"/>
                </a:solidFill>
                <a:latin typeface="Calibri" pitchFamily="34" charset="0"/>
                <a:ea typeface="Calibri" pitchFamily="34" charset="-122"/>
                <a:cs typeface="Calibri" pitchFamily="34" charset="-120"/>
              </a:rPr>
              <a:t>CHEM8    321 this month   ·   avg 298   ·   order 343
hs-TnI     157 this month   ·   avg 41     ·   order 47</a:t>
            </a:r>
            <a:pPr indent="0" marL="0">
              <a:buNone/>
            </a:pPr>
            <a:r>
              <a:rPr lang="en-US" sz="1050" b="1" dirty="0">
                <a:solidFill>
                  <a:srgbClr val="C00000"/>
                </a:solidFill>
                <a:latin typeface="Calibri" pitchFamily="34" charset="0"/>
                <a:ea typeface="Calibri" pitchFamily="34" charset="-122"/>
                <a:cs typeface="Calibri" pitchFamily="34" charset="-120"/>
              </a:rPr>
              <a:t/>
            </a:r>
            <a:endParaRPr lang="en-US" sz="1050" dirty="0"/>
          </a:p>
        </p:txBody>
      </p:sp>
      <p:sp>
        <p:nvSpPr>
          <p:cNvPr id="52" name="Text 37"/>
          <p:cNvSpPr txBox="1"/>
          <p:nvPr/>
        </p:nvSpPr>
        <p:spPr>
          <a:xfrm>
            <a:off x="10287000" y="5532119"/>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green = order guide</a:t>
            </a:r>
            <a:endParaRPr lang="en-US" sz="9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 and ABL)</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