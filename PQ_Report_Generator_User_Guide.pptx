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4" r:id="rId25"/>
    <p:sldId id="259" r:id="rId5"/>
    <p:sldId id="260" r:id="rId6"/>
    <p:sldId id="261" r:id="rId7"/>
    <p:sldId id="262" r:id="rId8"/>
    <p:sldId id="263" r:id="rId9"/>
    <p:sldId id="264" r:id="rId10"/>
    <p:sldId id="265" r:id="rId11"/>
    <p:sldId id="266" r:id="rId12"/>
    <p:sldId id="273" r:id="rId24"/>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3.xml"/><Relationship Id="rId25"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walks through the complete monthly routine: starting the program, generating i-STAT reports, generating ABL reports, and what to do when something looks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passwords exist: BitLocker for the drive itself, and the history password inside the i-STAT app. Stress that the history password has no recovery — a forgotten password means the history must be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clicks Open before an engine has finished starting, the button waits and navigates automatically — no need to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exists because the staff-performance history on the drive is encrypted. Generation is blocked until the password is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filename convention (YYYYMM) drives the auto-detected period. Loading a big export takes a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is per-hospital, so one problem hospital never spoils the batch — any errors are listed at the end while the rest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 flow mirrors i-STAT, but selection is by department rather than hospital, and there is no unlock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 thresholds are fixed in the app so every department is judged identically, month after month — there is nothing to configure.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of the i-STAT report, in document order, each with a miniature of what that section looks like: snapshot block, trend chart over the colour bands, the banded device table, simulator QC counts, and the ceramic cleaning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feature: the second Historical Performance chart, matching the ABL reports. Workload line above, error-mix bars below, month totals on top of each stack. Ten months of history (Sep 2025 - Jun 2026) were backfilled from the retained exports, so it debuts fully populated.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i-STAT report with a miniature beside each section. Red consistently means "look here" — red names in the details, the ⚠ repeat flag, and the follow-up tables are the parts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of the ABL report with a miniature beside each section: the snapshot paragraph, the two-part historical charts (rate trend above, workload with error-type breakdown below), and the analyser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 twin of the i-STAT chart — this is the original the i-STAT version was modelled on. Workload line above, error-code bars below, legend naming each ABL code. In this real example one code dominates every month, which is exactly the insight the chart exists to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ABL report with miniatures: the per-analyser operator tables carry the ⚠ and * symbols (thresholds fixed in the app), the error-code fingerprint, and the 12-month review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routine takes a few minutes plus generation time. Everything stays on the drive; distribution of the Word files is the only step that leaves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issues are cold-start timing or the wrong input file. Nothing here loses data — histories only update when a generation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at the end — it is the one-screen crib sheet for anyone running the reports for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B38"/>
        </a:solidFill>
      </p:bgPr>
    </p:bg>
    <p:spTree>
      <p:nvGrpSpPr>
        <p:cNvPr id="1" name=""/>
        <p:cNvGrpSpPr/>
        <p:nvPr/>
      </p:nvGrpSpPr>
      <p:grpSpPr>
        <a:xfrm>
          <a:off x="0" y="0"/>
          <a:ext cx="0" cy="0"/>
          <a:chOff x="0" y="0"/>
          <a:chExt cx="0" cy="0"/>
        </a:xfrm>
      </p:grpSpPr>
      <p:sp>
        <p:nvSpPr>
          <p:cNvPr id="2" name="Shape 0"/>
          <p:cNvSpPr/>
          <p:nvPr/>
        </p:nvSpPr>
        <p:spPr>
          <a:xfrm>
            <a:off x="548640" y="502920"/>
            <a:ext cx="4206240" cy="1005840"/>
          </a:xfrm>
          <a:prstGeom prst="roundRect">
            <a:avLst>
              <a:gd name="adj" fmla="val 10909"/>
            </a:avLst>
          </a:prstGeom>
          <a:solidFill>
            <a:srgbClr val="FFFFFF"/>
          </a:solidFill>
          <a:ln/>
        </p:spPr>
        <p:txBody>
          <a:bodyPr/>
          <a:p/>
        </p:txBody>
      </p:sp>
      <p:pic>
        <p:nvPicPr>
          <p:cNvPr id="3" name="Image 0" descr="qh.png">    </p:cNvPr>
          <p:cNvPicPr>
            <a:picLocks noChangeAspect="1"/>
          </p:cNvPicPr>
          <p:nvPr/>
        </p:nvPicPr>
        <p:blipFill>
          <a:blip r:embed="rId1"/>
          <a:stretch>
            <a:fillRect/>
          </a:stretch>
        </p:blipFill>
        <p:spPr>
          <a:xfrm>
            <a:off x="2395728" y="658368"/>
            <a:ext cx="2157984" cy="274320"/>
          </a:xfrm>
          <a:prstGeom prst="rect">
            <a:avLst/>
          </a:prstGeom>
        </p:spPr>
      </p:pic>
      <p:pic>
        <p:nvPicPr>
          <p:cNvPr id="4" name="Image 1" descr="wordmark.png">    </p:cNvPr>
          <p:cNvPicPr>
            <a:picLocks noChangeAspect="1"/>
          </p:cNvPicPr>
          <p:nvPr/>
        </p:nvPicPr>
        <p:blipFill>
          <a:blip r:embed="rId2"/>
          <a:stretch>
            <a:fillRect/>
          </a:stretch>
        </p:blipFill>
        <p:spPr>
          <a:xfrm>
            <a:off x="868680" y="987552"/>
            <a:ext cx="3566160" cy="417881"/>
          </a:xfrm>
          <a:prstGeom prst="rect">
            <a:avLst/>
          </a:prstGeom>
        </p:spPr>
      </p:pic>
      <p:sp>
        <p:nvSpPr>
          <p:cNvPr id="5" name="Shape 1"/>
          <p:cNvSpPr/>
          <p:nvPr/>
        </p:nvSpPr>
        <p:spPr>
          <a:xfrm>
            <a:off x="7562088" y="1298448"/>
            <a:ext cx="4123944" cy="2944368"/>
          </a:xfrm>
          <a:prstGeom prst="roundRect">
            <a:avLst>
              <a:gd name="adj" fmla="val 2484"/>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txBody>
          <a:bodyPr/>
          <a:p/>
        </p:txBody>
      </p:sp>
      <p:pic>
        <p:nvPicPr>
          <p:cNvPr id="6" name="Image 2" descr="portal.png">    </p:cNvPr>
          <p:cNvPicPr>
            <a:picLocks noChangeAspect="1"/>
          </p:cNvPicPr>
          <p:nvPr/>
        </p:nvPicPr>
        <p:blipFill>
          <a:blip r:embed="rId3"/>
          <a:stretch>
            <a:fillRect/>
          </a:stretch>
        </p:blipFill>
        <p:spPr>
          <a:xfrm>
            <a:off x="7635240" y="1371600"/>
            <a:ext cx="3977640" cy="2798064"/>
          </a:xfrm>
          <a:prstGeom prst="rect">
            <a:avLst/>
          </a:prstGeom>
        </p:spPr>
      </p:pic>
      <p:sp>
        <p:nvSpPr>
          <p:cNvPr id="7" name="Text 2"/>
          <p:cNvSpPr txBox="1"/>
          <p:nvPr/>
        </p:nvSpPr>
        <p:spPr>
          <a:xfrm>
            <a:off x="7562088" y="4279392"/>
            <a:ext cx="4123944" cy="320040"/>
          </a:xfrm>
          <a:prstGeom prst="rect">
            <a:avLst/>
          </a:prstGeom>
          <a:noFill/>
          <a:ln/>
        </p:spPr>
        <p:txBody>
          <a:bodyPr wrap="square" lIns="0" tIns="0" rIns="0" bIns="0" rtlCol="0" anchor="ctr"/>
          <a:lstStyle/>
          <a:p>
            <a:pPr algn="ctr" indent="0" marL="0">
              <a:buNone/>
            </a:pPr>
            <a:r>
              <a:rPr lang="en-US" sz="1100" i="1" dirty="0">
                <a:solidFill>
                  <a:srgbClr val="6CCAD4"/>
                </a:solidFill>
                <a:latin typeface="Calibri" pitchFamily="34" charset="0"/>
                <a:ea typeface="Calibri" pitchFamily="34" charset="-122"/>
                <a:cs typeface="Calibri" pitchFamily="34" charset="-120"/>
              </a:rPr>
              <a:t>The selection page you see at every launch</a:t>
            </a:r>
            <a:endParaRPr lang="en-US" sz="1100" dirty="0"/>
          </a:p>
        </p:txBody>
      </p:sp>
      <p:sp>
        <p:nvSpPr>
          <p:cNvPr id="8" name="Text 3"/>
          <p:cNvSpPr txBox="1"/>
          <p:nvPr/>
        </p:nvSpPr>
        <p:spPr>
          <a:xfrm>
            <a:off x="548640" y="2377440"/>
            <a:ext cx="68580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Operator Report Generator</a:t>
            </a:r>
            <a:endParaRPr lang="en-US" sz="4000" dirty="0"/>
          </a:p>
        </p:txBody>
      </p:sp>
      <p:sp>
        <p:nvSpPr>
          <p:cNvPr id="9" name="Text 4"/>
          <p:cNvSpPr txBox="1"/>
          <p:nvPr/>
        </p:nvSpPr>
        <p:spPr>
          <a:xfrm>
            <a:off x="548640" y="3246120"/>
            <a:ext cx="6766560" cy="822960"/>
          </a:xfrm>
          <a:prstGeom prst="rect">
            <a:avLst/>
          </a:prstGeom>
          <a:noFill/>
          <a:ln/>
        </p:spPr>
        <p:txBody>
          <a:bodyPr wrap="square" lIns="0" tIns="0" rIns="0" bIns="0" rtlCol="0" anchor="ctr"/>
          <a:lstStyle/>
          <a:p>
            <a:pPr indent="0" marL="0">
              <a:buNone/>
            </a:pPr>
            <a:r>
              <a:rPr lang="en-US" sz="1900" dirty="0">
                <a:solidFill>
                  <a:srgbClr val="6CCAD4"/>
                </a:solidFill>
                <a:latin typeface="Calibri" pitchFamily="34" charset="0"/>
                <a:ea typeface="Calibri" pitchFamily="34" charset="-122"/>
                <a:cs typeface="Calibri" pitchFamily="34" charset="-120"/>
              </a:rPr>
              <a:t>User guide — generating the monthly i-STAT and ABL reports</a:t>
            </a:r>
            <a:endParaRPr lang="en-US" sz="1900" dirty="0"/>
          </a:p>
        </p:txBody>
      </p:sp>
      <p:sp>
        <p:nvSpPr>
          <p:cNvPr id="10" name="Text 5"/>
          <p:cNvSpPr txBox="1"/>
          <p:nvPr/>
        </p:nvSpPr>
        <p:spPr>
          <a:xfrm>
            <a:off x="548640" y="5897880"/>
            <a:ext cx="694944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Pathology Queensland · Point of Care Testing · September 2026</a:t>
            </a:r>
            <a:endParaRPr lang="en-US" sz="1300" dirty="0"/>
          </a:p>
        </p:txBody>
      </p:sp>
      <p:sp>
        <p:nvSpPr>
          <p:cNvPr id="11" name="Text 6"/>
          <p:cNvSpPr txBox="1"/>
          <p:nvPr/>
        </p:nvSpPr>
        <p:spPr>
          <a:xfrm>
            <a:off x="548640" y="6291072"/>
            <a:ext cx="11064240" cy="320040"/>
          </a:xfrm>
          <a:prstGeom prst="rect">
            <a:avLst/>
          </a:prstGeom>
          <a:noFill/>
          <a:ln/>
        </p:spPr>
        <p:txBody>
          <a:bodyPr wrap="square" lIns="0" tIns="0" rIns="0" bIns="0" rtlCol="0" anchor="ctr"/>
          <a:lstStyle/>
          <a:p>
            <a:pPr indent="0" marL="0">
              <a:buNone/>
            </a:pPr>
            <a:r>
              <a:rPr lang="en-US" sz="1100" dirty="0">
                <a:solidFill>
                  <a:srgbClr val="6CCAD4"/>
                </a:solidFill>
                <a:latin typeface="Calibri" pitchFamily="34" charset="0"/>
                <a:ea typeface="Calibri" pitchFamily="34" charset="-122"/>
                <a:cs typeface="Calibri" pitchFamily="34" charset="-120"/>
              </a:rPr>
              <a:t>Conceived, designed and built by Craig MacKenzie · Chemistry Department, Townsville Group Laboratory · Pathology Queensland</a:t>
            </a:r>
            <a:endParaRPr lang="en-US" sz="1100" dirty="0"/>
          </a:p>
        </p:txBody>
      </p:sp>
      <p:sp>
        <p:nvSpPr>
          <p:cNvPr id="12" name="Shape 7"/>
          <p:cNvSpPr/>
          <p:nvPr/>
        </p:nvSpPr>
        <p:spPr>
          <a:xfrm>
            <a:off x="0" y="6793992"/>
            <a:ext cx="2040636" cy="64008"/>
          </a:xfrm>
          <a:prstGeom prst="rect">
            <a:avLst/>
          </a:prstGeom>
          <a:solidFill>
            <a:srgbClr val="01485C"/>
          </a:solidFill>
          <a:ln/>
        </p:spPr>
        <p:txBody>
          <a:bodyPr/>
          <a:p/>
        </p:txBody>
      </p:sp>
      <p:sp>
        <p:nvSpPr>
          <p:cNvPr id="13" name="Shape 8"/>
          <p:cNvSpPr/>
          <p:nvPr/>
        </p:nvSpPr>
        <p:spPr>
          <a:xfrm>
            <a:off x="2031492" y="6793992"/>
            <a:ext cx="2040636" cy="64008"/>
          </a:xfrm>
          <a:prstGeom prst="rect">
            <a:avLst/>
          </a:prstGeom>
          <a:solidFill>
            <a:srgbClr val="146175"/>
          </a:solidFill>
          <a:ln/>
        </p:spPr>
        <p:txBody>
          <a:bodyPr/>
          <a:p/>
        </p:txBody>
      </p:sp>
      <p:sp>
        <p:nvSpPr>
          <p:cNvPr id="14" name="Shape 9"/>
          <p:cNvSpPr/>
          <p:nvPr/>
        </p:nvSpPr>
        <p:spPr>
          <a:xfrm>
            <a:off x="4062984" y="6793992"/>
            <a:ext cx="2040636" cy="64008"/>
          </a:xfrm>
          <a:prstGeom prst="rect">
            <a:avLst/>
          </a:prstGeom>
          <a:solidFill>
            <a:srgbClr val="11B5AE"/>
          </a:solidFill>
          <a:ln/>
        </p:spPr>
        <p:txBody>
          <a:bodyPr/>
          <a:p/>
        </p:txBody>
      </p:sp>
      <p:sp>
        <p:nvSpPr>
          <p:cNvPr id="15" name="Shape 10"/>
          <p:cNvSpPr/>
          <p:nvPr/>
        </p:nvSpPr>
        <p:spPr>
          <a:xfrm>
            <a:off x="6094476" y="6793992"/>
            <a:ext cx="2040636" cy="64008"/>
          </a:xfrm>
          <a:prstGeom prst="rect">
            <a:avLst/>
          </a:prstGeom>
          <a:solidFill>
            <a:srgbClr val="6CCAD4"/>
          </a:solidFill>
          <a:ln/>
        </p:spPr>
        <p:txBody>
          <a:bodyPr/>
          <a:p/>
        </p:txBody>
      </p:sp>
      <p:sp>
        <p:nvSpPr>
          <p:cNvPr id="16" name="Shape 11"/>
          <p:cNvSpPr/>
          <p:nvPr/>
        </p:nvSpPr>
        <p:spPr>
          <a:xfrm>
            <a:off x="8125968" y="6793992"/>
            <a:ext cx="2040636" cy="64008"/>
          </a:xfrm>
          <a:prstGeom prst="rect">
            <a:avLst/>
          </a:prstGeom>
          <a:solidFill>
            <a:srgbClr val="7FC04C"/>
          </a:solidFill>
          <a:ln/>
        </p:spPr>
        <p:txBody>
          <a:bodyPr/>
          <a:p/>
        </p:txBody>
      </p:sp>
      <p:sp>
        <p:nvSpPr>
          <p:cNvPr id="17" name="Shape 12"/>
          <p:cNvSpPr/>
          <p:nvPr/>
        </p:nvSpPr>
        <p:spPr>
          <a:xfrm>
            <a:off x="10157460" y="6793992"/>
            <a:ext cx="2040636" cy="64008"/>
          </a:xfrm>
          <a:prstGeom prst="rect">
            <a:avLst/>
          </a:prstGeom>
          <a:solidFill>
            <a:srgbClr val="E1DD57"/>
          </a:soli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Before you start — what you need</a:t>
            </a:r>
            <a:endParaRPr lang="en-US" sz="3000" dirty="0"/>
          </a:p>
        </p:txBody>
      </p:sp>
      <p:sp>
        <p:nvSpPr>
          <p:cNvPr id="3" name="Shape 1"/>
          <p:cNvSpPr/>
          <p:nvPr/>
        </p:nvSpPr>
        <p:spPr>
          <a:xfrm>
            <a:off x="548640" y="1371600"/>
            <a:ext cx="6949440" cy="960120"/>
          </a:xfrm>
          <a:prstGeom prst="roundRect">
            <a:avLst>
              <a:gd name="adj" fmla="val 9524"/>
            </a:avLst>
          </a:prstGeom>
          <a:solidFill>
            <a:srgbClr val="E5F2F0"/>
          </a:solidFill>
          <a:ln/>
        </p:spPr>
        <p:txBody>
          <a:bodyPr/>
          <a:p/>
        </p:txBody>
      </p:sp>
      <p:sp>
        <p:nvSpPr>
          <p:cNvPr id="4" name="Text 2"/>
          <p:cNvSpPr txBox="1"/>
          <p:nvPr/>
        </p:nvSpPr>
        <p:spPr>
          <a:xfrm>
            <a:off x="822960" y="1481328"/>
            <a:ext cx="6400800" cy="777240"/>
          </a:xfrm>
          <a:prstGeom prst="rect">
            <a:avLst/>
          </a:prstGeom>
          <a:noFill/>
          <a:ln/>
        </p:spPr>
        <p:txBody>
          <a:bodyPr wrap="square" lIns="0" tIns="0" rIns="0" bIns="0" rtlCol="0" anchor="ctr"/>
          <a:lstStyle/>
          <a:p>
            <a:pPr indent="0" marL="0">
              <a:buNone/>
            </a:pPr>
            <a:r>
              <a:rPr lang="en-US" sz="1500" b="1" dirty="0">
                <a:solidFill>
                  <a:srgbClr val="01485C"/>
                </a:solidFill>
                <a:latin typeface="Calibri" pitchFamily="34" charset="0"/>
                <a:ea typeface="Calibri" pitchFamily="34" charset="-122"/>
                <a:cs typeface="Calibri" pitchFamily="34" charset="-120"/>
              </a:rPr>
              <a:t>The USB drive   </a:t>
            </a:r>
            <a:pPr indent="0" marL="0">
              <a:buNone/>
            </a:pPr>
            <a:r>
              <a:rPr lang="en-US" sz="1250" dirty="0">
                <a:solidFill>
                  <a:srgbClr val="17272E"/>
                </a:solidFill>
                <a:latin typeface="Calibri" pitchFamily="34" charset="0"/>
                <a:ea typeface="Calibri" pitchFamily="34" charset="-122"/>
                <a:cs typeface="Calibri" pitchFamily="34" charset="-120"/>
              </a:rPr>
              <a:t>Everything runs from it; nothing is installed on the PC</a:t>
            </a:r>
            <a:endParaRPr lang="en-US" sz="1500" dirty="0"/>
          </a:p>
        </p:txBody>
      </p:sp>
      <p:sp>
        <p:nvSpPr>
          <p:cNvPr id="5" name="Shape 3"/>
          <p:cNvSpPr/>
          <p:nvPr/>
        </p:nvSpPr>
        <p:spPr>
          <a:xfrm>
            <a:off x="548640" y="2487168"/>
            <a:ext cx="6949440" cy="960120"/>
          </a:xfrm>
          <a:prstGeom prst="roundRect">
            <a:avLst>
              <a:gd name="adj" fmla="val 9524"/>
            </a:avLst>
          </a:prstGeom>
          <a:solidFill>
            <a:srgbClr val="E5F2F0"/>
          </a:solidFill>
          <a:ln/>
        </p:spPr>
        <p:txBody>
          <a:bodyPr/>
          <a:p/>
        </p:txBody>
      </p:sp>
      <p:sp>
        <p:nvSpPr>
          <p:cNvPr id="6" name="Text 4"/>
          <p:cNvSpPr txBox="1"/>
          <p:nvPr/>
        </p:nvSpPr>
        <p:spPr>
          <a:xfrm>
            <a:off x="822960" y="2596896"/>
            <a:ext cx="6400800" cy="777240"/>
          </a:xfrm>
          <a:prstGeom prst="rect">
            <a:avLst/>
          </a:prstGeom>
          <a:noFill/>
          <a:ln/>
        </p:spPr>
        <p:txBody>
          <a:bodyPr wrap="square" lIns="0" tIns="0" rIns="0" bIns="0" rtlCol="0" anchor="ctr"/>
          <a:lstStyle/>
          <a:p>
            <a:pPr indent="0" marL="0">
              <a:buNone/>
            </a:pPr>
            <a:r>
              <a:rPr lang="en-US" sz="1500" b="1" dirty="0">
                <a:solidFill>
                  <a:srgbClr val="01485C"/>
                </a:solidFill>
                <a:latin typeface="Calibri" pitchFamily="34" charset="0"/>
                <a:ea typeface="Calibri" pitchFamily="34" charset="-122"/>
                <a:cs typeface="Calibri" pitchFamily="34" charset="-120"/>
              </a:rPr>
              <a:t>BitLocker password   </a:t>
            </a:r>
            <a:pPr indent="0" marL="0">
              <a:buNone/>
            </a:pPr>
            <a:r>
              <a:rPr lang="en-US" sz="1250" dirty="0">
                <a:solidFill>
                  <a:srgbClr val="17272E"/>
                </a:solidFill>
                <a:latin typeface="Calibri" pitchFamily="34" charset="0"/>
                <a:ea typeface="Calibri" pitchFamily="34" charset="-122"/>
                <a:cs typeface="Calibri" pitchFamily="34" charset="-120"/>
              </a:rPr>
              <a:t>Windows asks for it when you plug the drive in</a:t>
            </a:r>
            <a:endParaRPr lang="en-US" sz="1500" dirty="0"/>
          </a:p>
        </p:txBody>
      </p:sp>
      <p:sp>
        <p:nvSpPr>
          <p:cNvPr id="7" name="Shape 5"/>
          <p:cNvSpPr/>
          <p:nvPr/>
        </p:nvSpPr>
        <p:spPr>
          <a:xfrm>
            <a:off x="548640" y="3602736"/>
            <a:ext cx="6949440" cy="960120"/>
          </a:xfrm>
          <a:prstGeom prst="roundRect">
            <a:avLst>
              <a:gd name="adj" fmla="val 9524"/>
            </a:avLst>
          </a:prstGeom>
          <a:solidFill>
            <a:srgbClr val="FDF0E4"/>
          </a:solidFill>
          <a:ln/>
        </p:spPr>
        <p:txBody>
          <a:bodyPr/>
          <a:p/>
        </p:txBody>
      </p:sp>
      <p:sp>
        <p:nvSpPr>
          <p:cNvPr id="8" name="Text 6"/>
          <p:cNvSpPr txBox="1"/>
          <p:nvPr/>
        </p:nvSpPr>
        <p:spPr>
          <a:xfrm>
            <a:off x="822960" y="3712464"/>
            <a:ext cx="6400800" cy="777240"/>
          </a:xfrm>
          <a:prstGeom prst="rect">
            <a:avLst/>
          </a:prstGeom>
          <a:noFill/>
          <a:ln/>
        </p:spPr>
        <p:txBody>
          <a:bodyPr wrap="square" lIns="0" tIns="0" rIns="0" bIns="0" rtlCol="0" anchor="ctr"/>
          <a:lstStyle/>
          <a:p>
            <a:pPr indent="0" marL="0">
              <a:buNone/>
            </a:pPr>
            <a:r>
              <a:rPr lang="en-US" sz="1500" b="1" dirty="0">
                <a:solidFill>
                  <a:srgbClr val="B4540A"/>
                </a:solidFill>
                <a:latin typeface="Calibri" pitchFamily="34" charset="0"/>
                <a:ea typeface="Calibri" pitchFamily="34" charset="-122"/>
                <a:cs typeface="Calibri" pitchFamily="34" charset="-120"/>
              </a:rPr>
              <a:t>History passwords   </a:t>
            </a:r>
            <a:pPr indent="0" marL="0">
              <a:buNone/>
            </a:pPr>
            <a:r>
              <a:rPr lang="en-US" sz="1250" dirty="0">
                <a:solidFill>
                  <a:srgbClr val="17272E"/>
                </a:solidFill>
                <a:latin typeface="Calibri" pitchFamily="34" charset="0"/>
                <a:ea typeface="Calibri" pitchFamily="34" charset="-122"/>
                <a:cs typeface="Calibri" pitchFamily="34" charset="-120"/>
              </a:rPr>
              <a:t>Each app asks for its own at launch (i-STAT and ABL) — held by the PoC team; there is NO recovery if forgotten</a:t>
            </a:r>
            <a:endParaRPr lang="en-US" sz="1500" dirty="0"/>
          </a:p>
        </p:txBody>
      </p:sp>
      <p:sp>
        <p:nvSpPr>
          <p:cNvPr id="9" name="Shape 7"/>
          <p:cNvSpPr/>
          <p:nvPr/>
        </p:nvSpPr>
        <p:spPr>
          <a:xfrm>
            <a:off x="548640" y="4718304"/>
            <a:ext cx="6949440" cy="960120"/>
          </a:xfrm>
          <a:prstGeom prst="roundRect">
            <a:avLst>
              <a:gd name="adj" fmla="val 9524"/>
            </a:avLst>
          </a:prstGeom>
          <a:solidFill>
            <a:srgbClr val="E5F2F0"/>
          </a:solidFill>
          <a:ln/>
        </p:spPr>
        <p:txBody>
          <a:bodyPr/>
          <a:p/>
        </p:txBody>
      </p:sp>
      <p:sp>
        <p:nvSpPr>
          <p:cNvPr id="10" name="Text 8"/>
          <p:cNvSpPr txBox="1"/>
          <p:nvPr/>
        </p:nvSpPr>
        <p:spPr>
          <a:xfrm>
            <a:off x="822960" y="4828032"/>
            <a:ext cx="6400800" cy="777240"/>
          </a:xfrm>
          <a:prstGeom prst="rect">
            <a:avLst/>
          </a:prstGeom>
          <a:noFill/>
          <a:ln/>
        </p:spPr>
        <p:txBody>
          <a:bodyPr wrap="square" lIns="0" tIns="0" rIns="0" bIns="0" rtlCol="0" anchor="ctr"/>
          <a:lstStyle/>
          <a:p>
            <a:pPr indent="0" marL="0">
              <a:buNone/>
            </a:pPr>
            <a:r>
              <a:rPr lang="en-US" sz="1500" b="1" dirty="0">
                <a:solidFill>
                  <a:srgbClr val="01485C"/>
                </a:solidFill>
                <a:latin typeface="Calibri" pitchFamily="34" charset="0"/>
                <a:ea typeface="Calibri" pitchFamily="34" charset="-122"/>
                <a:cs typeface="Calibri" pitchFamily="34" charset="-120"/>
              </a:rPr>
              <a:t>This month’s export files   </a:t>
            </a:r>
            <a:pPr indent="0" marL="0">
              <a:buNone/>
            </a:pPr>
            <a:r>
              <a:rPr lang="en-US" sz="1250" dirty="0">
                <a:solidFill>
                  <a:srgbClr val="17272E"/>
                </a:solidFill>
                <a:latin typeface="Calibri" pitchFamily="34" charset="0"/>
                <a:ea typeface="Calibri" pitchFamily="34" charset="-122"/>
                <a:cs typeface="Calibri" pitchFamily="34" charset="-120"/>
              </a:rPr>
              <a:t>The i-STAT export (e.g. "iSTAT Report 202609.xlsx") and the ABL operator error export — keep them in "Monthly reports" on the drive</a:t>
            </a:r>
            <a:endParaRPr lang="en-US" sz="1500" dirty="0"/>
          </a:p>
        </p:txBody>
      </p:sp>
      <p:sp>
        <p:nvSpPr>
          <p:cNvPr id="11" name="Shape 9"/>
          <p:cNvSpPr/>
          <p:nvPr/>
        </p:nvSpPr>
        <p:spPr>
          <a:xfrm>
            <a:off x="7863840" y="1371600"/>
            <a:ext cx="3794760" cy="4206240"/>
          </a:xfrm>
          <a:prstGeom prst="roundRect">
            <a:avLst>
              <a:gd name="adj" fmla="val 2892"/>
            </a:avLst>
          </a:prstGeom>
          <a:solidFill>
            <a:srgbClr val="012B38"/>
          </a:solidFill>
          <a:ln/>
        </p:spPr>
        <p:txBody>
          <a:bodyPr/>
          <a:p/>
        </p:txBody>
      </p:sp>
      <p:sp>
        <p:nvSpPr>
          <p:cNvPr id="12" name="Text 10"/>
          <p:cNvSpPr txBox="1"/>
          <p:nvPr/>
        </p:nvSpPr>
        <p:spPr>
          <a:xfrm>
            <a:off x="8138160" y="1600200"/>
            <a:ext cx="329184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Good to know</a:t>
            </a:r>
            <a:endParaRPr lang="en-US" sz="1700" dirty="0"/>
          </a:p>
        </p:txBody>
      </p:sp>
      <p:sp>
        <p:nvSpPr>
          <p:cNvPr id="13" name="Text 11"/>
          <p:cNvSpPr txBox="1"/>
          <p:nvPr/>
        </p:nvSpPr>
        <p:spPr>
          <a:xfrm>
            <a:off x="8138160" y="2194560"/>
            <a:ext cx="3246120" cy="3200400"/>
          </a:xfrm>
          <a:prstGeom prst="rect">
            <a:avLst/>
          </a:prstGeom>
          <a:noFill/>
          <a:ln/>
        </p:spPr>
        <p:txBody>
          <a:bodyPr wrap="square" rtlCol="0" anchor="t"/>
          <a:lstStyle/>
          <a:p>
            <a:pPr marL="152400" indent="-152400">
              <a:spcAft>
                <a:spcPts val="1400"/>
              </a:spcAft>
              <a:buSzPct val="100000"/>
              <a:buChar char="•"/>
            </a:pPr>
            <a:r>
              <a:rPr lang="en-US" sz="1300" dirty="0">
                <a:solidFill>
                  <a:srgbClr val="6CCAD4"/>
                </a:solidFill>
                <a:latin typeface="Calibri" pitchFamily="34" charset="0"/>
                <a:ea typeface="Calibri" pitchFamily="34" charset="-122"/>
                <a:cs typeface="Calibri" pitchFamily="34" charset="-120"/>
              </a:rPr>
              <a:t>The FIRST launch on a new computer can take up to 30 seconds — the browser opens by itself when ready.</a:t>
            </a:r>
            <a:endParaRPr lang="en-US" sz="1300" dirty="0"/>
          </a:p>
          <a:p>
            <a:pPr marL="152400" indent="-152400">
              <a:spcAft>
                <a:spcPts val="1400"/>
              </a:spcAft>
              <a:buSzPct val="100000"/>
              <a:buChar char="•"/>
            </a:pPr>
            <a:r>
              <a:rPr lang="en-US" sz="1300" dirty="0">
                <a:solidFill>
                  <a:srgbClr val="6CCAD4"/>
                </a:solidFill>
                <a:latin typeface="Calibri" pitchFamily="34" charset="0"/>
                <a:ea typeface="Calibri" pitchFamily="34" charset="-122"/>
                <a:cs typeface="Calibri" pitchFamily="34" charset="-120"/>
              </a:rPr>
              <a:t>The black console window is the engine room: leave it open while working, close it to stop everything.</a:t>
            </a:r>
            <a:endParaRPr lang="en-US" sz="1300" dirty="0"/>
          </a:p>
          <a:p>
            <a:pPr marL="152400" indent="-152400">
              <a:spcAft>
                <a:spcPts val="1400"/>
              </a:spcAft>
              <a:buSzPct val="100000"/>
              <a:buChar char="•"/>
            </a:pPr>
            <a:r>
              <a:rPr lang="en-US" sz="1300" dirty="0">
                <a:solidFill>
                  <a:srgbClr val="6CCAD4"/>
                </a:solidFill>
                <a:latin typeface="Calibri" pitchFamily="34" charset="0"/>
                <a:ea typeface="Calibri" pitchFamily="34" charset="-122"/>
                <a:cs typeface="Calibri" pitchFamily="34" charset="-120"/>
              </a:rPr>
              <a:t>Reports never leave the drive — everything is processed locally.</a:t>
            </a:r>
            <a:endParaRPr lang="en-US" sz="1300" dirty="0"/>
          </a:p>
          <a:p>
            <a:pPr marL="152400" indent="-152400">
              <a:spcAft>
                <a:spcPts val="1400"/>
              </a:spcAft>
              <a:buSzPct val="100000"/>
              <a:buChar char="•"/>
            </a:pPr>
            <a:r>
              <a:rPr lang="en-US" sz="1300" dirty="0">
                <a:solidFill>
                  <a:srgbClr val="6CCAD4"/>
                </a:solidFill>
                <a:latin typeface="Calibri" pitchFamily="34" charset="0"/>
                <a:ea typeface="Calibri" pitchFamily="34" charset="-122"/>
                <a:cs typeface="Calibri" pitchFamily="34" charset="-120"/>
              </a:rPr>
              <a:t>A NEW PC must be licensed first: the selection page shows its machine ID — send it to the PoC lead and install the licence file you get back. Licences last 12 months.</a:t>
            </a:r>
            <a:endParaRPr lang="en-US" sz="1300" dirty="0"/>
          </a:p>
        </p:txBody>
      </p:sp>
      <p:sp>
        <p:nvSpPr>
          <p:cNvPr id="14" name="Shape 12"/>
          <p:cNvSpPr/>
          <p:nvPr/>
        </p:nvSpPr>
        <p:spPr>
          <a:xfrm>
            <a:off x="0" y="6793992"/>
            <a:ext cx="2040636" cy="64008"/>
          </a:xfrm>
          <a:prstGeom prst="rect">
            <a:avLst/>
          </a:prstGeom>
          <a:solidFill>
            <a:srgbClr val="01485C"/>
          </a:solidFill>
          <a:ln/>
        </p:spPr>
      </p:sp>
      <p:sp>
        <p:nvSpPr>
          <p:cNvPr id="15" name="Shape 13"/>
          <p:cNvSpPr/>
          <p:nvPr/>
        </p:nvSpPr>
        <p:spPr>
          <a:xfrm>
            <a:off x="2031492" y="6793992"/>
            <a:ext cx="2040636" cy="64008"/>
          </a:xfrm>
          <a:prstGeom prst="rect">
            <a:avLst/>
          </a:prstGeom>
          <a:solidFill>
            <a:srgbClr val="146175"/>
          </a:solidFill>
          <a:ln/>
        </p:spPr>
      </p:sp>
      <p:sp>
        <p:nvSpPr>
          <p:cNvPr id="16" name="Shape 14"/>
          <p:cNvSpPr/>
          <p:nvPr/>
        </p:nvSpPr>
        <p:spPr>
          <a:xfrm>
            <a:off x="4062984" y="6793992"/>
            <a:ext cx="2040636" cy="64008"/>
          </a:xfrm>
          <a:prstGeom prst="rect">
            <a:avLst/>
          </a:prstGeom>
          <a:solidFill>
            <a:srgbClr val="11B5AE"/>
          </a:solidFill>
          <a:ln/>
        </p:spPr>
      </p:sp>
      <p:sp>
        <p:nvSpPr>
          <p:cNvPr id="17" name="Shape 15"/>
          <p:cNvSpPr/>
          <p:nvPr/>
        </p:nvSpPr>
        <p:spPr>
          <a:xfrm>
            <a:off x="6094476" y="6793992"/>
            <a:ext cx="2040636" cy="64008"/>
          </a:xfrm>
          <a:prstGeom prst="rect">
            <a:avLst/>
          </a:prstGeom>
          <a:solidFill>
            <a:srgbClr val="6CCAD4"/>
          </a:solidFill>
          <a:ln/>
        </p:spPr>
      </p:sp>
      <p:sp>
        <p:nvSpPr>
          <p:cNvPr id="18" name="Shape 16"/>
          <p:cNvSpPr/>
          <p:nvPr/>
        </p:nvSpPr>
        <p:spPr>
          <a:xfrm>
            <a:off x="8125968" y="6793992"/>
            <a:ext cx="2040636" cy="64008"/>
          </a:xfrm>
          <a:prstGeom prst="rect">
            <a:avLst/>
          </a:prstGeom>
          <a:solidFill>
            <a:srgbClr val="7FC04C"/>
          </a:solidFill>
          <a:ln/>
        </p:spPr>
      </p:sp>
      <p:sp>
        <p:nvSpPr>
          <p:cNvPr id="19" name="Shape 17"/>
          <p:cNvSpPr/>
          <p:nvPr/>
        </p:nvSpPr>
        <p:spPr>
          <a:xfrm>
            <a:off x="10157460" y="6793992"/>
            <a:ext cx="2040636" cy="64008"/>
          </a:xfrm>
          <a:prstGeom prst="rect">
            <a:avLst/>
          </a:prstGeom>
          <a:solidFill>
            <a:srgbClr val="E1DD57"/>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Starting the program</a:t>
            </a:r>
            <a:endParaRPr lang="en-US" sz="3000" dirty="0"/>
          </a:p>
        </p:txBody>
      </p:sp>
      <p:sp>
        <p:nvSpPr>
          <p:cNvPr id="3" name="Shape 1"/>
          <p:cNvSpPr/>
          <p:nvPr/>
        </p:nvSpPr>
        <p:spPr>
          <a:xfrm>
            <a:off x="548640" y="1444752"/>
            <a:ext cx="475488" cy="475488"/>
          </a:xfrm>
          <a:prstGeom prst="ellipse">
            <a:avLst/>
          </a:prstGeom>
          <a:solidFill>
            <a:srgbClr val="7FC04C"/>
          </a:solidFill>
          <a:ln/>
        </p:spPr>
        <p:txBody>
          <a:bodyPr/>
          <a:p/>
        </p:txBody>
      </p:sp>
      <p:sp>
        <p:nvSpPr>
          <p:cNvPr id="4" name="Text 2"/>
          <p:cNvSpPr txBox="1"/>
          <p:nvPr/>
        </p:nvSpPr>
        <p:spPr>
          <a:xfrm>
            <a:off x="548640" y="144475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1</a:t>
            </a:r>
            <a:endParaRPr lang="en-US" sz="1700" dirty="0"/>
          </a:p>
        </p:txBody>
      </p:sp>
      <p:sp>
        <p:nvSpPr>
          <p:cNvPr id="5" name="Text 3"/>
          <p:cNvSpPr txBox="1"/>
          <p:nvPr/>
        </p:nvSpPr>
        <p:spPr>
          <a:xfrm>
            <a:off x="1207008" y="1399032"/>
            <a:ext cx="565099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Plug in the drive
</a:t>
            </a:r>
            <a:pPr indent="0" marL="0">
              <a:buNone/>
            </a:pPr>
            <a:r>
              <a:rPr lang="en-US" sz="1250" dirty="0">
                <a:solidFill>
                  <a:srgbClr val="5F7178"/>
                </a:solidFill>
                <a:latin typeface="Calibri" pitchFamily="34" charset="0"/>
                <a:ea typeface="Calibri" pitchFamily="34" charset="-122"/>
                <a:cs typeface="Calibri" pitchFamily="34" charset="-120"/>
              </a:rPr>
              <a:t>Enter the BitLocker password when Windows asks.</a:t>
            </a:r>
            <a:endParaRPr lang="en-US" sz="1450" dirty="0"/>
          </a:p>
        </p:txBody>
      </p:sp>
      <p:sp>
        <p:nvSpPr>
          <p:cNvPr id="6" name="Shape 4"/>
          <p:cNvSpPr/>
          <p:nvPr/>
        </p:nvSpPr>
        <p:spPr>
          <a:xfrm>
            <a:off x="548640" y="2450592"/>
            <a:ext cx="475488" cy="475488"/>
          </a:xfrm>
          <a:prstGeom prst="ellipse">
            <a:avLst/>
          </a:prstGeom>
          <a:solidFill>
            <a:srgbClr val="7FC04C"/>
          </a:solidFill>
          <a:ln/>
        </p:spPr>
        <p:txBody>
          <a:bodyPr/>
          <a:p/>
        </p:txBody>
      </p:sp>
      <p:sp>
        <p:nvSpPr>
          <p:cNvPr id="7" name="Text 5"/>
          <p:cNvSpPr txBox="1"/>
          <p:nvPr/>
        </p:nvSpPr>
        <p:spPr>
          <a:xfrm>
            <a:off x="548640" y="245059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2</a:t>
            </a:r>
            <a:endParaRPr lang="en-US" sz="1700" dirty="0"/>
          </a:p>
        </p:txBody>
      </p:sp>
      <p:sp>
        <p:nvSpPr>
          <p:cNvPr id="8" name="Text 6"/>
          <p:cNvSpPr txBox="1"/>
          <p:nvPr/>
        </p:nvSpPr>
        <p:spPr>
          <a:xfrm>
            <a:off x="1207008" y="2404872"/>
            <a:ext cx="565099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Double-click  "Start PQ Reports.bat"
</a:t>
            </a:r>
            <a:pPr indent="0" marL="0">
              <a:buNone/>
            </a:pPr>
            <a:r>
              <a:rPr lang="en-US" sz="1250" dirty="0">
                <a:solidFill>
                  <a:srgbClr val="5F7178"/>
                </a:solidFill>
                <a:latin typeface="Calibri" pitchFamily="34" charset="0"/>
                <a:ea typeface="Calibri" pitchFamily="34" charset="-122"/>
                <a:cs typeface="Calibri" pitchFamily="34" charset="-120"/>
              </a:rPr>
              <a:t>On the root of the drive. A console window opens and stays open.</a:t>
            </a:r>
            <a:endParaRPr lang="en-US" sz="1450" dirty="0"/>
          </a:p>
        </p:txBody>
      </p:sp>
      <p:sp>
        <p:nvSpPr>
          <p:cNvPr id="9" name="Shape 7"/>
          <p:cNvSpPr/>
          <p:nvPr/>
        </p:nvSpPr>
        <p:spPr>
          <a:xfrm>
            <a:off x="548640" y="3456432"/>
            <a:ext cx="475488" cy="475488"/>
          </a:xfrm>
          <a:prstGeom prst="ellipse">
            <a:avLst/>
          </a:prstGeom>
          <a:solidFill>
            <a:srgbClr val="7FC04C"/>
          </a:solidFill>
          <a:ln/>
        </p:spPr>
        <p:txBody>
          <a:bodyPr/>
          <a:p/>
        </p:txBody>
      </p:sp>
      <p:sp>
        <p:nvSpPr>
          <p:cNvPr id="10" name="Text 8"/>
          <p:cNvSpPr txBox="1"/>
          <p:nvPr/>
        </p:nvSpPr>
        <p:spPr>
          <a:xfrm>
            <a:off x="548640" y="345643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3</a:t>
            </a:r>
            <a:endParaRPr lang="en-US" sz="1700" dirty="0"/>
          </a:p>
        </p:txBody>
      </p:sp>
      <p:sp>
        <p:nvSpPr>
          <p:cNvPr id="11" name="Text 9"/>
          <p:cNvSpPr txBox="1"/>
          <p:nvPr/>
        </p:nvSpPr>
        <p:spPr>
          <a:xfrm>
            <a:off x="1207008" y="3410712"/>
            <a:ext cx="565099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Wait for the browser
</a:t>
            </a:r>
            <a:pPr indent="0" marL="0">
              <a:buNone/>
            </a:pPr>
            <a:r>
              <a:rPr lang="en-US" sz="1250" dirty="0">
                <a:solidFill>
                  <a:srgbClr val="5F7178"/>
                </a:solidFill>
                <a:latin typeface="Calibri" pitchFamily="34" charset="0"/>
                <a:ea typeface="Calibri" pitchFamily="34" charset="-122"/>
                <a:cs typeface="Calibri" pitchFamily="34" charset="-120"/>
              </a:rPr>
              <a:t>The selection page opens itself at localhost:5750 when everything is ready.</a:t>
            </a:r>
            <a:endParaRPr lang="en-US" sz="1450" dirty="0"/>
          </a:p>
        </p:txBody>
      </p:sp>
      <p:sp>
        <p:nvSpPr>
          <p:cNvPr id="12" name="Shape 10"/>
          <p:cNvSpPr/>
          <p:nvPr/>
        </p:nvSpPr>
        <p:spPr>
          <a:xfrm>
            <a:off x="548640" y="4462272"/>
            <a:ext cx="475488" cy="475488"/>
          </a:xfrm>
          <a:prstGeom prst="ellipse">
            <a:avLst/>
          </a:prstGeom>
          <a:solidFill>
            <a:srgbClr val="7FC04C"/>
          </a:solidFill>
          <a:ln/>
        </p:spPr>
        <p:txBody>
          <a:bodyPr/>
          <a:p/>
        </p:txBody>
      </p:sp>
      <p:sp>
        <p:nvSpPr>
          <p:cNvPr id="13" name="Text 11"/>
          <p:cNvSpPr txBox="1"/>
          <p:nvPr/>
        </p:nvSpPr>
        <p:spPr>
          <a:xfrm>
            <a:off x="548640" y="446227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4</a:t>
            </a:r>
            <a:endParaRPr lang="en-US" sz="1700" dirty="0"/>
          </a:p>
        </p:txBody>
      </p:sp>
      <p:sp>
        <p:nvSpPr>
          <p:cNvPr id="14" name="Text 12"/>
          <p:cNvSpPr txBox="1"/>
          <p:nvPr/>
        </p:nvSpPr>
        <p:spPr>
          <a:xfrm>
            <a:off x="1207008" y="4416552"/>
            <a:ext cx="565099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Choose the report type
</a:t>
            </a:r>
            <a:pPr indent="0" marL="0">
              <a:buNone/>
            </a:pPr>
            <a:r>
              <a:rPr lang="en-US" sz="1250" dirty="0">
                <a:solidFill>
                  <a:srgbClr val="5F7178"/>
                </a:solidFill>
                <a:latin typeface="Calibri" pitchFamily="34" charset="0"/>
                <a:ea typeface="Calibri" pitchFamily="34" charset="-122"/>
                <a:cs typeface="Calibri" pitchFamily="34" charset="-120"/>
              </a:rPr>
              <a:t>Pick "i-STAT — Point of Care" or "ABL — Blood Gas" from the drop-down and click Open. Green dots = engine ready.</a:t>
            </a:r>
            <a:endParaRPr lang="en-US" sz="1450" dirty="0"/>
          </a:p>
        </p:txBody>
      </p:sp>
      <p:sp>
        <p:nvSpPr>
          <p:cNvPr id="15" name="Shape 13"/>
          <p:cNvSpPr/>
          <p:nvPr/>
        </p:nvSpPr>
        <p:spPr>
          <a:xfrm>
            <a:off x="7196328" y="1389888"/>
            <a:ext cx="4489704" cy="3200400"/>
          </a:xfrm>
          <a:prstGeom prst="roundRect">
            <a:avLst>
              <a:gd name="adj" fmla="val 2286"/>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txBody>
          <a:bodyPr/>
          <a:p/>
        </p:txBody>
      </p:sp>
      <p:pic>
        <p:nvPicPr>
          <p:cNvPr id="16" name="Image 0" descr="portal.png">    </p:cNvPr>
          <p:cNvPicPr>
            <a:picLocks noChangeAspect="1"/>
          </p:cNvPicPr>
          <p:nvPr/>
        </p:nvPicPr>
        <p:blipFill>
          <a:blip r:embed="rId1"/>
          <a:stretch>
            <a:fillRect/>
          </a:stretch>
        </p:blipFill>
        <p:spPr>
          <a:xfrm>
            <a:off x="7269480" y="1463040"/>
            <a:ext cx="4343400" cy="3054096"/>
          </a:xfrm>
          <a:prstGeom prst="rect">
            <a:avLst/>
          </a:prstGeom>
        </p:spPr>
      </p:pic>
      <p:sp>
        <p:nvSpPr>
          <p:cNvPr id="17" name="Text 14"/>
          <p:cNvSpPr txBox="1"/>
          <p:nvPr/>
        </p:nvSpPr>
        <p:spPr>
          <a:xfrm>
            <a:off x="7196328" y="4626864"/>
            <a:ext cx="4489704" cy="320040"/>
          </a:xfrm>
          <a:prstGeom prst="rect">
            <a:avLst/>
          </a:prstGeom>
          <a:noFill/>
          <a:ln/>
        </p:spPr>
        <p:txBody>
          <a:bodyPr wrap="square" lIns="0" tIns="0" rIns="0" bIns="0" rtlCol="0" anchor="ctr"/>
          <a:lstStyle/>
          <a:p>
            <a:pPr algn="ctr" indent="0" marL="0">
              <a:buNone/>
            </a:pPr>
            <a:r>
              <a:rPr lang="en-US" sz="1100" i="1" dirty="0">
                <a:solidFill>
                  <a:srgbClr val="5F7178"/>
                </a:solidFill>
                <a:latin typeface="Calibri" pitchFamily="34" charset="0"/>
                <a:ea typeface="Calibri" pitchFamily="34" charset="-122"/>
                <a:cs typeface="Calibri" pitchFamily="34" charset="-120"/>
              </a:rPr>
              <a:t>The selection page — both engines show a green dot when ready</a:t>
            </a:r>
            <a:endParaRPr lang="en-US" sz="1100" dirty="0"/>
          </a:p>
        </p:txBody>
      </p:sp>
      <p:sp>
        <p:nvSpPr>
          <p:cNvPr id="18" name="Text 15"/>
          <p:cNvSpPr txBox="1"/>
          <p:nvPr/>
        </p:nvSpPr>
        <p:spPr>
          <a:xfrm>
            <a:off x="7269480" y="4892040"/>
            <a:ext cx="4343400" cy="822960"/>
          </a:xfrm>
          <a:prstGeom prst="rect">
            <a:avLst/>
          </a:prstGeom>
          <a:noFill/>
          <a:ln/>
        </p:spPr>
        <p:txBody>
          <a:bodyPr wrap="square" lIns="0" tIns="0" rIns="0" bIns="0" rtlCol="0" anchor="ctr"/>
          <a:lstStyle/>
          <a:p>
            <a:pPr indent="0" marL="0">
              <a:buNone/>
            </a:pPr>
            <a:r>
              <a:rPr lang="en-US" sz="1250" i="1" dirty="0">
                <a:solidFill>
                  <a:srgbClr val="5F7178"/>
                </a:solidFill>
                <a:latin typeface="Calibri" pitchFamily="34" charset="0"/>
                <a:ea typeface="Calibri" pitchFamily="34" charset="-122"/>
                <a:cs typeface="Calibri" pitchFamily="34" charset="-120"/>
              </a:rPr>
              <a:t>New PC? The selection page shows a lock card with the machine ID — send it to the PoC lead and install the licence file (.lic) you receive. Both report types can be run in one session.</a:t>
            </a:r>
            <a:endParaRPr lang="en-US" sz="1250" dirty="0"/>
          </a:p>
        </p:txBody>
      </p:sp>
      <p:sp>
        <p:nvSpPr>
          <p:cNvPr id="19" name="Shape 16"/>
          <p:cNvSpPr/>
          <p:nvPr/>
        </p:nvSpPr>
        <p:spPr>
          <a:xfrm>
            <a:off x="0" y="6793992"/>
            <a:ext cx="2040636" cy="64008"/>
          </a:xfrm>
          <a:prstGeom prst="rect">
            <a:avLst/>
          </a:prstGeom>
          <a:solidFill>
            <a:srgbClr val="01485C"/>
          </a:solidFill>
          <a:ln/>
        </p:spPr>
      </p:sp>
      <p:sp>
        <p:nvSpPr>
          <p:cNvPr id="20" name="Shape 17"/>
          <p:cNvSpPr/>
          <p:nvPr/>
        </p:nvSpPr>
        <p:spPr>
          <a:xfrm>
            <a:off x="2031492" y="6793992"/>
            <a:ext cx="2040636" cy="64008"/>
          </a:xfrm>
          <a:prstGeom prst="rect">
            <a:avLst/>
          </a:prstGeom>
          <a:solidFill>
            <a:srgbClr val="146175"/>
          </a:solidFill>
          <a:ln/>
        </p:spPr>
      </p:sp>
      <p:sp>
        <p:nvSpPr>
          <p:cNvPr id="21" name="Shape 18"/>
          <p:cNvSpPr/>
          <p:nvPr/>
        </p:nvSpPr>
        <p:spPr>
          <a:xfrm>
            <a:off x="4062984" y="6793992"/>
            <a:ext cx="2040636" cy="64008"/>
          </a:xfrm>
          <a:prstGeom prst="rect">
            <a:avLst/>
          </a:prstGeom>
          <a:solidFill>
            <a:srgbClr val="11B5AE"/>
          </a:solidFill>
          <a:ln/>
        </p:spPr>
      </p:sp>
      <p:sp>
        <p:nvSpPr>
          <p:cNvPr id="22" name="Shape 19"/>
          <p:cNvSpPr/>
          <p:nvPr/>
        </p:nvSpPr>
        <p:spPr>
          <a:xfrm>
            <a:off x="6094476" y="6793992"/>
            <a:ext cx="2040636" cy="64008"/>
          </a:xfrm>
          <a:prstGeom prst="rect">
            <a:avLst/>
          </a:prstGeom>
          <a:solidFill>
            <a:srgbClr val="6CCAD4"/>
          </a:solidFill>
          <a:ln/>
        </p:spPr>
      </p:sp>
      <p:sp>
        <p:nvSpPr>
          <p:cNvPr id="23" name="Shape 20"/>
          <p:cNvSpPr/>
          <p:nvPr/>
        </p:nvSpPr>
        <p:spPr>
          <a:xfrm>
            <a:off x="8125968" y="6793992"/>
            <a:ext cx="2040636" cy="64008"/>
          </a:xfrm>
          <a:prstGeom prst="rect">
            <a:avLst/>
          </a:prstGeom>
          <a:solidFill>
            <a:srgbClr val="7FC04C"/>
          </a:solidFill>
          <a:ln/>
        </p:spPr>
      </p:sp>
      <p:sp>
        <p:nvSpPr>
          <p:cNvPr id="24" name="Shape 21"/>
          <p:cNvSpPr/>
          <p:nvPr/>
        </p:nvSpPr>
        <p:spPr>
          <a:xfrm>
            <a:off x="10157460" y="6793992"/>
            <a:ext cx="2040636" cy="64008"/>
          </a:xfrm>
          <a:prstGeom prst="rect">
            <a:avLst/>
          </a:prstGeom>
          <a:solidFill>
            <a:srgbClr val="E1DD57"/>
          </a:solidFill>
          <a:ln/>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Licensing a PC (first use on a computer)</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txBody>
          <a:bodyPr/>
          <a:p/>
        </p:txBody>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BOTH</a:t>
            </a:r>
            <a:endParaRPr lang="en-US" sz="1500" dirty="0"/>
          </a:p>
        </p:txBody>
      </p:sp>
      <p:sp>
        <p:nvSpPr>
          <p:cNvPr id="5" name="Shape 3"/>
          <p:cNvSpPr/>
          <p:nvPr/>
        </p:nvSpPr>
        <p:spPr>
          <a:xfrm>
            <a:off x="548640" y="1463040"/>
            <a:ext cx="5486400" cy="2103120"/>
          </a:xfrm>
          <a:prstGeom prst="roundRect">
            <a:avLst>
              <a:gd name="adj" fmla="val 5217"/>
            </a:avLst>
          </a:prstGeom>
          <a:solidFill>
            <a:srgbClr val="E5F2F0"/>
          </a:solidFill>
          <a:ln/>
        </p:spPr>
        <p:txBody>
          <a:bodyPr/>
          <a:p/>
        </p:txBody>
      </p:sp>
      <p:sp>
        <p:nvSpPr>
          <p:cNvPr id="6" name="Text 4"/>
          <p:cNvSpPr txBox="1"/>
          <p:nvPr/>
        </p:nvSpPr>
        <p:spPr>
          <a:xfrm>
            <a:off x="822960" y="1664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The lock card</a:t>
            </a:r>
            <a:endParaRPr lang="en-US" sz="1600" dirty="0"/>
          </a:p>
        </p:txBody>
      </p:sp>
      <p:sp>
        <p:nvSpPr>
          <p:cNvPr id="7" name="Text 5"/>
          <p:cNvSpPr txBox="1"/>
          <p:nvPr/>
        </p:nvSpPr>
        <p:spPr>
          <a:xfrm>
            <a:off x="822960" y="2148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On a PC without a licence the selection page shows PC NOT LICENSED with the machine ID and hostname instead of the report-type drop-down. Nothing runs until a licence covering this PC is installed — the engines show a lock page too.</a:t>
            </a:r>
            <a:endParaRPr lang="en-US" sz="1300" dirty="0"/>
          </a:p>
        </p:txBody>
      </p:sp>
      <p:sp>
        <p:nvSpPr>
          <p:cNvPr id="8" name="Shape 6"/>
          <p:cNvSpPr/>
          <p:nvPr/>
        </p:nvSpPr>
        <p:spPr>
          <a:xfrm>
            <a:off x="6172200" y="1463040"/>
            <a:ext cx="5486400" cy="2103120"/>
          </a:xfrm>
          <a:prstGeom prst="roundRect">
            <a:avLst>
              <a:gd name="adj" fmla="val 5217"/>
            </a:avLst>
          </a:prstGeom>
          <a:solidFill>
            <a:srgbClr val="FDF0E4"/>
          </a:solidFill>
          <a:ln/>
        </p:spPr>
        <p:txBody>
          <a:bodyPr/>
          <a:p/>
        </p:txBody>
      </p:sp>
      <p:sp>
        <p:nvSpPr>
          <p:cNvPr id="9" name="Text 7"/>
          <p:cNvSpPr txBox="1"/>
          <p:nvPr/>
        </p:nvSpPr>
        <p:spPr>
          <a:xfrm>
            <a:off x="6446520" y="1664208"/>
            <a:ext cx="4937760" cy="411480"/>
          </a:xfrm>
          <a:prstGeom prst="rect">
            <a:avLst/>
          </a:prstGeom>
          <a:noFill/>
          <a:ln/>
        </p:spPr>
        <p:txBody>
          <a:bodyPr wrap="square" lIns="0" tIns="0" rIns="0" bIns="0" rtlCol="0" anchor="ctr"/>
          <a:lstStyle/>
          <a:p>
            <a:pPr indent="0" marL="0">
              <a:buNone/>
            </a:pPr>
            <a:r>
              <a:rPr lang="en-US" sz="1600" b="1" dirty="0">
                <a:solidFill>
                  <a:srgbClr val="B4540A"/>
                </a:solidFill>
                <a:latin typeface="Calibri" pitchFamily="34" charset="0"/>
                <a:ea typeface="Calibri" pitchFamily="34" charset="-122"/>
                <a:cs typeface="Calibri" pitchFamily="34" charset="-120"/>
              </a:rPr>
              <a:t>Getting a licence</a:t>
            </a:r>
            <a:endParaRPr lang="en-US" sz="1600" dirty="0"/>
          </a:p>
        </p:txBody>
      </p:sp>
      <p:sp>
        <p:nvSpPr>
          <p:cNvPr id="10" name="Text 8"/>
          <p:cNvSpPr txBox="1"/>
          <p:nvPr/>
        </p:nvSpPr>
        <p:spPr>
          <a:xfrm>
            <a:off x="6446520" y="2148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Send the machine ID to the PoC lead. You receive a small .lic file issued for that PC, valid for 12 months. Licences cannot be created on the drive — only the PoC lead’s keygen can issue one.</a:t>
            </a:r>
            <a:endParaRPr lang="en-US" sz="1300" dirty="0"/>
          </a:p>
        </p:txBody>
      </p:sp>
      <p:sp>
        <p:nvSpPr>
          <p:cNvPr id="11" name="Shape 9"/>
          <p:cNvSpPr/>
          <p:nvPr/>
        </p:nvSpPr>
        <p:spPr>
          <a:xfrm>
            <a:off x="548640" y="3749040"/>
            <a:ext cx="5486400" cy="2103120"/>
          </a:xfrm>
          <a:prstGeom prst="roundRect">
            <a:avLst>
              <a:gd name="adj" fmla="val 5217"/>
            </a:avLst>
          </a:prstGeom>
          <a:solidFill>
            <a:srgbClr val="E5F2F0"/>
          </a:solidFill>
          <a:ln/>
        </p:spPr>
        <p:txBody>
          <a:bodyPr/>
          <a:p/>
        </p:txBody>
      </p:sp>
      <p:sp>
        <p:nvSpPr>
          <p:cNvPr id="12" name="Text 10"/>
          <p:cNvSpPr txBox="1"/>
          <p:nvPr/>
        </p:nvSpPr>
        <p:spPr>
          <a:xfrm>
            <a:off x="822960" y="3950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Installing it</a:t>
            </a:r>
            <a:endParaRPr lang="en-US" sz="1600" dirty="0"/>
          </a:p>
        </p:txBody>
      </p:sp>
      <p:sp>
        <p:nvSpPr>
          <p:cNvPr id="13" name="Text 11"/>
          <p:cNvSpPr txBox="1"/>
          <p:nvPr/>
        </p:nvSpPr>
        <p:spPr>
          <a:xfrm>
            <a:off x="822960" y="4434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Choose the file under Install licence file and click Install licence — or copy it to the root of the drive. The page reloads with the normal drop-down and the engines unlock at once.</a:t>
            </a:r>
            <a:endParaRPr lang="en-US" sz="1300" dirty="0"/>
          </a:p>
        </p:txBody>
      </p:sp>
      <p:sp>
        <p:nvSpPr>
          <p:cNvPr id="14" name="Shape 12"/>
          <p:cNvSpPr/>
          <p:nvPr/>
        </p:nvSpPr>
        <p:spPr>
          <a:xfrm>
            <a:off x="6172200" y="3749040"/>
            <a:ext cx="5486400" cy="2103120"/>
          </a:xfrm>
          <a:prstGeom prst="roundRect">
            <a:avLst>
              <a:gd name="adj" fmla="val 5217"/>
            </a:avLst>
          </a:prstGeom>
          <a:solidFill>
            <a:srgbClr val="E5F2F0"/>
          </a:solidFill>
          <a:ln/>
        </p:spPr>
        <p:txBody>
          <a:bodyPr/>
          <a:p/>
        </p:txBody>
      </p:sp>
      <p:sp>
        <p:nvSpPr>
          <p:cNvPr id="15" name="Text 13"/>
          <p:cNvSpPr txBox="1"/>
          <p:nvPr/>
        </p:nvSpPr>
        <p:spPr>
          <a:xfrm>
            <a:off x="6446520" y="3950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Renewal and the Licences page</a:t>
            </a:r>
            <a:endParaRPr lang="en-US" sz="1600" dirty="0"/>
          </a:p>
        </p:txBody>
      </p:sp>
      <p:sp>
        <p:nvSpPr>
          <p:cNvPr id="16" name="Text 14"/>
          <p:cNvSpPr txBox="1"/>
          <p:nvPr/>
        </p:nvSpPr>
        <p:spPr>
          <a:xfrm>
            <a:off x="6446520" y="4434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Licences expire with the 12-month QIS review: a notice appears 30 days before, a 30-day grace period follows, then the PC locks. “Licences” at the foot of the page shows every licence on the drive and the PCs it covers.</a:t>
            </a:r>
            <a:endParaRPr lang="en-US" sz="1300" dirty="0"/>
          </a:p>
        </p:txBody>
      </p:sp>
      <p:sp>
        <p:nvSpPr>
          <p:cNvPr id="17" name="Shape 15"/>
          <p:cNvSpPr/>
          <p:nvPr/>
        </p:nvSpPr>
        <p:spPr>
          <a:xfrm>
            <a:off x="0" y="6793992"/>
            <a:ext cx="2040636" cy="64008"/>
          </a:xfrm>
          <a:prstGeom prst="rect">
            <a:avLst/>
          </a:prstGeom>
          <a:solidFill>
            <a:srgbClr val="01485C"/>
          </a:solidFill>
          <a:ln/>
        </p:spPr>
      </p:sp>
      <p:sp>
        <p:nvSpPr>
          <p:cNvPr id="18" name="Shape 16"/>
          <p:cNvSpPr/>
          <p:nvPr/>
        </p:nvSpPr>
        <p:spPr>
          <a:xfrm>
            <a:off x="2031492" y="6793992"/>
            <a:ext cx="2040636" cy="64008"/>
          </a:xfrm>
          <a:prstGeom prst="rect">
            <a:avLst/>
          </a:prstGeom>
          <a:solidFill>
            <a:srgbClr val="146175"/>
          </a:solidFill>
          <a:ln/>
        </p:spPr>
      </p:sp>
      <p:sp>
        <p:nvSpPr>
          <p:cNvPr id="19" name="Shape 17"/>
          <p:cNvSpPr/>
          <p:nvPr/>
        </p:nvSpPr>
        <p:spPr>
          <a:xfrm>
            <a:off x="4062984" y="6793992"/>
            <a:ext cx="2040636" cy="64008"/>
          </a:xfrm>
          <a:prstGeom prst="rect">
            <a:avLst/>
          </a:prstGeom>
          <a:solidFill>
            <a:srgbClr val="11B5AE"/>
          </a:solidFill>
          <a:ln/>
        </p:spPr>
      </p:sp>
      <p:sp>
        <p:nvSpPr>
          <p:cNvPr id="20" name="Shape 18"/>
          <p:cNvSpPr/>
          <p:nvPr/>
        </p:nvSpPr>
        <p:spPr>
          <a:xfrm>
            <a:off x="6094476" y="6793992"/>
            <a:ext cx="2040636" cy="64008"/>
          </a:xfrm>
          <a:prstGeom prst="rect">
            <a:avLst/>
          </a:prstGeom>
          <a:solidFill>
            <a:srgbClr val="6CCAD4"/>
          </a:solidFill>
          <a:ln/>
        </p:spPr>
      </p:sp>
      <p:sp>
        <p:nvSpPr>
          <p:cNvPr id="21" name="Shape 19"/>
          <p:cNvSpPr/>
          <p:nvPr/>
        </p:nvSpPr>
        <p:spPr>
          <a:xfrm>
            <a:off x="8125968" y="6793992"/>
            <a:ext cx="2040636" cy="64008"/>
          </a:xfrm>
          <a:prstGeom prst="rect">
            <a:avLst/>
          </a:prstGeom>
          <a:solidFill>
            <a:srgbClr val="7FC04C"/>
          </a:solidFill>
          <a:ln/>
        </p:spPr>
      </p:sp>
      <p:sp>
        <p:nvSpPr>
          <p:cNvPr id="22" name="Shape 20"/>
          <p:cNvSpPr/>
          <p:nvPr/>
        </p:nvSpPr>
        <p:spPr>
          <a:xfrm>
            <a:off x="10157460" y="6793992"/>
            <a:ext cx="2040636" cy="64008"/>
          </a:xfrm>
          <a:prstGeom prst="rect">
            <a:avLst/>
          </a:prstGeom>
          <a:solidFill>
            <a:srgbClr val="E1DD57"/>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Unlock the history</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548640" y="1581912"/>
            <a:ext cx="475488" cy="475488"/>
          </a:xfrm>
          <a:prstGeom prst="ellipse">
            <a:avLst/>
          </a:prstGeom>
          <a:solidFill>
            <a:srgbClr val="7FC04C"/>
          </a:solidFill>
          <a:ln/>
        </p:spPr>
      </p:sp>
      <p:sp>
        <p:nvSpPr>
          <p:cNvPr id="6" name="Text 4"/>
          <p:cNvSpPr txBox="1"/>
          <p:nvPr/>
        </p:nvSpPr>
        <p:spPr>
          <a:xfrm>
            <a:off x="548640" y="158191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07008" y="153619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Enter the history password
</a:t>
            </a:r>
            <a:pPr indent="0" marL="0">
              <a:buNone/>
            </a:pPr>
            <a:r>
              <a:rPr lang="en-US" sz="1250" dirty="0">
                <a:solidFill>
                  <a:srgbClr val="5F7178"/>
                </a:solidFill>
                <a:latin typeface="Calibri" pitchFamily="34" charset="0"/>
                <a:ea typeface="Calibri" pitchFamily="34" charset="-122"/>
                <a:cs typeface="Calibri" pitchFamily="34" charset="-120"/>
              </a:rPr>
              <a:t>The i-STAT app opens on this screen every launch. Type the team’s history password and press Unlock (or Enter).</a:t>
            </a:r>
            <a:endParaRPr lang="en-US" sz="1450" dirty="0"/>
          </a:p>
        </p:txBody>
      </p:sp>
      <p:sp>
        <p:nvSpPr>
          <p:cNvPr id="8" name="Shape 6"/>
          <p:cNvSpPr/>
          <p:nvPr/>
        </p:nvSpPr>
        <p:spPr>
          <a:xfrm>
            <a:off x="548640" y="2770632"/>
            <a:ext cx="475488" cy="475488"/>
          </a:xfrm>
          <a:prstGeom prst="ellipse">
            <a:avLst/>
          </a:prstGeom>
          <a:solidFill>
            <a:srgbClr val="7FC04C"/>
          </a:solidFill>
          <a:ln/>
        </p:spPr>
      </p:sp>
      <p:sp>
        <p:nvSpPr>
          <p:cNvPr id="9" name="Text 7"/>
          <p:cNvSpPr txBox="1"/>
          <p:nvPr/>
        </p:nvSpPr>
        <p:spPr>
          <a:xfrm>
            <a:off x="548640" y="277063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07008" y="272491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Wrong password?
</a:t>
            </a:r>
            <a:pPr indent="0" marL="0">
              <a:buNone/>
            </a:pPr>
            <a:r>
              <a:rPr lang="en-US" sz="1250" dirty="0">
                <a:solidFill>
                  <a:srgbClr val="5F7178"/>
                </a:solidFill>
                <a:latin typeface="Calibri" pitchFamily="34" charset="0"/>
                <a:ea typeface="Calibri" pitchFamily="34" charset="-122"/>
                <a:cs typeface="Calibri" pitchFamily="34" charset="-120"/>
              </a:rPr>
              <a:t>You get a clear message and can try again. Every attempt is recorded in the audit log.</a:t>
            </a:r>
            <a:endParaRPr lang="en-US" sz="1450" dirty="0"/>
          </a:p>
        </p:txBody>
      </p:sp>
      <p:sp>
        <p:nvSpPr>
          <p:cNvPr id="11" name="Shape 9"/>
          <p:cNvSpPr/>
          <p:nvPr/>
        </p:nvSpPr>
        <p:spPr>
          <a:xfrm>
            <a:off x="548640" y="3977640"/>
            <a:ext cx="6035040" cy="1554480"/>
          </a:xfrm>
          <a:prstGeom prst="roundRect">
            <a:avLst>
              <a:gd name="adj" fmla="val 7059"/>
            </a:avLst>
          </a:prstGeom>
          <a:solidFill>
            <a:srgbClr val="FDF0E4"/>
          </a:solidFill>
          <a:ln w="19050">
            <a:solidFill>
              <a:srgbClr val="B4540A"/>
            </a:solidFill>
            <a:prstDash val="solid"/>
          </a:ln>
        </p:spPr>
      </p:sp>
      <p:sp>
        <p:nvSpPr>
          <p:cNvPr id="12" name="Text 10"/>
          <p:cNvSpPr txBox="1"/>
          <p:nvPr/>
        </p:nvSpPr>
        <p:spPr>
          <a:xfrm>
            <a:off x="822960" y="4160520"/>
            <a:ext cx="5486400" cy="1234440"/>
          </a:xfrm>
          <a:prstGeom prst="rect">
            <a:avLst/>
          </a:prstGeom>
          <a:noFill/>
          <a:ln/>
        </p:spPr>
        <p:txBody>
          <a:bodyPr wrap="square" lIns="0" tIns="0" rIns="0" bIns="0" rtlCol="0" anchor="t"/>
          <a:lstStyle/>
          <a:p>
            <a:pPr indent="0" marL="0">
              <a:buNone/>
            </a:pPr>
            <a:r>
              <a:rPr lang="en-US" sz="1350" b="1" dirty="0">
                <a:solidFill>
                  <a:srgbClr val="B4540A"/>
                </a:solidFill>
                <a:latin typeface="Calibri" pitchFamily="34" charset="0"/>
                <a:ea typeface="Calibri" pitchFamily="34" charset="-122"/>
                <a:cs typeface="Calibri" pitchFamily="34" charset="-120"/>
              </a:rPr>
              <a:t>Forgotten password?  </a:t>
            </a:r>
            <a:pPr indent="0" marL="0">
              <a:buNone/>
            </a:pPr>
            <a:r>
              <a:rPr lang="en-US" sz="1350" dirty="0">
                <a:solidFill>
                  <a:srgbClr val="17272E"/>
                </a:solidFill>
                <a:latin typeface="Calibri" pitchFamily="34" charset="0"/>
                <a:ea typeface="Calibri" pitchFamily="34" charset="-122"/>
                <a:cs typeface="Calibri" pitchFamily="34" charset="-120"/>
              </a:rPr>
              <a:t>There is no recovery — by design. The history must be reset and rebuilt from the retained monthly exports. Contact the PoC lead before touching anything.</a:t>
            </a:r>
            <a:endParaRPr lang="en-US" sz="1350" dirty="0"/>
          </a:p>
        </p:txBody>
      </p:sp>
      <p:sp>
        <p:nvSpPr>
          <p:cNvPr id="13" name="Shape 11"/>
          <p:cNvSpPr/>
          <p:nvPr/>
        </p:nvSpPr>
        <p:spPr>
          <a:xfrm>
            <a:off x="7242048" y="1481328"/>
            <a:ext cx="4443984" cy="3163824"/>
          </a:xfrm>
          <a:prstGeom prst="roundRect">
            <a:avLst>
              <a:gd name="adj" fmla="val 2312"/>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sp>
      <p:pic>
        <p:nvPicPr>
          <p:cNvPr id="14" name="Image 0" descr="lockscreen.png">    </p:cNvPr>
          <p:cNvPicPr>
            <a:picLocks noChangeAspect="1"/>
          </p:cNvPicPr>
          <p:nvPr/>
        </p:nvPicPr>
        <p:blipFill>
          <a:blip r:embed="rId1"/>
          <a:stretch>
            <a:fillRect/>
          </a:stretch>
        </p:blipFill>
        <p:spPr>
          <a:xfrm>
            <a:off x="7315200" y="1554480"/>
            <a:ext cx="4297680" cy="3017520"/>
          </a:xfrm>
          <a:prstGeom prst="rect">
            <a:avLst/>
          </a:prstGeom>
        </p:spPr>
      </p:pic>
      <p:sp>
        <p:nvSpPr>
          <p:cNvPr id="15" name="Text 12"/>
          <p:cNvSpPr txBox="1"/>
          <p:nvPr/>
        </p:nvSpPr>
        <p:spPr>
          <a:xfrm>
            <a:off x="7242048" y="4681728"/>
            <a:ext cx="4443984" cy="320040"/>
          </a:xfrm>
          <a:prstGeom prst="rect">
            <a:avLst/>
          </a:prstGeom>
          <a:noFill/>
          <a:ln/>
        </p:spPr>
        <p:txBody>
          <a:bodyPr wrap="square" lIns="0" tIns="0" rIns="0" bIns="0" rtlCol="0" anchor="ctr"/>
          <a:lstStyle/>
          <a:p>
            <a:pPr algn="ctr" indent="0" marL="0">
              <a:buNone/>
            </a:pPr>
            <a:r>
              <a:rPr lang="en-US" sz="1100" i="1" dirty="0">
                <a:solidFill>
                  <a:srgbClr val="5F7178"/>
                </a:solidFill>
                <a:latin typeface="Calibri" pitchFamily="34" charset="0"/>
                <a:ea typeface="Calibri" pitchFamily="34" charset="-122"/>
                <a:cs typeface="Calibri" pitchFamily="34" charset="-120"/>
              </a:rPr>
              <a:t>Reports cannot be generated until unlocked</a:t>
            </a:r>
            <a:endParaRPr lang="en-US" sz="1100" dirty="0"/>
          </a:p>
        </p:txBody>
      </p:sp>
      <p:sp>
        <p:nvSpPr>
          <p:cNvPr id="16" name="Shape 13"/>
          <p:cNvSpPr/>
          <p:nvPr/>
        </p:nvSpPr>
        <p:spPr>
          <a:xfrm>
            <a:off x="0" y="6793992"/>
            <a:ext cx="2040636" cy="64008"/>
          </a:xfrm>
          <a:prstGeom prst="rect">
            <a:avLst/>
          </a:prstGeom>
          <a:solidFill>
            <a:srgbClr val="01485C"/>
          </a:solidFill>
          <a:ln/>
        </p:spPr>
      </p:sp>
      <p:sp>
        <p:nvSpPr>
          <p:cNvPr id="17" name="Shape 14"/>
          <p:cNvSpPr/>
          <p:nvPr/>
        </p:nvSpPr>
        <p:spPr>
          <a:xfrm>
            <a:off x="2031492" y="6793992"/>
            <a:ext cx="2040636" cy="64008"/>
          </a:xfrm>
          <a:prstGeom prst="rect">
            <a:avLst/>
          </a:prstGeom>
          <a:solidFill>
            <a:srgbClr val="146175"/>
          </a:solidFill>
          <a:ln/>
        </p:spPr>
      </p:sp>
      <p:sp>
        <p:nvSpPr>
          <p:cNvPr id="18" name="Shape 15"/>
          <p:cNvSpPr/>
          <p:nvPr/>
        </p:nvSpPr>
        <p:spPr>
          <a:xfrm>
            <a:off x="4062984" y="6793992"/>
            <a:ext cx="2040636" cy="64008"/>
          </a:xfrm>
          <a:prstGeom prst="rect">
            <a:avLst/>
          </a:prstGeom>
          <a:solidFill>
            <a:srgbClr val="11B5AE"/>
          </a:solidFill>
          <a:ln/>
        </p:spPr>
      </p:sp>
      <p:sp>
        <p:nvSpPr>
          <p:cNvPr id="19" name="Shape 16"/>
          <p:cNvSpPr/>
          <p:nvPr/>
        </p:nvSpPr>
        <p:spPr>
          <a:xfrm>
            <a:off x="6094476" y="6793992"/>
            <a:ext cx="2040636" cy="64008"/>
          </a:xfrm>
          <a:prstGeom prst="rect">
            <a:avLst/>
          </a:prstGeom>
          <a:solidFill>
            <a:srgbClr val="6CCAD4"/>
          </a:solidFill>
          <a:ln/>
        </p:spPr>
      </p:sp>
      <p:sp>
        <p:nvSpPr>
          <p:cNvPr id="20" name="Shape 17"/>
          <p:cNvSpPr/>
          <p:nvPr/>
        </p:nvSpPr>
        <p:spPr>
          <a:xfrm>
            <a:off x="8125968" y="6793992"/>
            <a:ext cx="2040636" cy="64008"/>
          </a:xfrm>
          <a:prstGeom prst="rect">
            <a:avLst/>
          </a:prstGeom>
          <a:solidFill>
            <a:srgbClr val="7FC04C"/>
          </a:solidFill>
          <a:ln/>
        </p:spPr>
      </p:sp>
      <p:sp>
        <p:nvSpPr>
          <p:cNvPr id="21" name="Shape 18"/>
          <p:cNvSpPr/>
          <p:nvPr/>
        </p:nvSpPr>
        <p:spPr>
          <a:xfrm>
            <a:off x="10157460" y="6793992"/>
            <a:ext cx="2040636" cy="64008"/>
          </a:xfrm>
          <a:prstGeom prst="rect">
            <a:avLst/>
          </a:prstGeom>
          <a:solidFill>
            <a:srgbClr val="E1DD57"/>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Load the export and set the period</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548640" y="1581912"/>
            <a:ext cx="475488" cy="475488"/>
          </a:xfrm>
          <a:prstGeom prst="ellipse">
            <a:avLst/>
          </a:prstGeom>
          <a:solidFill>
            <a:srgbClr val="7FC04C"/>
          </a:solidFill>
          <a:ln/>
        </p:spPr>
      </p:sp>
      <p:sp>
        <p:nvSpPr>
          <p:cNvPr id="6" name="Text 4"/>
          <p:cNvSpPr txBox="1"/>
          <p:nvPr/>
        </p:nvSpPr>
        <p:spPr>
          <a:xfrm>
            <a:off x="548640" y="158191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07008" y="153619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Drop the monthly export onto Step 1
</a:t>
            </a:r>
            <a:pPr indent="0" marL="0">
              <a:buNone/>
            </a:pPr>
            <a:r>
              <a:rPr lang="en-US" sz="1250" dirty="0">
                <a:solidFill>
                  <a:srgbClr val="5F7178"/>
                </a:solidFill>
                <a:latin typeface="Calibri" pitchFamily="34" charset="0"/>
                <a:ea typeface="Calibri" pitchFamily="34" charset="-122"/>
                <a:cs typeface="Calibri" pitchFamily="34" charset="-120"/>
              </a:rPr>
              <a:t>Drag "iSTAT Report YYYYMM.xlsx" from the "Monthly reports" folder onto the drop zone (or click it to browse).</a:t>
            </a:r>
            <a:endParaRPr lang="en-US" sz="1450" dirty="0"/>
          </a:p>
        </p:txBody>
      </p:sp>
      <p:sp>
        <p:nvSpPr>
          <p:cNvPr id="8" name="Shape 6"/>
          <p:cNvSpPr/>
          <p:nvPr/>
        </p:nvSpPr>
        <p:spPr>
          <a:xfrm>
            <a:off x="548640" y="2770632"/>
            <a:ext cx="475488" cy="475488"/>
          </a:xfrm>
          <a:prstGeom prst="ellipse">
            <a:avLst/>
          </a:prstGeom>
          <a:solidFill>
            <a:srgbClr val="7FC04C"/>
          </a:solidFill>
          <a:ln/>
        </p:spPr>
      </p:sp>
      <p:sp>
        <p:nvSpPr>
          <p:cNvPr id="9" name="Text 7"/>
          <p:cNvSpPr txBox="1"/>
          <p:nvPr/>
        </p:nvSpPr>
        <p:spPr>
          <a:xfrm>
            <a:off x="548640" y="277063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07008" y="272491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Check the report period
</a:t>
            </a:r>
            <a:pPr indent="0" marL="0">
              <a:buNone/>
            </a:pPr>
            <a:r>
              <a:rPr lang="en-US" sz="1250" dirty="0">
                <a:solidFill>
                  <a:srgbClr val="5F7178"/>
                </a:solidFill>
                <a:latin typeface="Calibri" pitchFamily="34" charset="0"/>
                <a:ea typeface="Calibri" pitchFamily="34" charset="-122"/>
                <a:cs typeface="Calibri" pitchFamily="34" charset="-120"/>
              </a:rPr>
              <a:t>Month and year fill in automatically from the filename — correct them if needed.</a:t>
            </a:r>
            <a:endParaRPr lang="en-US" sz="1450" dirty="0"/>
          </a:p>
        </p:txBody>
      </p:sp>
      <p:sp>
        <p:nvSpPr>
          <p:cNvPr id="11" name="Shape 9"/>
          <p:cNvSpPr/>
          <p:nvPr/>
        </p:nvSpPr>
        <p:spPr>
          <a:xfrm>
            <a:off x="548640" y="3959352"/>
            <a:ext cx="475488" cy="475488"/>
          </a:xfrm>
          <a:prstGeom prst="ellipse">
            <a:avLst/>
          </a:prstGeom>
          <a:solidFill>
            <a:srgbClr val="7FC04C"/>
          </a:solidFill>
          <a:ln/>
        </p:spPr>
      </p:sp>
      <p:sp>
        <p:nvSpPr>
          <p:cNvPr id="12" name="Text 10"/>
          <p:cNvSpPr txBox="1"/>
          <p:nvPr/>
        </p:nvSpPr>
        <p:spPr>
          <a:xfrm>
            <a:off x="548640" y="395935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3</a:t>
            </a:r>
            <a:endParaRPr lang="en-US" sz="1700" dirty="0"/>
          </a:p>
        </p:txBody>
      </p:sp>
      <p:sp>
        <p:nvSpPr>
          <p:cNvPr id="13" name="Text 11"/>
          <p:cNvSpPr txBox="1"/>
          <p:nvPr/>
        </p:nvSpPr>
        <p:spPr>
          <a:xfrm>
            <a:off x="1207008" y="391363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Click "Load Hospitals"
</a:t>
            </a:r>
            <a:pPr indent="0" marL="0">
              <a:buNone/>
            </a:pPr>
            <a:r>
              <a:rPr lang="en-US" sz="1250" dirty="0">
                <a:solidFill>
                  <a:srgbClr val="5F7178"/>
                </a:solidFill>
                <a:latin typeface="Calibri" pitchFamily="34" charset="0"/>
                <a:ea typeface="Calibri" pitchFamily="34" charset="-122"/>
                <a:cs typeface="Calibri" pitchFamily="34" charset="-120"/>
              </a:rPr>
              <a:t>The app reads the file and lists every hospital found, grouped by HHS.</a:t>
            </a:r>
            <a:endParaRPr lang="en-US" sz="1450" dirty="0"/>
          </a:p>
        </p:txBody>
      </p:sp>
      <p:sp>
        <p:nvSpPr>
          <p:cNvPr id="14" name="Text 12"/>
          <p:cNvSpPr txBox="1"/>
          <p:nvPr/>
        </p:nvSpPr>
        <p:spPr>
          <a:xfrm>
            <a:off x="548640" y="5120640"/>
            <a:ext cx="6035040" cy="731520"/>
          </a:xfrm>
          <a:prstGeom prst="rect">
            <a:avLst/>
          </a:prstGeom>
          <a:noFill/>
          <a:ln/>
        </p:spPr>
        <p:txBody>
          <a:bodyPr wrap="square" lIns="0" tIns="0" rIns="0" bIns="0" rtlCol="0" anchor="ctr"/>
          <a:lstStyle/>
          <a:p>
            <a:pPr indent="0" marL="0">
              <a:buNone/>
            </a:pPr>
            <a:r>
              <a:rPr lang="en-US" sz="1250" i="1" dirty="0">
                <a:solidFill>
                  <a:srgbClr val="5F7178"/>
                </a:solidFill>
                <a:latin typeface="Calibri" pitchFamily="34" charset="0"/>
                <a:ea typeface="Calibri" pitchFamily="34" charset="-122"/>
                <a:cs typeface="Calibri" pitchFamily="34" charset="-120"/>
              </a:rPr>
              <a:t>If the file is not a valid i-STAT export, the app refuses it with a clear message — it will never silently produce empty reports.</a:t>
            </a:r>
            <a:endParaRPr lang="en-US" sz="1250" dirty="0"/>
          </a:p>
        </p:txBody>
      </p:sp>
      <p:sp>
        <p:nvSpPr>
          <p:cNvPr id="15" name="Shape 13"/>
          <p:cNvSpPr/>
          <p:nvPr/>
        </p:nvSpPr>
        <p:spPr>
          <a:xfrm>
            <a:off x="7242048" y="1481328"/>
            <a:ext cx="4443984" cy="3502152"/>
          </a:xfrm>
          <a:prstGeom prst="roundRect">
            <a:avLst>
              <a:gd name="adj" fmla="val 2089"/>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sp>
      <p:pic>
        <p:nvPicPr>
          <p:cNvPr id="16" name="Image 0" descr="istat_main.png">    </p:cNvPr>
          <p:cNvPicPr>
            <a:picLocks noChangeAspect="1"/>
          </p:cNvPicPr>
          <p:nvPr/>
        </p:nvPicPr>
        <p:blipFill>
          <a:blip r:embed="rId1"/>
          <a:stretch>
            <a:fillRect/>
          </a:stretch>
        </p:blipFill>
        <p:spPr>
          <a:xfrm>
            <a:off x="7315200" y="1554480"/>
            <a:ext cx="4297680" cy="3355848"/>
          </a:xfrm>
          <a:prstGeom prst="rect">
            <a:avLst/>
          </a:prstGeom>
        </p:spPr>
      </p:pic>
      <p:sp>
        <p:nvSpPr>
          <p:cNvPr id="17" name="Text 14"/>
          <p:cNvSpPr txBox="1"/>
          <p:nvPr/>
        </p:nvSpPr>
        <p:spPr>
          <a:xfrm>
            <a:off x="7242048" y="5020056"/>
            <a:ext cx="4443984" cy="320040"/>
          </a:xfrm>
          <a:prstGeom prst="rect">
            <a:avLst/>
          </a:prstGeom>
          <a:noFill/>
          <a:ln/>
        </p:spPr>
        <p:txBody>
          <a:bodyPr wrap="square" lIns="0" tIns="0" rIns="0" bIns="0" rtlCol="0" anchor="ctr"/>
          <a:lstStyle/>
          <a:p>
            <a:pPr algn="ctr" indent="0" marL="0">
              <a:buNone/>
            </a:pPr>
            <a:r>
              <a:rPr lang="en-US" sz="1100" i="1" dirty="0">
                <a:solidFill>
                  <a:srgbClr val="5F7178"/>
                </a:solidFill>
                <a:latin typeface="Calibri" pitchFamily="34" charset="0"/>
                <a:ea typeface="Calibri" pitchFamily="34" charset="-122"/>
                <a:cs typeface="Calibri" pitchFamily="34" charset="-120"/>
              </a:rPr>
              <a:t>Step 1: drop zone · Step 2: report period</a:t>
            </a:r>
            <a:endParaRPr lang="en-US" sz="1100" dirty="0"/>
          </a:p>
        </p:txBody>
      </p:sp>
      <p:sp>
        <p:nvSpPr>
          <p:cNvPr id="18" name="Shape 15"/>
          <p:cNvSpPr/>
          <p:nvPr/>
        </p:nvSpPr>
        <p:spPr>
          <a:xfrm>
            <a:off x="0" y="6793992"/>
            <a:ext cx="2040636" cy="64008"/>
          </a:xfrm>
          <a:prstGeom prst="rect">
            <a:avLst/>
          </a:prstGeom>
          <a:solidFill>
            <a:srgbClr val="01485C"/>
          </a:solidFill>
          <a:ln/>
        </p:spPr>
      </p:sp>
      <p:sp>
        <p:nvSpPr>
          <p:cNvPr id="19" name="Shape 16"/>
          <p:cNvSpPr/>
          <p:nvPr/>
        </p:nvSpPr>
        <p:spPr>
          <a:xfrm>
            <a:off x="2031492" y="6793992"/>
            <a:ext cx="2040636" cy="64008"/>
          </a:xfrm>
          <a:prstGeom prst="rect">
            <a:avLst/>
          </a:prstGeom>
          <a:solidFill>
            <a:srgbClr val="146175"/>
          </a:solidFill>
          <a:ln/>
        </p:spPr>
      </p:sp>
      <p:sp>
        <p:nvSpPr>
          <p:cNvPr id="20" name="Shape 17"/>
          <p:cNvSpPr/>
          <p:nvPr/>
        </p:nvSpPr>
        <p:spPr>
          <a:xfrm>
            <a:off x="4062984" y="6793992"/>
            <a:ext cx="2040636" cy="64008"/>
          </a:xfrm>
          <a:prstGeom prst="rect">
            <a:avLst/>
          </a:prstGeom>
          <a:solidFill>
            <a:srgbClr val="11B5AE"/>
          </a:solidFill>
          <a:ln/>
        </p:spPr>
      </p:sp>
      <p:sp>
        <p:nvSpPr>
          <p:cNvPr id="21" name="Shape 18"/>
          <p:cNvSpPr/>
          <p:nvPr/>
        </p:nvSpPr>
        <p:spPr>
          <a:xfrm>
            <a:off x="6094476" y="6793992"/>
            <a:ext cx="2040636" cy="64008"/>
          </a:xfrm>
          <a:prstGeom prst="rect">
            <a:avLst/>
          </a:prstGeom>
          <a:solidFill>
            <a:srgbClr val="6CCAD4"/>
          </a:solidFill>
          <a:ln/>
        </p:spPr>
      </p:sp>
      <p:sp>
        <p:nvSpPr>
          <p:cNvPr id="22" name="Shape 19"/>
          <p:cNvSpPr/>
          <p:nvPr/>
        </p:nvSpPr>
        <p:spPr>
          <a:xfrm>
            <a:off x="8125968" y="6793992"/>
            <a:ext cx="2040636" cy="64008"/>
          </a:xfrm>
          <a:prstGeom prst="rect">
            <a:avLst/>
          </a:prstGeom>
          <a:solidFill>
            <a:srgbClr val="7FC04C"/>
          </a:solidFill>
          <a:ln/>
        </p:spPr>
      </p:sp>
      <p:sp>
        <p:nvSpPr>
          <p:cNvPr id="23" name="Shape 20"/>
          <p:cNvSpPr/>
          <p:nvPr/>
        </p:nvSpPr>
        <p:spPr>
          <a:xfrm>
            <a:off x="10157460" y="6793992"/>
            <a:ext cx="2040636" cy="64008"/>
          </a:xfrm>
          <a:prstGeom prst="rect">
            <a:avLst/>
          </a:prstGeom>
          <a:solidFill>
            <a:srgbClr val="E1DD57"/>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Select hospitals and generate</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txBody>
          <a:bodyPr/>
          <a:p/>
        </p:txBody>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548640" y="1581912"/>
            <a:ext cx="475488" cy="475488"/>
          </a:xfrm>
          <a:prstGeom prst="ellipse">
            <a:avLst/>
          </a:prstGeom>
          <a:solidFill>
            <a:srgbClr val="7FC04C"/>
          </a:solidFill>
          <a:ln/>
        </p:spPr>
        <p:txBody>
          <a:bodyPr/>
          <a:p/>
        </p:txBody>
      </p:sp>
      <p:sp>
        <p:nvSpPr>
          <p:cNvPr id="6" name="Text 4"/>
          <p:cNvSpPr txBox="1"/>
          <p:nvPr/>
        </p:nvSpPr>
        <p:spPr>
          <a:xfrm>
            <a:off x="548640" y="158191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07008" y="153619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Tick the hospitals you need
</a:t>
            </a:r>
            <a:pPr indent="0" marL="0">
              <a:buNone/>
            </a:pPr>
            <a:r>
              <a:rPr lang="en-US" sz="1250" dirty="0">
                <a:solidFill>
                  <a:srgbClr val="5F7178"/>
                </a:solidFill>
                <a:latin typeface="Calibri" pitchFamily="34" charset="0"/>
                <a:ea typeface="Calibri" pitchFamily="34" charset="-122"/>
                <a:cs typeface="Calibri" pitchFamily="34" charset="-120"/>
              </a:rPr>
              <a:t>Use "Select All", or tick whole HHS groups / individual hospitals. The summary shows the count.</a:t>
            </a:r>
            <a:endParaRPr lang="en-US" sz="1450" dirty="0"/>
          </a:p>
        </p:txBody>
      </p:sp>
      <p:sp>
        <p:nvSpPr>
          <p:cNvPr id="8" name="Shape 6"/>
          <p:cNvSpPr/>
          <p:nvPr/>
        </p:nvSpPr>
        <p:spPr>
          <a:xfrm>
            <a:off x="548640" y="2770632"/>
            <a:ext cx="475488" cy="475488"/>
          </a:xfrm>
          <a:prstGeom prst="ellipse">
            <a:avLst/>
          </a:prstGeom>
          <a:solidFill>
            <a:srgbClr val="7FC04C"/>
          </a:solidFill>
          <a:ln/>
        </p:spPr>
        <p:txBody>
          <a:bodyPr/>
          <a:p/>
        </p:txBody>
      </p:sp>
      <p:sp>
        <p:nvSpPr>
          <p:cNvPr id="9" name="Text 7"/>
          <p:cNvSpPr txBox="1"/>
          <p:nvPr/>
        </p:nvSpPr>
        <p:spPr>
          <a:xfrm>
            <a:off x="548640" y="277063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07008" y="272491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Click "Generate Reports"
</a:t>
            </a:r>
            <a:pPr indent="0" marL="0">
              <a:buNone/>
            </a:pPr>
            <a:r>
              <a:rPr lang="en-US" sz="1250" dirty="0">
                <a:solidFill>
                  <a:srgbClr val="5F7178"/>
                </a:solidFill>
                <a:latin typeface="Calibri" pitchFamily="34" charset="0"/>
                <a:ea typeface="Calibri" pitchFamily="34" charset="-122"/>
                <a:cs typeface="Calibri" pitchFamily="34" charset="-120"/>
              </a:rPr>
              <a:t>A progress bar shows each hospital as it is processed and the number of reports written so far.</a:t>
            </a:r>
            <a:endParaRPr lang="en-US" sz="1450" dirty="0"/>
          </a:p>
        </p:txBody>
      </p:sp>
      <p:sp>
        <p:nvSpPr>
          <p:cNvPr id="11" name="Shape 9"/>
          <p:cNvSpPr/>
          <p:nvPr/>
        </p:nvSpPr>
        <p:spPr>
          <a:xfrm>
            <a:off x="548640" y="3959352"/>
            <a:ext cx="475488" cy="475488"/>
          </a:xfrm>
          <a:prstGeom prst="ellipse">
            <a:avLst/>
          </a:prstGeom>
          <a:solidFill>
            <a:srgbClr val="7FC04C"/>
          </a:solidFill>
          <a:ln/>
        </p:spPr>
        <p:txBody>
          <a:bodyPr/>
          <a:p/>
        </p:txBody>
      </p:sp>
      <p:sp>
        <p:nvSpPr>
          <p:cNvPr id="12" name="Text 10"/>
          <p:cNvSpPr txBox="1"/>
          <p:nvPr/>
        </p:nvSpPr>
        <p:spPr>
          <a:xfrm>
            <a:off x="548640" y="395935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3</a:t>
            </a:r>
            <a:endParaRPr lang="en-US" sz="1700" dirty="0"/>
          </a:p>
        </p:txBody>
      </p:sp>
      <p:sp>
        <p:nvSpPr>
          <p:cNvPr id="13" name="Text 11"/>
          <p:cNvSpPr txBox="1"/>
          <p:nvPr/>
        </p:nvSpPr>
        <p:spPr>
          <a:xfrm>
            <a:off x="1207008" y="391363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Open the reports folder
</a:t>
            </a:r>
            <a:pPr indent="0" marL="0">
              <a:buNone/>
            </a:pPr>
            <a:r>
              <a:rPr lang="en-US" sz="1250" dirty="0">
                <a:solidFill>
                  <a:srgbClr val="5F7178"/>
                </a:solidFill>
                <a:latin typeface="Calibri" pitchFamily="34" charset="0"/>
                <a:ea typeface="Calibri" pitchFamily="34" charset="-122"/>
                <a:cs typeface="Calibri" pitchFamily="34" charset="-120"/>
              </a:rPr>
              <a:t>When "Reports Ready" appears, click the button — reports are filed by HHS, with the count of documents written and of dormant analysers left out.</a:t>
            </a:r>
            <a:endParaRPr lang="en-US" sz="1450" dirty="0"/>
          </a:p>
        </p:txBody>
      </p:sp>
      <p:sp>
        <p:nvSpPr>
          <p:cNvPr id="14" name="Shape 12"/>
          <p:cNvSpPr/>
          <p:nvPr/>
        </p:nvSpPr>
        <p:spPr>
          <a:xfrm>
            <a:off x="7315200" y="1554480"/>
            <a:ext cx="4297680" cy="932688"/>
          </a:xfrm>
          <a:prstGeom prst="roundRect">
            <a:avLst>
              <a:gd name="adj" fmla="val 9804"/>
            </a:avLst>
          </a:prstGeom>
          <a:solidFill>
            <a:srgbClr val="E5F2F0"/>
          </a:solidFill>
          <a:ln/>
        </p:spPr>
        <p:txBody>
          <a:bodyPr/>
          <a:p/>
        </p:txBody>
      </p:sp>
      <p:sp>
        <p:nvSpPr>
          <p:cNvPr id="15" name="Text 13"/>
          <p:cNvSpPr txBox="1"/>
          <p:nvPr/>
        </p:nvSpPr>
        <p:spPr>
          <a:xfrm>
            <a:off x="7543800" y="1645920"/>
            <a:ext cx="3840480" cy="777240"/>
          </a:xfrm>
          <a:prstGeom prst="rect">
            <a:avLst/>
          </a:prstGeom>
          <a:noFill/>
          <a:ln/>
        </p:spPr>
        <p:txBody>
          <a:bodyPr wrap="square" lIns="0" tIns="0" rIns="0" bIns="0" rtlCol="0" anchor="t"/>
          <a:lstStyle/>
          <a:p>
            <a:pPr indent="0" marL="0">
              <a:buNone/>
            </a:pPr>
            <a:r>
              <a:rPr lang="en-US" sz="1250" b="1" dirty="0">
                <a:solidFill>
                  <a:srgbClr val="01485C"/>
                </a:solidFill>
                <a:latin typeface="Calibri" pitchFamily="34" charset="0"/>
                <a:ea typeface="Calibri" pitchFamily="34" charset="-122"/>
                <a:cs typeface="Calibri" pitchFamily="34" charset="-120"/>
              </a:rPr>
              <a:t>Output location
</a:t>
            </a:r>
            <a:pPr indent="0" marL="0">
              <a:buNone/>
            </a:pPr>
            <a:r>
              <a:rPr lang="en-US" sz="1100" dirty="0">
                <a:solidFill>
                  <a:srgbClr val="17272E"/>
                </a:solidFill>
                <a:latin typeface="Calibri" pitchFamily="34" charset="0"/>
                <a:ea typeface="Calibri" pitchFamily="34" charset="-122"/>
                <a:cs typeface="Calibri" pitchFamily="34" charset="-120"/>
              </a:rPr>
              <a:t>Reports\iSTAT\&lt;YYYY-MM Month&gt;\&lt;HHS&gt;\i-STAT_&lt;Hospital&gt;_&lt;Month&gt;.docx</a:t>
            </a:r>
            <a:endParaRPr lang="en-US" sz="1250" dirty="0"/>
          </a:p>
        </p:txBody>
      </p:sp>
      <p:sp>
        <p:nvSpPr>
          <p:cNvPr id="16" name="Shape 14"/>
          <p:cNvSpPr/>
          <p:nvPr/>
        </p:nvSpPr>
        <p:spPr>
          <a:xfrm>
            <a:off x="7315200" y="2615184"/>
            <a:ext cx="4297680" cy="932688"/>
          </a:xfrm>
          <a:prstGeom prst="roundRect">
            <a:avLst>
              <a:gd name="adj" fmla="val 9804"/>
            </a:avLst>
          </a:prstGeom>
          <a:solidFill>
            <a:srgbClr val="E5F2F0"/>
          </a:solidFill>
          <a:ln/>
        </p:spPr>
        <p:txBody>
          <a:bodyPr/>
          <a:p/>
        </p:txBody>
      </p:sp>
      <p:sp>
        <p:nvSpPr>
          <p:cNvPr id="17" name="Text 15"/>
          <p:cNvSpPr txBox="1"/>
          <p:nvPr/>
        </p:nvSpPr>
        <p:spPr>
          <a:xfrm>
            <a:off x="7543800" y="2706624"/>
            <a:ext cx="3840480" cy="777240"/>
          </a:xfrm>
          <a:prstGeom prst="rect">
            <a:avLst/>
          </a:prstGeom>
          <a:noFill/>
          <a:ln/>
        </p:spPr>
        <p:txBody>
          <a:bodyPr wrap="square" lIns="0" tIns="0" rIns="0" bIns="0" rtlCol="0" anchor="t"/>
          <a:lstStyle/>
          <a:p>
            <a:pPr indent="0" marL="0">
              <a:buNone/>
            </a:pPr>
            <a:r>
              <a:rPr lang="en-US" sz="1250" b="1" dirty="0">
                <a:solidFill>
                  <a:srgbClr val="01485C"/>
                </a:solidFill>
                <a:latin typeface="Calibri" pitchFamily="34" charset="0"/>
                <a:ea typeface="Calibri" pitchFamily="34" charset="-122"/>
                <a:cs typeface="Calibri" pitchFamily="34" charset="-120"/>
              </a:rPr>
              <a:t>Large sites
</a:t>
            </a:r>
            <a:pPr indent="0" marL="0">
              <a:buNone/>
            </a:pPr>
            <a:r>
              <a:rPr lang="en-US" sz="1100" dirty="0">
                <a:solidFill>
                  <a:srgbClr val="17272E"/>
                </a:solidFill>
                <a:latin typeface="Calibri" pitchFamily="34" charset="0"/>
                <a:ea typeface="Calibri" pitchFamily="34" charset="-122"/>
                <a:cs typeface="Calibri" pitchFamily="34" charset="-120"/>
              </a:rPr>
              <a:t>23 sites, from Townsville to RBWH, get one report per ward plus a Site Overview page</a:t>
            </a:r>
            <a:endParaRPr lang="en-US" sz="1250" dirty="0"/>
          </a:p>
        </p:txBody>
      </p:sp>
      <p:sp>
        <p:nvSpPr>
          <p:cNvPr id="18" name="Shape 16"/>
          <p:cNvSpPr/>
          <p:nvPr/>
        </p:nvSpPr>
        <p:spPr>
          <a:xfrm>
            <a:off x="7315200" y="3675888"/>
            <a:ext cx="4297680" cy="932688"/>
          </a:xfrm>
          <a:prstGeom prst="roundRect">
            <a:avLst>
              <a:gd name="adj" fmla="val 9804"/>
            </a:avLst>
          </a:prstGeom>
          <a:solidFill>
            <a:srgbClr val="E5F2F0"/>
          </a:solidFill>
          <a:ln/>
        </p:spPr>
      </p:sp>
      <p:sp>
        <p:nvSpPr>
          <p:cNvPr id="19" name="Text 17"/>
          <p:cNvSpPr txBox="1"/>
          <p:nvPr/>
        </p:nvSpPr>
        <p:spPr>
          <a:xfrm>
            <a:off x="7543800" y="3767328"/>
            <a:ext cx="3840480" cy="777240"/>
          </a:xfrm>
          <a:prstGeom prst="rect">
            <a:avLst/>
          </a:prstGeom>
          <a:noFill/>
          <a:ln/>
        </p:spPr>
        <p:txBody>
          <a:bodyPr wrap="square" lIns="0" tIns="0" rIns="0" bIns="0" rtlCol="0" anchor="t"/>
          <a:lstStyle/>
          <a:p>
            <a:pPr indent="0" marL="0">
              <a:buNone/>
            </a:pPr>
            <a:r>
              <a:rPr lang="en-US" sz="1250" b="1" dirty="0">
                <a:solidFill>
                  <a:srgbClr val="01485C"/>
                </a:solidFill>
                <a:latin typeface="Calibri" pitchFamily="34" charset="0"/>
                <a:ea typeface="Calibri" pitchFamily="34" charset="-122"/>
                <a:cs typeface="Calibri" pitchFamily="34" charset="-120"/>
              </a:rPr>
              <a:t>Re-running a month
</a:t>
            </a:r>
            <a:pPr indent="0" marL="0">
              <a:buNone/>
            </a:pPr>
            <a:r>
              <a:rPr lang="en-US" sz="1100" dirty="0">
                <a:solidFill>
                  <a:srgbClr val="17272E"/>
                </a:solidFill>
                <a:latin typeface="Calibri" pitchFamily="34" charset="0"/>
                <a:ea typeface="Calibri" pitchFamily="34" charset="-122"/>
                <a:cs typeface="Calibri" pitchFamily="34" charset="-120"/>
              </a:rPr>
              <a:t>Generate the same month again any time — its data is simply replaced</a:t>
            </a:r>
            <a:endParaRPr lang="en-US" sz="1250" dirty="0"/>
          </a:p>
        </p:txBody>
      </p:sp>
      <p:sp>
        <p:nvSpPr>
          <p:cNvPr id="20" name="Shape 18"/>
          <p:cNvSpPr/>
          <p:nvPr/>
        </p:nvSpPr>
        <p:spPr>
          <a:xfrm>
            <a:off x="7315200" y="4736592"/>
            <a:ext cx="4297680" cy="932688"/>
          </a:xfrm>
          <a:prstGeom prst="roundRect">
            <a:avLst>
              <a:gd name="adj" fmla="val 9804"/>
            </a:avLst>
          </a:prstGeom>
          <a:solidFill>
            <a:srgbClr val="E5F2F0"/>
          </a:solidFill>
          <a:ln/>
        </p:spPr>
      </p:sp>
      <p:sp>
        <p:nvSpPr>
          <p:cNvPr id="21" name="Text 19"/>
          <p:cNvSpPr txBox="1"/>
          <p:nvPr/>
        </p:nvSpPr>
        <p:spPr>
          <a:xfrm>
            <a:off x="7543800" y="4828032"/>
            <a:ext cx="3840480" cy="777240"/>
          </a:xfrm>
          <a:prstGeom prst="rect">
            <a:avLst/>
          </a:prstGeom>
          <a:noFill/>
          <a:ln/>
        </p:spPr>
        <p:txBody>
          <a:bodyPr wrap="square" lIns="0" tIns="0" rIns="0" bIns="0" rtlCol="0" anchor="t"/>
          <a:lstStyle/>
          <a:p>
            <a:pPr indent="0" marL="0">
              <a:buNone/>
            </a:pPr>
            <a:r>
              <a:rPr lang="en-US" sz="1250" b="1" dirty="0">
                <a:solidFill>
                  <a:srgbClr val="01485C"/>
                </a:solidFill>
                <a:latin typeface="Calibri" pitchFamily="34" charset="0"/>
                <a:ea typeface="Calibri" pitchFamily="34" charset="-122"/>
                <a:cs typeface="Calibri" pitchFamily="34" charset="-120"/>
              </a:rPr>
              <a:t>Trends &amp; follow-up
</a:t>
            </a:r>
            <a:pPr indent="0" marL="0">
              <a:buNone/>
            </a:pPr>
            <a:r>
              <a:rPr lang="en-US" sz="1100" dirty="0">
                <a:solidFill>
                  <a:srgbClr val="17272E"/>
                </a:solidFill>
                <a:latin typeface="Calibri" pitchFamily="34" charset="0"/>
                <a:ea typeface="Calibri" pitchFamily="34" charset="-122"/>
                <a:cs typeface="Calibri" pitchFamily="34" charset="-120"/>
              </a:rPr>
              <a:t>History and recurring-operator flags update themselves each run</a:t>
            </a:r>
            <a:endParaRPr lang="en-US" sz="1250" dirty="0"/>
          </a:p>
        </p:txBody>
      </p:sp>
      <p:sp>
        <p:nvSpPr>
          <p:cNvPr id="22" name="Shape 20"/>
          <p:cNvSpPr/>
          <p:nvPr/>
        </p:nvSpPr>
        <p:spPr>
          <a:xfrm>
            <a:off x="0" y="6793992"/>
            <a:ext cx="2040636" cy="64008"/>
          </a:xfrm>
          <a:prstGeom prst="rect">
            <a:avLst/>
          </a:prstGeom>
          <a:solidFill>
            <a:srgbClr val="01485C"/>
          </a:solidFill>
          <a:ln/>
        </p:spPr>
      </p:sp>
      <p:sp>
        <p:nvSpPr>
          <p:cNvPr id="23" name="Shape 21"/>
          <p:cNvSpPr/>
          <p:nvPr/>
        </p:nvSpPr>
        <p:spPr>
          <a:xfrm>
            <a:off x="2031492" y="6793992"/>
            <a:ext cx="2040636" cy="64008"/>
          </a:xfrm>
          <a:prstGeom prst="rect">
            <a:avLst/>
          </a:prstGeom>
          <a:solidFill>
            <a:srgbClr val="146175"/>
          </a:solidFill>
          <a:ln/>
        </p:spPr>
      </p:sp>
      <p:sp>
        <p:nvSpPr>
          <p:cNvPr id="24" name="Shape 22"/>
          <p:cNvSpPr/>
          <p:nvPr/>
        </p:nvSpPr>
        <p:spPr>
          <a:xfrm>
            <a:off x="4062984" y="6793992"/>
            <a:ext cx="2040636" cy="64008"/>
          </a:xfrm>
          <a:prstGeom prst="rect">
            <a:avLst/>
          </a:prstGeom>
          <a:solidFill>
            <a:srgbClr val="11B5AE"/>
          </a:solidFill>
          <a:ln/>
        </p:spPr>
      </p:sp>
      <p:sp>
        <p:nvSpPr>
          <p:cNvPr id="25" name="Shape 23"/>
          <p:cNvSpPr/>
          <p:nvPr/>
        </p:nvSpPr>
        <p:spPr>
          <a:xfrm>
            <a:off x="6094476" y="6793992"/>
            <a:ext cx="2040636" cy="64008"/>
          </a:xfrm>
          <a:prstGeom prst="rect">
            <a:avLst/>
          </a:prstGeom>
          <a:solidFill>
            <a:srgbClr val="6CCAD4"/>
          </a:solidFill>
          <a:ln/>
        </p:spPr>
      </p:sp>
      <p:sp>
        <p:nvSpPr>
          <p:cNvPr id="26" name="Shape 24"/>
          <p:cNvSpPr/>
          <p:nvPr/>
        </p:nvSpPr>
        <p:spPr>
          <a:xfrm>
            <a:off x="8125968" y="6793992"/>
            <a:ext cx="2040636" cy="64008"/>
          </a:xfrm>
          <a:prstGeom prst="rect">
            <a:avLst/>
          </a:prstGeom>
          <a:solidFill>
            <a:srgbClr val="7FC04C"/>
          </a:solidFill>
          <a:ln/>
        </p:spPr>
      </p:sp>
      <p:sp>
        <p:nvSpPr>
          <p:cNvPr id="27" name="Shape 25"/>
          <p:cNvSpPr/>
          <p:nvPr/>
        </p:nvSpPr>
        <p:spPr>
          <a:xfrm>
            <a:off x="10157460" y="6793992"/>
            <a:ext cx="2040636" cy="64008"/>
          </a:xfrm>
          <a:prstGeom prst="rect">
            <a:avLst/>
          </a:prstGeom>
          <a:solidFill>
            <a:srgbClr val="E1DD57"/>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Generate the reports</a:t>
            </a:r>
            <a:endParaRPr lang="en-US" sz="3000" dirty="0"/>
          </a:p>
        </p:txBody>
      </p:sp>
      <p:sp>
        <p:nvSpPr>
          <p:cNvPr id="3" name="Shape 1"/>
          <p:cNvSpPr/>
          <p:nvPr/>
        </p:nvSpPr>
        <p:spPr>
          <a:xfrm>
            <a:off x="9784080" y="384048"/>
            <a:ext cx="1828800" cy="457200"/>
          </a:xfrm>
          <a:prstGeom prst="roundRect">
            <a:avLst>
              <a:gd name="adj" fmla="val 50000"/>
            </a:avLst>
          </a:prstGeom>
          <a:solidFill>
            <a:srgbClr val="11B5AE"/>
          </a:solidFill>
          <a:ln/>
        </p:spPr>
        <p:txBody>
          <a:bodyPr/>
          <a:p/>
        </p:txBody>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ABL</a:t>
            </a:r>
            <a:endParaRPr lang="en-US" sz="1500" dirty="0"/>
          </a:p>
        </p:txBody>
      </p:sp>
      <p:sp>
        <p:nvSpPr>
          <p:cNvPr id="5" name="Shape 3"/>
          <p:cNvSpPr/>
          <p:nvPr/>
        </p:nvSpPr>
        <p:spPr>
          <a:xfrm>
            <a:off x="548640" y="1581912"/>
            <a:ext cx="475488" cy="475488"/>
          </a:xfrm>
          <a:prstGeom prst="ellipse">
            <a:avLst/>
          </a:prstGeom>
          <a:solidFill>
            <a:srgbClr val="7FC04C"/>
          </a:solidFill>
          <a:ln/>
        </p:spPr>
        <p:txBody>
          <a:bodyPr/>
          <a:p/>
        </p:txBody>
      </p:sp>
      <p:sp>
        <p:nvSpPr>
          <p:cNvPr id="6" name="Text 4"/>
          <p:cNvSpPr txBox="1"/>
          <p:nvPr/>
        </p:nvSpPr>
        <p:spPr>
          <a:xfrm>
            <a:off x="548640" y="158191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07008" y="153619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Drop the ABL operator error export
</a:t>
            </a:r>
            <a:pPr indent="0" marL="0">
              <a:buNone/>
            </a:pPr>
            <a:r>
              <a:rPr lang="en-US" sz="1250" dirty="0">
                <a:solidFill>
                  <a:srgbClr val="5F7178"/>
                </a:solidFill>
                <a:latin typeface="Calibri" pitchFamily="34" charset="0"/>
                <a:ea typeface="Calibri" pitchFamily="34" charset="-122"/>
                <a:cs typeface="Calibri" pitchFamily="34" charset="-120"/>
              </a:rPr>
              <a:t>The monthly Radiometer ABL export (.xlsx). The ABL app asks for its history password first, like i-STAT.</a:t>
            </a:r>
            <a:endParaRPr lang="en-US" sz="1450" dirty="0"/>
          </a:p>
        </p:txBody>
      </p:sp>
      <p:sp>
        <p:nvSpPr>
          <p:cNvPr id="8" name="Shape 6"/>
          <p:cNvSpPr/>
          <p:nvPr/>
        </p:nvSpPr>
        <p:spPr>
          <a:xfrm>
            <a:off x="548640" y="2770632"/>
            <a:ext cx="475488" cy="475488"/>
          </a:xfrm>
          <a:prstGeom prst="ellipse">
            <a:avLst/>
          </a:prstGeom>
          <a:solidFill>
            <a:srgbClr val="7FC04C"/>
          </a:solidFill>
          <a:ln/>
        </p:spPr>
      </p:sp>
      <p:sp>
        <p:nvSpPr>
          <p:cNvPr id="9" name="Text 7"/>
          <p:cNvSpPr txBox="1"/>
          <p:nvPr/>
        </p:nvSpPr>
        <p:spPr>
          <a:xfrm>
            <a:off x="548640" y="277063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07008" y="272491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Set the report month and year
</a:t>
            </a:r>
            <a:pPr indent="0" marL="0">
              <a:buNone/>
            </a:pPr>
            <a:r>
              <a:rPr lang="en-US" sz="1250" dirty="0">
                <a:solidFill>
                  <a:srgbClr val="5F7178"/>
                </a:solidFill>
                <a:latin typeface="Calibri" pitchFamily="34" charset="0"/>
                <a:ea typeface="Calibri" pitchFamily="34" charset="-122"/>
                <a:cs typeface="Calibri" pitchFamily="34" charset="-120"/>
              </a:rPr>
              <a:t>Auto-detected from the filename where possible.</a:t>
            </a:r>
            <a:endParaRPr lang="en-US" sz="1450" dirty="0"/>
          </a:p>
        </p:txBody>
      </p:sp>
      <p:sp>
        <p:nvSpPr>
          <p:cNvPr id="11" name="Shape 9"/>
          <p:cNvSpPr/>
          <p:nvPr/>
        </p:nvSpPr>
        <p:spPr>
          <a:xfrm>
            <a:off x="548640" y="3959352"/>
            <a:ext cx="475488" cy="475488"/>
          </a:xfrm>
          <a:prstGeom prst="ellipse">
            <a:avLst/>
          </a:prstGeom>
          <a:solidFill>
            <a:srgbClr val="7FC04C"/>
          </a:solidFill>
          <a:ln/>
        </p:spPr>
      </p:sp>
      <p:sp>
        <p:nvSpPr>
          <p:cNvPr id="12" name="Text 10"/>
          <p:cNvSpPr txBox="1"/>
          <p:nvPr/>
        </p:nvSpPr>
        <p:spPr>
          <a:xfrm>
            <a:off x="548640" y="395935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3</a:t>
            </a:r>
            <a:endParaRPr lang="en-US" sz="1700" dirty="0"/>
          </a:p>
        </p:txBody>
      </p:sp>
      <p:sp>
        <p:nvSpPr>
          <p:cNvPr id="13" name="Text 11"/>
          <p:cNvSpPr txBox="1"/>
          <p:nvPr/>
        </p:nvSpPr>
        <p:spPr>
          <a:xfrm>
            <a:off x="1207008" y="391363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Click "Load Analyzers"
</a:t>
            </a:r>
            <a:pPr indent="0" marL="0">
              <a:buNone/>
            </a:pPr>
            <a:r>
              <a:rPr lang="en-US" sz="1250" dirty="0">
                <a:solidFill>
                  <a:srgbClr val="5F7178"/>
                </a:solidFill>
                <a:latin typeface="Calibri" pitchFamily="34" charset="0"/>
                <a:ea typeface="Calibri" pitchFamily="34" charset="-122"/>
                <a:cs typeface="Calibri" pitchFamily="34" charset="-120"/>
              </a:rPr>
              <a:t>Every Hospital → Department appears with its analysers listed — tick the reports you want.</a:t>
            </a:r>
            <a:endParaRPr lang="en-US" sz="1450" dirty="0"/>
          </a:p>
        </p:txBody>
      </p:sp>
      <p:sp>
        <p:nvSpPr>
          <p:cNvPr id="14" name="Shape 12"/>
          <p:cNvSpPr/>
          <p:nvPr/>
        </p:nvSpPr>
        <p:spPr>
          <a:xfrm>
            <a:off x="548640" y="5148072"/>
            <a:ext cx="475488" cy="475488"/>
          </a:xfrm>
          <a:prstGeom prst="ellipse">
            <a:avLst/>
          </a:prstGeom>
          <a:solidFill>
            <a:srgbClr val="7FC04C"/>
          </a:solidFill>
          <a:ln/>
        </p:spPr>
      </p:sp>
      <p:sp>
        <p:nvSpPr>
          <p:cNvPr id="15" name="Text 13"/>
          <p:cNvSpPr txBox="1"/>
          <p:nvPr/>
        </p:nvSpPr>
        <p:spPr>
          <a:xfrm>
            <a:off x="548640" y="5148072"/>
            <a:ext cx="475488" cy="475488"/>
          </a:xfrm>
          <a:prstGeom prst="rect">
            <a:avLst/>
          </a:prstGeom>
          <a:noFill/>
          <a:ln/>
        </p:spPr>
        <p:txBody>
          <a:bodyPr wrap="square" lIns="0" tIns="0" rIns="0" bIns="0" rtlCol="0" anchor="ctr"/>
          <a:lstStyle/>
          <a:p>
            <a:pPr algn="ctr" indent="0" marL="0">
              <a:buNone/>
            </a:pPr>
            <a:r>
              <a:rPr lang="en-US" sz="1700" b="1" dirty="0">
                <a:solidFill>
                  <a:srgbClr val="012B38"/>
                </a:solidFill>
                <a:latin typeface="Calibri" pitchFamily="34" charset="0"/>
                <a:ea typeface="Calibri" pitchFamily="34" charset="-122"/>
                <a:cs typeface="Calibri" pitchFamily="34" charset="-120"/>
              </a:rPr>
              <a:t>4</a:t>
            </a:r>
            <a:endParaRPr lang="en-US" sz="1700" dirty="0"/>
          </a:p>
        </p:txBody>
      </p:sp>
      <p:sp>
        <p:nvSpPr>
          <p:cNvPr id="16" name="Text 14"/>
          <p:cNvSpPr txBox="1"/>
          <p:nvPr/>
        </p:nvSpPr>
        <p:spPr>
          <a:xfrm>
            <a:off x="1207008" y="5102352"/>
            <a:ext cx="5376672" cy="914400"/>
          </a:xfrm>
          <a:prstGeom prst="rect">
            <a:avLst/>
          </a:prstGeom>
          <a:noFill/>
          <a:ln/>
        </p:spPr>
        <p:txBody>
          <a:bodyPr wrap="square" lIns="0" tIns="0" rIns="0" bIns="0" rtlCol="0" anchor="t"/>
          <a:lstStyle/>
          <a:p>
            <a:pPr indent="0" marL="0">
              <a:buNone/>
            </a:pPr>
            <a:r>
              <a:rPr lang="en-US" sz="1450" b="1" dirty="0">
                <a:solidFill>
                  <a:srgbClr val="01485C"/>
                </a:solidFill>
                <a:latin typeface="Calibri" pitchFamily="34" charset="0"/>
                <a:ea typeface="Calibri" pitchFamily="34" charset="-122"/>
                <a:cs typeface="Calibri" pitchFamily="34" charset="-120"/>
              </a:rPr>
              <a:t>Click "Generate Reports"
</a:t>
            </a:r>
            <a:pPr indent="0" marL="0">
              <a:buNone/>
            </a:pPr>
            <a:r>
              <a:rPr lang="en-US" sz="1250" dirty="0">
                <a:solidFill>
                  <a:srgbClr val="5F7178"/>
                </a:solidFill>
                <a:latin typeface="Calibri" pitchFamily="34" charset="0"/>
                <a:ea typeface="Calibri" pitchFamily="34" charset="-122"/>
                <a:cs typeface="Calibri" pitchFamily="34" charset="-120"/>
              </a:rPr>
              <a:t>Progress bar, then "Reports Ready" and the open-folder button, exactly like i-STAT.</a:t>
            </a:r>
            <a:endParaRPr lang="en-US" sz="1450" dirty="0"/>
          </a:p>
        </p:txBody>
      </p:sp>
      <p:sp>
        <p:nvSpPr>
          <p:cNvPr id="17" name="Shape 15"/>
          <p:cNvSpPr/>
          <p:nvPr/>
        </p:nvSpPr>
        <p:spPr>
          <a:xfrm>
            <a:off x="7242048" y="1481328"/>
            <a:ext cx="4443984" cy="3502152"/>
          </a:xfrm>
          <a:prstGeom prst="roundRect">
            <a:avLst>
              <a:gd name="adj" fmla="val 2089"/>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sp>
      <p:pic>
        <p:nvPicPr>
          <p:cNvPr id="18" name="Image 0" descr="abl_main.png">    </p:cNvPr>
          <p:cNvPicPr>
            <a:picLocks noChangeAspect="1"/>
          </p:cNvPicPr>
          <p:nvPr/>
        </p:nvPicPr>
        <p:blipFill>
          <a:blip r:embed="rId1"/>
          <a:stretch>
            <a:fillRect/>
          </a:stretch>
        </p:blipFill>
        <p:spPr>
          <a:xfrm>
            <a:off x="7315200" y="1554480"/>
            <a:ext cx="4297680" cy="3355848"/>
          </a:xfrm>
          <a:prstGeom prst="rect">
            <a:avLst/>
          </a:prstGeom>
        </p:spPr>
      </p:pic>
      <p:sp>
        <p:nvSpPr>
          <p:cNvPr id="19" name="Text 16"/>
          <p:cNvSpPr txBox="1"/>
          <p:nvPr/>
        </p:nvSpPr>
        <p:spPr>
          <a:xfrm>
            <a:off x="7242048" y="5020056"/>
            <a:ext cx="4443984" cy="320040"/>
          </a:xfrm>
          <a:prstGeom prst="rect">
            <a:avLst/>
          </a:prstGeom>
          <a:noFill/>
          <a:ln/>
        </p:spPr>
        <p:txBody>
          <a:bodyPr wrap="square" lIns="0" tIns="0" rIns="0" bIns="0" rtlCol="0" anchor="ctr"/>
          <a:lstStyle/>
          <a:p>
            <a:pPr algn="ctr" indent="0" marL="0">
              <a:buNone/>
            </a:pPr>
            <a:r>
              <a:rPr lang="en-US" sz="1100" i="1" dirty="0">
                <a:solidFill>
                  <a:srgbClr val="5F7178"/>
                </a:solidFill>
                <a:latin typeface="Calibri" pitchFamily="34" charset="0"/>
                <a:ea typeface="Calibri" pitchFamily="34" charset="-122"/>
                <a:cs typeface="Calibri" pitchFamily="34" charset="-120"/>
              </a:rPr>
              <a:t>The ABL app — same look, department-based selection</a:t>
            </a:r>
            <a:endParaRPr lang="en-US" sz="1100" dirty="0"/>
          </a:p>
        </p:txBody>
      </p:sp>
      <p:sp>
        <p:nvSpPr>
          <p:cNvPr id="20" name="Shape 17"/>
          <p:cNvSpPr/>
          <p:nvPr/>
        </p:nvSpPr>
        <p:spPr>
          <a:xfrm>
            <a:off x="0" y="6793992"/>
            <a:ext cx="2040636" cy="64008"/>
          </a:xfrm>
          <a:prstGeom prst="rect">
            <a:avLst/>
          </a:prstGeom>
          <a:solidFill>
            <a:srgbClr val="01485C"/>
          </a:solidFill>
          <a:ln/>
        </p:spPr>
      </p:sp>
      <p:sp>
        <p:nvSpPr>
          <p:cNvPr id="21" name="Shape 18"/>
          <p:cNvSpPr/>
          <p:nvPr/>
        </p:nvSpPr>
        <p:spPr>
          <a:xfrm>
            <a:off x="2031492" y="6793992"/>
            <a:ext cx="2040636" cy="64008"/>
          </a:xfrm>
          <a:prstGeom prst="rect">
            <a:avLst/>
          </a:prstGeom>
          <a:solidFill>
            <a:srgbClr val="146175"/>
          </a:solidFill>
          <a:ln/>
        </p:spPr>
      </p:sp>
      <p:sp>
        <p:nvSpPr>
          <p:cNvPr id="22" name="Shape 19"/>
          <p:cNvSpPr/>
          <p:nvPr/>
        </p:nvSpPr>
        <p:spPr>
          <a:xfrm>
            <a:off x="4062984" y="6793992"/>
            <a:ext cx="2040636" cy="64008"/>
          </a:xfrm>
          <a:prstGeom prst="rect">
            <a:avLst/>
          </a:prstGeom>
          <a:solidFill>
            <a:srgbClr val="11B5AE"/>
          </a:solidFill>
          <a:ln/>
        </p:spPr>
      </p:sp>
      <p:sp>
        <p:nvSpPr>
          <p:cNvPr id="23" name="Shape 20"/>
          <p:cNvSpPr/>
          <p:nvPr/>
        </p:nvSpPr>
        <p:spPr>
          <a:xfrm>
            <a:off x="6094476" y="6793992"/>
            <a:ext cx="2040636" cy="64008"/>
          </a:xfrm>
          <a:prstGeom prst="rect">
            <a:avLst/>
          </a:prstGeom>
          <a:solidFill>
            <a:srgbClr val="6CCAD4"/>
          </a:solidFill>
          <a:ln/>
        </p:spPr>
      </p:sp>
      <p:sp>
        <p:nvSpPr>
          <p:cNvPr id="24" name="Shape 21"/>
          <p:cNvSpPr/>
          <p:nvPr/>
        </p:nvSpPr>
        <p:spPr>
          <a:xfrm>
            <a:off x="8125968" y="6793992"/>
            <a:ext cx="2040636" cy="64008"/>
          </a:xfrm>
          <a:prstGeom prst="rect">
            <a:avLst/>
          </a:prstGeom>
          <a:solidFill>
            <a:srgbClr val="7FC04C"/>
          </a:solidFill>
          <a:ln/>
        </p:spPr>
      </p:sp>
      <p:sp>
        <p:nvSpPr>
          <p:cNvPr id="25" name="Shape 22"/>
          <p:cNvSpPr/>
          <p:nvPr/>
        </p:nvSpPr>
        <p:spPr>
          <a:xfrm>
            <a:off x="10157460" y="6793992"/>
            <a:ext cx="2040636" cy="64008"/>
          </a:xfrm>
          <a:prstGeom prst="rect">
            <a:avLst/>
          </a:prstGeom>
          <a:solidFill>
            <a:srgbClr val="E1DD57"/>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Outputs and things to know</a:t>
            </a:r>
            <a:endParaRPr lang="en-US" sz="3000" dirty="0"/>
          </a:p>
        </p:txBody>
      </p:sp>
      <p:sp>
        <p:nvSpPr>
          <p:cNvPr id="3" name="Shape 1"/>
          <p:cNvSpPr/>
          <p:nvPr/>
        </p:nvSpPr>
        <p:spPr>
          <a:xfrm>
            <a:off x="9784080" y="384048"/>
            <a:ext cx="1828800" cy="457200"/>
          </a:xfrm>
          <a:prstGeom prst="roundRect">
            <a:avLst>
              <a:gd name="adj" fmla="val 50000"/>
            </a:avLst>
          </a:prstGeom>
          <a:solidFill>
            <a:srgbClr val="11B5AE"/>
          </a:solidFill>
          <a:ln/>
        </p:spPr>
        <p:txBody>
          <a:bodyPr/>
          <a:p/>
        </p:txBody>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ABL</a:t>
            </a:r>
            <a:endParaRPr lang="en-US" sz="1500" dirty="0"/>
          </a:p>
        </p:txBody>
      </p:sp>
      <p:sp>
        <p:nvSpPr>
          <p:cNvPr id="5" name="Shape 3"/>
          <p:cNvSpPr/>
          <p:nvPr/>
        </p:nvSpPr>
        <p:spPr>
          <a:xfrm>
            <a:off x="548640" y="1463040"/>
            <a:ext cx="5486400" cy="2103120"/>
          </a:xfrm>
          <a:prstGeom prst="roundRect">
            <a:avLst>
              <a:gd name="adj" fmla="val 5217"/>
            </a:avLst>
          </a:prstGeom>
          <a:solidFill>
            <a:srgbClr val="E5F2F0"/>
          </a:solidFill>
          <a:ln/>
        </p:spPr>
        <p:txBody>
          <a:bodyPr/>
          <a:p/>
        </p:txBody>
      </p:sp>
      <p:sp>
        <p:nvSpPr>
          <p:cNvPr id="6" name="Text 4"/>
          <p:cNvSpPr txBox="1"/>
          <p:nvPr/>
        </p:nvSpPr>
        <p:spPr>
          <a:xfrm>
            <a:off x="822960" y="1664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Where reports land</a:t>
            </a:r>
            <a:endParaRPr lang="en-US" sz="1600" dirty="0"/>
          </a:p>
        </p:txBody>
      </p:sp>
      <p:sp>
        <p:nvSpPr>
          <p:cNvPr id="7" name="Text 5"/>
          <p:cNvSpPr txBox="1"/>
          <p:nvPr/>
        </p:nvSpPr>
        <p:spPr>
          <a:xfrm>
            <a:off x="822960" y="2148840"/>
            <a:ext cx="4937760" cy="1280160"/>
          </a:xfrm>
          <a:prstGeom prst="rect">
            <a:avLst/>
          </a:prstGeom>
          <a:noFill/>
          <a:ln/>
        </p:spPr>
        <p:txBody>
          <a:bodyPr wrap="square" lIns="0" tIns="0" rIns="0" bIns="0" rtlCol="0" anchor="ctr"/>
          <a:lstStyle/>
          <a:p>
            <a:pPr indent="0" marL="0">
              <a:buNone/>
            </a:pPr>
            <a:r>
              <a:rPr lang="en-US" sz="1300" dirty="0">
                <a:solidFill>
                  <a:srgbClr val="17272E"/>
                </a:solidFill>
                <a:latin typeface="Calibri" pitchFamily="34" charset="0"/>
                <a:ea typeface="Calibri" pitchFamily="34" charset="-122"/>
                <a:cs typeface="Calibri" pitchFamily="34" charset="-120"/>
              </a:rPr>
              <a:t>Reports\ABL\&lt;YYYY-MM Month&gt;\&lt;Hospital&gt;\ABL_&lt;Department&gt;_&lt;Month&gt;.docx — one Word report per department, plus ABL_&lt;Hospital&gt;_Hospital_Summary_&lt;Month&gt;.docx per hospital.</a:t>
            </a:r>
            <a:endParaRPr lang="en-US" sz="1300" dirty="0"/>
          </a:p>
        </p:txBody>
      </p:sp>
      <p:sp>
        <p:nvSpPr>
          <p:cNvPr id="8" name="Shape 6"/>
          <p:cNvSpPr/>
          <p:nvPr/>
        </p:nvSpPr>
        <p:spPr>
          <a:xfrm>
            <a:off x="6172200" y="1463040"/>
            <a:ext cx="5486400" cy="2103120"/>
          </a:xfrm>
          <a:prstGeom prst="roundRect">
            <a:avLst>
              <a:gd name="adj" fmla="val 5217"/>
            </a:avLst>
          </a:prstGeom>
          <a:solidFill>
            <a:srgbClr val="FDF0E4"/>
          </a:solidFill>
          <a:ln/>
        </p:spPr>
        <p:txBody>
          <a:bodyPr/>
          <a:p/>
        </p:txBody>
      </p:sp>
      <p:sp>
        <p:nvSpPr>
          <p:cNvPr id="9" name="Text 7"/>
          <p:cNvSpPr txBox="1"/>
          <p:nvPr/>
        </p:nvSpPr>
        <p:spPr>
          <a:xfrm>
            <a:off x="6446520" y="1664208"/>
            <a:ext cx="4937760" cy="411480"/>
          </a:xfrm>
          <a:prstGeom prst="rect">
            <a:avLst/>
          </a:prstGeom>
          <a:noFill/>
          <a:ln/>
        </p:spPr>
        <p:txBody>
          <a:bodyPr wrap="square" lIns="0" tIns="0" rIns="0" bIns="0" rtlCol="0" anchor="ctr"/>
          <a:lstStyle/>
          <a:p>
            <a:pPr indent="0" marL="0">
              <a:buNone/>
            </a:pPr>
            <a:r>
              <a:rPr lang="en-US" sz="1600" b="1" dirty="0">
                <a:solidFill>
                  <a:srgbClr val="B4540A"/>
                </a:solidFill>
                <a:latin typeface="Calibri" pitchFamily="34" charset="0"/>
                <a:ea typeface="Calibri" pitchFamily="34" charset="-122"/>
                <a:cs typeface="Calibri" pitchFamily="34" charset="-120"/>
              </a:rPr>
              <a:t>Flag rules (fixed)</a:t>
            </a:r>
            <a:endParaRPr lang="en-US" sz="1600" dirty="0"/>
          </a:p>
        </p:txBody>
      </p:sp>
      <p:sp>
        <p:nvSpPr>
          <p:cNvPr id="10" name="Text 8"/>
          <p:cNvSpPr txBox="1"/>
          <p:nvPr/>
        </p:nvSpPr>
        <p:spPr>
          <a:xfrm>
            <a:off x="6446520" y="2148840"/>
            <a:ext cx="4937760" cy="1280160"/>
          </a:xfrm>
          <a:prstGeom prst="rect">
            <a:avLst/>
          </a:prstGeom>
          <a:noFill/>
          <a:ln/>
        </p:spPr>
        <p:txBody>
          <a:bodyPr wrap="square" lIns="0" tIns="0" rIns="0" bIns="0" rtlCol="0" anchor="ctr"/>
          <a:lstStyle/>
          <a:p>
            <a:pPr indent="0" marL="0">
              <a:buNone/>
            </a:pPr>
            <a:r>
              <a:rPr lang="en-US" sz="1300" dirty="0">
                <a:solidFill>
                  <a:srgbClr val="17272E"/>
                </a:solidFill>
                <a:latin typeface="Calibri" pitchFamily="34" charset="0"/>
                <a:ea typeface="Calibri" pitchFamily="34" charset="-122"/>
                <a:cs typeface="Calibri" pitchFamily="34" charset="-120"/>
              </a:rPr>
              <a:t>An operator is flagged ⚠ with MORE than 10 tests (11+) AND an error rate over 10% in the month. 10 tests or fewer = "not assessed", never flagged.</a:t>
            </a:r>
            <a:endParaRPr lang="en-US" sz="1300" dirty="0"/>
          </a:p>
        </p:txBody>
      </p:sp>
      <p:sp>
        <p:nvSpPr>
          <p:cNvPr id="11" name="Shape 9"/>
          <p:cNvSpPr/>
          <p:nvPr/>
        </p:nvSpPr>
        <p:spPr>
          <a:xfrm>
            <a:off x="548640" y="3749040"/>
            <a:ext cx="5486400" cy="2103120"/>
          </a:xfrm>
          <a:prstGeom prst="roundRect">
            <a:avLst>
              <a:gd name="adj" fmla="val 5217"/>
            </a:avLst>
          </a:prstGeom>
          <a:solidFill>
            <a:srgbClr val="E5F2F0"/>
          </a:solidFill>
          <a:ln/>
        </p:spPr>
        <p:txBody>
          <a:bodyPr/>
          <a:p/>
        </p:txBody>
      </p:sp>
      <p:sp>
        <p:nvSpPr>
          <p:cNvPr id="12" name="Text 10"/>
          <p:cNvSpPr txBox="1"/>
          <p:nvPr/>
        </p:nvSpPr>
        <p:spPr>
          <a:xfrm>
            <a:off x="822960" y="3950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Re-running a month</a:t>
            </a:r>
            <a:endParaRPr lang="en-US" sz="1600" dirty="0"/>
          </a:p>
        </p:txBody>
      </p:sp>
      <p:sp>
        <p:nvSpPr>
          <p:cNvPr id="13" name="Text 11"/>
          <p:cNvSpPr txBox="1"/>
          <p:nvPr/>
        </p:nvSpPr>
        <p:spPr>
          <a:xfrm>
            <a:off x="822960" y="4434840"/>
            <a:ext cx="4937760" cy="1280160"/>
          </a:xfrm>
          <a:prstGeom prst="rect">
            <a:avLst/>
          </a:prstGeom>
          <a:noFill/>
          <a:ln/>
        </p:spPr>
        <p:txBody>
          <a:bodyPr wrap="square" lIns="0" tIns="0" rIns="0" bIns="0" rtlCol="0" anchor="ctr"/>
          <a:lstStyle/>
          <a:p>
            <a:pPr indent="0" marL="0">
              <a:buNone/>
            </a:pPr>
            <a:r>
              <a:rPr lang="en-US" sz="1300" dirty="0">
                <a:solidFill>
                  <a:srgbClr val="17272E"/>
                </a:solidFill>
                <a:latin typeface="Calibri" pitchFamily="34" charset="0"/>
                <a:ea typeface="Calibri" pitchFamily="34" charset="-122"/>
                <a:cs typeface="Calibri" pitchFamily="34" charset="-120"/>
              </a:rPr>
              <a:t>Generate the same month again any time — that month’s data is simply replaced, and the trend charts stay correct.</a:t>
            </a:r>
            <a:endParaRPr lang="en-US" sz="1300" dirty="0"/>
          </a:p>
        </p:txBody>
      </p:sp>
      <p:sp>
        <p:nvSpPr>
          <p:cNvPr id="14" name="Shape 12"/>
          <p:cNvSpPr/>
          <p:nvPr/>
        </p:nvSpPr>
        <p:spPr>
          <a:xfrm>
            <a:off x="6172200" y="3749040"/>
            <a:ext cx="5486400" cy="2103120"/>
          </a:xfrm>
          <a:prstGeom prst="roundRect">
            <a:avLst>
              <a:gd name="adj" fmla="val 5217"/>
            </a:avLst>
          </a:prstGeom>
          <a:solidFill>
            <a:srgbClr val="E5F2F0"/>
          </a:solidFill>
          <a:ln/>
        </p:spPr>
        <p:txBody>
          <a:bodyPr/>
          <a:p/>
        </p:txBody>
      </p:sp>
      <p:sp>
        <p:nvSpPr>
          <p:cNvPr id="15" name="Text 13"/>
          <p:cNvSpPr txBox="1"/>
          <p:nvPr/>
        </p:nvSpPr>
        <p:spPr>
          <a:xfrm>
            <a:off x="6446520" y="3950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Trend charts</a:t>
            </a:r>
            <a:endParaRPr lang="en-US" sz="1600" dirty="0"/>
          </a:p>
        </p:txBody>
      </p:sp>
      <p:sp>
        <p:nvSpPr>
          <p:cNvPr id="16" name="Text 14"/>
          <p:cNvSpPr txBox="1"/>
          <p:nvPr/>
        </p:nvSpPr>
        <p:spPr>
          <a:xfrm>
            <a:off x="6446520" y="4434840"/>
            <a:ext cx="4937760" cy="1280160"/>
          </a:xfrm>
          <a:prstGeom prst="rect">
            <a:avLst/>
          </a:prstGeom>
          <a:noFill/>
          <a:ln/>
        </p:spPr>
        <p:txBody>
          <a:bodyPr wrap="square" lIns="0" tIns="0" rIns="0" bIns="0" rtlCol="0" anchor="ctr"/>
          <a:lstStyle/>
          <a:p>
            <a:pPr indent="0" marL="0">
              <a:buNone/>
            </a:pPr>
            <a:r>
              <a:rPr lang="en-US" sz="1300" dirty="0">
                <a:solidFill>
                  <a:srgbClr val="17272E"/>
                </a:solidFill>
                <a:latin typeface="Calibri" pitchFamily="34" charset="0"/>
                <a:ea typeface="Calibri" pitchFamily="34" charset="-122"/>
                <a:cs typeface="Calibri" pitchFamily="34" charset="-120"/>
              </a:rPr>
              <a:t>Per-analyser history builds month by month, encrypted like i-STAT’s; 12-month charts with every error segment labelled; a repeated top error is flagged in red.</a:t>
            </a:r>
            <a:endParaRPr lang="en-US" sz="1300" dirty="0"/>
          </a:p>
        </p:txBody>
      </p:sp>
      <p:sp>
        <p:nvSpPr>
          <p:cNvPr id="17" name="Shape 15"/>
          <p:cNvSpPr/>
          <p:nvPr/>
        </p:nvSpPr>
        <p:spPr>
          <a:xfrm>
            <a:off x="0" y="6793992"/>
            <a:ext cx="2040636" cy="64008"/>
          </a:xfrm>
          <a:prstGeom prst="rect">
            <a:avLst/>
          </a:prstGeom>
          <a:solidFill>
            <a:srgbClr val="01485C"/>
          </a:solidFill>
          <a:ln/>
        </p:spPr>
      </p:sp>
      <p:sp>
        <p:nvSpPr>
          <p:cNvPr id="18" name="Shape 16"/>
          <p:cNvSpPr/>
          <p:nvPr/>
        </p:nvSpPr>
        <p:spPr>
          <a:xfrm>
            <a:off x="2031492" y="6793992"/>
            <a:ext cx="2040636" cy="64008"/>
          </a:xfrm>
          <a:prstGeom prst="rect">
            <a:avLst/>
          </a:prstGeom>
          <a:solidFill>
            <a:srgbClr val="146175"/>
          </a:solidFill>
          <a:ln/>
        </p:spPr>
      </p:sp>
      <p:sp>
        <p:nvSpPr>
          <p:cNvPr id="19" name="Shape 17"/>
          <p:cNvSpPr/>
          <p:nvPr/>
        </p:nvSpPr>
        <p:spPr>
          <a:xfrm>
            <a:off x="4062984" y="6793992"/>
            <a:ext cx="2040636" cy="64008"/>
          </a:xfrm>
          <a:prstGeom prst="rect">
            <a:avLst/>
          </a:prstGeom>
          <a:solidFill>
            <a:srgbClr val="11B5AE"/>
          </a:solidFill>
          <a:ln/>
        </p:spPr>
      </p:sp>
      <p:sp>
        <p:nvSpPr>
          <p:cNvPr id="20" name="Shape 18"/>
          <p:cNvSpPr/>
          <p:nvPr/>
        </p:nvSpPr>
        <p:spPr>
          <a:xfrm>
            <a:off x="6094476" y="6793992"/>
            <a:ext cx="2040636" cy="64008"/>
          </a:xfrm>
          <a:prstGeom prst="rect">
            <a:avLst/>
          </a:prstGeom>
          <a:solidFill>
            <a:srgbClr val="6CCAD4"/>
          </a:solidFill>
          <a:ln/>
        </p:spPr>
      </p:sp>
      <p:sp>
        <p:nvSpPr>
          <p:cNvPr id="21" name="Shape 19"/>
          <p:cNvSpPr/>
          <p:nvPr/>
        </p:nvSpPr>
        <p:spPr>
          <a:xfrm>
            <a:off x="8125968" y="6793992"/>
            <a:ext cx="2040636" cy="64008"/>
          </a:xfrm>
          <a:prstGeom prst="rect">
            <a:avLst/>
          </a:prstGeom>
          <a:solidFill>
            <a:srgbClr val="7FC04C"/>
          </a:solidFill>
          <a:ln/>
        </p:spPr>
      </p:sp>
      <p:sp>
        <p:nvSpPr>
          <p:cNvPr id="22" name="Shape 20"/>
          <p:cNvSpPr/>
          <p:nvPr/>
        </p:nvSpPr>
        <p:spPr>
          <a:xfrm>
            <a:off x="10157460" y="6793992"/>
            <a:ext cx="2040636" cy="64008"/>
          </a:xfrm>
          <a:prstGeom prst="rect">
            <a:avLst/>
          </a:prstGeom>
          <a:solidFill>
            <a:srgbClr val="E1DD57"/>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What the report contains (1 of 2)</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548640" y="1325880"/>
            <a:ext cx="420624" cy="420624"/>
          </a:xfrm>
          <a:prstGeom prst="ellipse">
            <a:avLst/>
          </a:prstGeom>
          <a:solidFill>
            <a:srgbClr val="01485C"/>
          </a:solidFill>
          <a:ln/>
        </p:spPr>
      </p:sp>
      <p:sp>
        <p:nvSpPr>
          <p:cNvPr id="6" name="Text 4"/>
          <p:cNvSpPr txBox="1"/>
          <p:nvPr/>
        </p:nvSpPr>
        <p:spPr>
          <a:xfrm>
            <a:off x="548640" y="13258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33856" y="1271016"/>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Monthly Snapshot
</a:t>
            </a:r>
            <a:pPr indent="0" marL="0">
              <a:buNone/>
            </a:pPr>
            <a:r>
              <a:rPr lang="en-US" sz="1100" dirty="0">
                <a:solidFill>
                  <a:srgbClr val="5F7178"/>
                </a:solidFill>
                <a:latin typeface="Calibri" pitchFamily="34" charset="0"/>
                <a:ea typeface="Calibri" pitchFamily="34" charset="-122"/>
                <a:cs typeface="Calibri" pitchFamily="34" charset="-120"/>
              </a:rPr>
              <a:t>The month in one block: overall rate, errors vs cartridges, top error, flagged staff.</a:t>
            </a:r>
            <a:endParaRPr lang="en-US" sz="1300" dirty="0"/>
          </a:p>
        </p:txBody>
      </p:sp>
      <p:sp>
        <p:nvSpPr>
          <p:cNvPr id="8" name="Shape 6"/>
          <p:cNvSpPr/>
          <p:nvPr/>
        </p:nvSpPr>
        <p:spPr>
          <a:xfrm>
            <a:off x="6400800" y="1280160"/>
            <a:ext cx="5212080" cy="859536"/>
          </a:xfrm>
          <a:prstGeom prst="roundRect">
            <a:avLst>
              <a:gd name="adj" fmla="val 8511"/>
            </a:avLst>
          </a:prstGeom>
          <a:solidFill>
            <a:srgbClr val="FFFFFF"/>
          </a:solidFill>
          <a:ln w="15875">
            <a:solidFill>
              <a:srgbClr val="E2E8EA"/>
            </a:solidFill>
            <a:prstDash val="solid"/>
          </a:ln>
        </p:spPr>
      </p:sp>
      <p:sp>
        <p:nvSpPr>
          <p:cNvPr id="9" name="Text 7"/>
          <p:cNvSpPr txBox="1"/>
          <p:nvPr/>
        </p:nvSpPr>
        <p:spPr>
          <a:xfrm>
            <a:off x="6629400" y="1408176"/>
            <a:ext cx="4754880" cy="630936"/>
          </a:xfrm>
          <a:prstGeom prst="rect">
            <a:avLst/>
          </a:prstGeom>
          <a:noFill/>
          <a:ln/>
        </p:spPr>
        <p:txBody>
          <a:bodyPr wrap="square" lIns="0" tIns="0" rIns="0" bIns="0" rtlCol="0" anchor="t"/>
          <a:lstStyle/>
          <a:p>
            <a:pPr indent="0" marL="0">
              <a:buNone/>
            </a:pPr>
            <a:r>
              <a:rPr lang="en-US" sz="1250" b="1" dirty="0">
                <a:solidFill>
                  <a:srgbClr val="2F5496"/>
                </a:solidFill>
                <a:latin typeface="Calibri" pitchFamily="34" charset="0"/>
                <a:ea typeface="Calibri" pitchFamily="34" charset="-122"/>
                <a:cs typeface="Calibri" pitchFamily="34" charset="-120"/>
              </a:rPr>
              <a:t>Error rate 4.5%</a:t>
            </a:r>
            <a:pPr indent="0" marL="0">
              <a:buNone/>
            </a:pPr>
            <a:r>
              <a:rPr lang="en-US" sz="1050" dirty="0">
                <a:solidFill>
                  <a:srgbClr val="17272E"/>
                </a:solidFill>
                <a:latin typeface="Calibri" pitchFamily="34" charset="0"/>
                <a:ea typeface="Calibri" pitchFamily="34" charset="-122"/>
                <a:cs typeface="Calibri" pitchFamily="34" charset="-120"/>
              </a:rPr>
              <a:t>   (12 errors / 266 cartridges)
</a:t>
            </a:r>
            <a:pPr indent="0" marL="0">
              <a:buNone/>
            </a:pPr>
            <a:r>
              <a:rPr lang="en-US" sz="1050" dirty="0">
                <a:solidFill>
                  <a:srgbClr val="5F7178"/>
                </a:solidFill>
                <a:latin typeface="Calibri" pitchFamily="34" charset="0"/>
                <a:ea typeface="Calibri" pitchFamily="34" charset="-122"/>
                <a:cs typeface="Calibri" pitchFamily="34" charset="-120"/>
              </a:rPr>
              <a:t>Top error: P3 Cartridge Handling  ·  Staff flagged: 2</a:t>
            </a:r>
            <a:endParaRPr lang="en-US" sz="1250" dirty="0"/>
          </a:p>
        </p:txBody>
      </p:sp>
      <p:sp>
        <p:nvSpPr>
          <p:cNvPr id="10" name="Shape 8"/>
          <p:cNvSpPr/>
          <p:nvPr/>
        </p:nvSpPr>
        <p:spPr>
          <a:xfrm>
            <a:off x="548640" y="2295144"/>
            <a:ext cx="420624" cy="420624"/>
          </a:xfrm>
          <a:prstGeom prst="ellipse">
            <a:avLst/>
          </a:prstGeom>
          <a:solidFill>
            <a:srgbClr val="01485C"/>
          </a:solidFill>
          <a:ln/>
        </p:spPr>
      </p:sp>
      <p:sp>
        <p:nvSpPr>
          <p:cNvPr id="11" name="Text 9"/>
          <p:cNvSpPr txBox="1"/>
          <p:nvPr/>
        </p:nvSpPr>
        <p:spPr>
          <a:xfrm>
            <a:off x="548640" y="22951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33856" y="2240280"/>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Historical Performance
</a:t>
            </a:r>
            <a:pPr indent="0" marL="0">
              <a:buNone/>
            </a:pPr>
            <a:r>
              <a:rPr lang="en-US" sz="1100" dirty="0">
                <a:solidFill>
                  <a:srgbClr val="5F7178"/>
                </a:solidFill>
                <a:latin typeface="Calibri" pitchFamily="34" charset="0"/>
                <a:ea typeface="Calibri" pitchFamily="34" charset="-122"/>
                <a:cs typeface="Calibri" pitchFamily="34" charset="-120"/>
              </a:rPr>
              <a:t>TWO charts per device: the error-rate trend over the colour bands, and the Cartridges Run &amp; Error Mix chart (next slide).</a:t>
            </a:r>
            <a:endParaRPr lang="en-US" sz="1300" dirty="0"/>
          </a:p>
        </p:txBody>
      </p:sp>
      <p:sp>
        <p:nvSpPr>
          <p:cNvPr id="13" name="Shape 11"/>
          <p:cNvSpPr/>
          <p:nvPr/>
        </p:nvSpPr>
        <p:spPr>
          <a:xfrm>
            <a:off x="6400800" y="2249424"/>
            <a:ext cx="5212080" cy="859536"/>
          </a:xfrm>
          <a:prstGeom prst="roundRect">
            <a:avLst>
              <a:gd name="adj" fmla="val 8511"/>
            </a:avLst>
          </a:prstGeom>
          <a:solidFill>
            <a:srgbClr val="FFFFFF"/>
          </a:solidFill>
          <a:ln w="15875">
            <a:solidFill>
              <a:srgbClr val="E2E8EA"/>
            </a:solidFill>
            <a:prstDash val="solid"/>
          </a:ln>
        </p:spPr>
      </p:sp>
      <p:sp>
        <p:nvSpPr>
          <p:cNvPr id="14" name="Shape 12"/>
          <p:cNvSpPr/>
          <p:nvPr/>
        </p:nvSpPr>
        <p:spPr>
          <a:xfrm>
            <a:off x="6601968" y="2359152"/>
            <a:ext cx="3840480" cy="155448"/>
          </a:xfrm>
          <a:prstGeom prst="rect">
            <a:avLst/>
          </a:prstGeom>
          <a:solidFill>
            <a:srgbClr val="C00000">
              <a:alpha val="38000"/>
            </a:srgbClr>
          </a:solidFill>
          <a:ln/>
        </p:spPr>
      </p:sp>
      <p:sp>
        <p:nvSpPr>
          <p:cNvPr id="15" name="Shape 13"/>
          <p:cNvSpPr/>
          <p:nvPr/>
        </p:nvSpPr>
        <p:spPr>
          <a:xfrm>
            <a:off x="6601968" y="2514600"/>
            <a:ext cx="3840480" cy="155448"/>
          </a:xfrm>
          <a:prstGeom prst="rect">
            <a:avLst/>
          </a:prstGeom>
          <a:solidFill>
            <a:srgbClr val="D96800">
              <a:alpha val="38000"/>
            </a:srgbClr>
          </a:solidFill>
          <a:ln/>
        </p:spPr>
      </p:sp>
      <p:sp>
        <p:nvSpPr>
          <p:cNvPr id="16" name="Shape 14"/>
          <p:cNvSpPr/>
          <p:nvPr/>
        </p:nvSpPr>
        <p:spPr>
          <a:xfrm>
            <a:off x="6601968" y="2670048"/>
            <a:ext cx="3840480" cy="155448"/>
          </a:xfrm>
          <a:prstGeom prst="rect">
            <a:avLst/>
          </a:prstGeom>
          <a:solidFill>
            <a:srgbClr val="2F5496">
              <a:alpha val="38000"/>
            </a:srgbClr>
          </a:solidFill>
          <a:ln/>
        </p:spPr>
      </p:sp>
      <p:sp>
        <p:nvSpPr>
          <p:cNvPr id="17" name="Shape 15"/>
          <p:cNvSpPr/>
          <p:nvPr/>
        </p:nvSpPr>
        <p:spPr>
          <a:xfrm>
            <a:off x="6601968" y="2825496"/>
            <a:ext cx="3840480" cy="155448"/>
          </a:xfrm>
          <a:prstGeom prst="rect">
            <a:avLst/>
          </a:prstGeom>
          <a:solidFill>
            <a:srgbClr val="538135">
              <a:alpha val="38000"/>
            </a:srgbClr>
          </a:solidFill>
          <a:ln/>
        </p:spPr>
      </p:sp>
      <p:sp>
        <p:nvSpPr>
          <p:cNvPr id="18" name="Shape 16"/>
          <p:cNvSpPr/>
          <p:nvPr/>
        </p:nvSpPr>
        <p:spPr>
          <a:xfrm>
            <a:off x="7059168" y="2468880"/>
            <a:ext cx="118872" cy="118872"/>
          </a:xfrm>
          <a:prstGeom prst="ellipse">
            <a:avLst/>
          </a:prstGeom>
          <a:solidFill>
            <a:srgbClr val="01485C"/>
          </a:solidFill>
          <a:ln w="12700">
            <a:solidFill>
              <a:srgbClr val="FFFFFF"/>
            </a:solidFill>
            <a:prstDash val="solid"/>
          </a:ln>
        </p:spPr>
      </p:sp>
      <p:sp>
        <p:nvSpPr>
          <p:cNvPr id="19" name="Shape 17"/>
          <p:cNvSpPr/>
          <p:nvPr/>
        </p:nvSpPr>
        <p:spPr>
          <a:xfrm>
            <a:off x="7790688" y="2578608"/>
            <a:ext cx="118872" cy="118872"/>
          </a:xfrm>
          <a:prstGeom prst="ellipse">
            <a:avLst/>
          </a:prstGeom>
          <a:solidFill>
            <a:srgbClr val="01485C"/>
          </a:solidFill>
          <a:ln w="12700">
            <a:solidFill>
              <a:srgbClr val="FFFFFF"/>
            </a:solidFill>
            <a:prstDash val="solid"/>
          </a:ln>
        </p:spPr>
      </p:sp>
      <p:sp>
        <p:nvSpPr>
          <p:cNvPr id="20" name="Shape 18"/>
          <p:cNvSpPr/>
          <p:nvPr/>
        </p:nvSpPr>
        <p:spPr>
          <a:xfrm>
            <a:off x="8522208" y="2542032"/>
            <a:ext cx="118872" cy="118872"/>
          </a:xfrm>
          <a:prstGeom prst="ellipse">
            <a:avLst/>
          </a:prstGeom>
          <a:solidFill>
            <a:srgbClr val="01485C"/>
          </a:solidFill>
          <a:ln w="12700">
            <a:solidFill>
              <a:srgbClr val="FFFFFF"/>
            </a:solidFill>
            <a:prstDash val="solid"/>
          </a:ln>
        </p:spPr>
      </p:sp>
      <p:sp>
        <p:nvSpPr>
          <p:cNvPr id="21" name="Shape 19"/>
          <p:cNvSpPr/>
          <p:nvPr/>
        </p:nvSpPr>
        <p:spPr>
          <a:xfrm>
            <a:off x="9253728" y="2724912"/>
            <a:ext cx="118872" cy="118872"/>
          </a:xfrm>
          <a:prstGeom prst="ellipse">
            <a:avLst/>
          </a:prstGeom>
          <a:solidFill>
            <a:srgbClr val="01485C"/>
          </a:solidFill>
          <a:ln w="12700">
            <a:solidFill>
              <a:srgbClr val="FFFFFF"/>
            </a:solidFill>
            <a:prstDash val="solid"/>
          </a:ln>
        </p:spPr>
      </p:sp>
      <p:sp>
        <p:nvSpPr>
          <p:cNvPr id="22" name="Shape 20"/>
          <p:cNvSpPr/>
          <p:nvPr/>
        </p:nvSpPr>
        <p:spPr>
          <a:xfrm>
            <a:off x="9985248" y="2825496"/>
            <a:ext cx="118872" cy="118872"/>
          </a:xfrm>
          <a:prstGeom prst="ellipse">
            <a:avLst/>
          </a:prstGeom>
          <a:solidFill>
            <a:srgbClr val="01485C"/>
          </a:solidFill>
          <a:ln w="12700">
            <a:solidFill>
              <a:srgbClr val="FFFFFF"/>
            </a:solidFill>
            <a:prstDash val="solid"/>
          </a:ln>
        </p:spPr>
      </p:sp>
      <p:sp>
        <p:nvSpPr>
          <p:cNvPr id="23" name="Text 21"/>
          <p:cNvSpPr txBox="1"/>
          <p:nvPr/>
        </p:nvSpPr>
        <p:spPr>
          <a:xfrm>
            <a:off x="10469880" y="2542032"/>
            <a:ext cx="1005840" cy="274320"/>
          </a:xfrm>
          <a:prstGeom prst="rect">
            <a:avLst/>
          </a:prstGeom>
          <a:noFill/>
          <a:ln/>
        </p:spPr>
        <p:txBody>
          <a:bodyPr wrap="square" lIns="0" tIns="0" rIns="0" bIns="0" rtlCol="0" anchor="ctr"/>
          <a:lstStyle/>
          <a:p>
            <a:pPr indent="0" marL="0">
              <a:buNone/>
            </a:pPr>
            <a:r>
              <a:rPr lang="en-US" sz="950" i="1" dirty="0">
                <a:solidFill>
                  <a:srgbClr val="538135"/>
                </a:solidFill>
                <a:latin typeface="Calibri" pitchFamily="34" charset="0"/>
                <a:ea typeface="Calibri" pitchFamily="34" charset="-122"/>
                <a:cs typeface="Calibri" pitchFamily="34" charset="-120"/>
              </a:rPr>
              <a:t>improving ↓</a:t>
            </a:r>
            <a:endParaRPr lang="en-US" sz="950" dirty="0"/>
          </a:p>
        </p:txBody>
      </p:sp>
      <p:sp>
        <p:nvSpPr>
          <p:cNvPr id="24" name="Shape 22"/>
          <p:cNvSpPr/>
          <p:nvPr/>
        </p:nvSpPr>
        <p:spPr>
          <a:xfrm>
            <a:off x="548640" y="3264408"/>
            <a:ext cx="420624" cy="420624"/>
          </a:xfrm>
          <a:prstGeom prst="ellipse">
            <a:avLst/>
          </a:prstGeom>
          <a:solidFill>
            <a:srgbClr val="01485C"/>
          </a:solidFill>
          <a:ln/>
        </p:spPr>
      </p:sp>
      <p:sp>
        <p:nvSpPr>
          <p:cNvPr id="25" name="Text 23"/>
          <p:cNvSpPr txBox="1"/>
          <p:nvPr/>
        </p:nvSpPr>
        <p:spPr>
          <a:xfrm>
            <a:off x="548640" y="3264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1133856" y="3209544"/>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Performance Summary
</a:t>
            </a:r>
            <a:pPr indent="0" marL="0">
              <a:buNone/>
            </a:pPr>
            <a:r>
              <a:rPr lang="en-US" sz="1100" dirty="0">
                <a:solidFill>
                  <a:srgbClr val="5F7178"/>
                </a:solidFill>
                <a:latin typeface="Calibri" pitchFamily="34" charset="0"/>
                <a:ea typeface="Calibri" pitchFamily="34" charset="-122"/>
                <a:cs typeface="Calibri" pitchFamily="34" charset="-120"/>
              </a:rPr>
              <a:t>Device-by-device: cartridges, errors and rate, banded Champions → Needs attention.</a:t>
            </a:r>
            <a:endParaRPr lang="en-US" sz="1300" dirty="0"/>
          </a:p>
        </p:txBody>
      </p:sp>
      <p:sp>
        <p:nvSpPr>
          <p:cNvPr id="27" name="Shape 25"/>
          <p:cNvSpPr/>
          <p:nvPr/>
        </p:nvSpPr>
        <p:spPr>
          <a:xfrm>
            <a:off x="6400800" y="3218688"/>
            <a:ext cx="5212080" cy="859536"/>
          </a:xfrm>
          <a:prstGeom prst="roundRect">
            <a:avLst>
              <a:gd name="adj" fmla="val 8511"/>
            </a:avLst>
          </a:prstGeom>
          <a:solidFill>
            <a:srgbClr val="FFFFFF"/>
          </a:solidFill>
          <a:ln w="15875">
            <a:solidFill>
              <a:srgbClr val="E2E8EA"/>
            </a:solidFill>
            <a:prstDash val="solid"/>
          </a:ln>
        </p:spPr>
      </p:sp>
      <p:sp>
        <p:nvSpPr>
          <p:cNvPr id="28" name="Text 26"/>
          <p:cNvSpPr txBox="1"/>
          <p:nvPr/>
        </p:nvSpPr>
        <p:spPr>
          <a:xfrm>
            <a:off x="6629400" y="3310128"/>
            <a:ext cx="3291840" cy="274320"/>
          </a:xfrm>
          <a:prstGeom prst="rect">
            <a:avLst/>
          </a:prstGeom>
          <a:noFill/>
          <a:ln/>
        </p:spPr>
        <p:txBody>
          <a:bodyPr wrap="square" lIns="0" tIns="0" rIns="0" bIns="0" rtlCol="0" anchor="ctr"/>
          <a:lstStyle/>
          <a:p>
            <a:pPr indent="0" marL="0">
              <a:buNone/>
            </a:pPr>
            <a:r>
              <a:rPr lang="en-US" sz="1050" dirty="0">
                <a:solidFill>
                  <a:srgbClr val="17272E"/>
                </a:solidFill>
                <a:latin typeface="Calibri" pitchFamily="34" charset="0"/>
                <a:ea typeface="Calibri" pitchFamily="34" charset="-122"/>
                <a:cs typeface="Calibri" pitchFamily="34" charset="-120"/>
              </a:rPr>
              <a:t>i-STAT 1;9001    80 carts    4 errors</a:t>
            </a:r>
            <a:endParaRPr lang="en-US" sz="1050" dirty="0"/>
          </a:p>
        </p:txBody>
      </p:sp>
      <p:sp>
        <p:nvSpPr>
          <p:cNvPr id="29" name="Shape 27"/>
          <p:cNvSpPr/>
          <p:nvPr/>
        </p:nvSpPr>
        <p:spPr>
          <a:xfrm>
            <a:off x="10195560" y="3310128"/>
            <a:ext cx="960120" cy="274320"/>
          </a:xfrm>
          <a:prstGeom prst="roundRect">
            <a:avLst>
              <a:gd name="adj" fmla="val 26667"/>
            </a:avLst>
          </a:prstGeom>
          <a:solidFill>
            <a:srgbClr val="2F5496"/>
          </a:solidFill>
          <a:ln/>
        </p:spPr>
      </p:sp>
      <p:sp>
        <p:nvSpPr>
          <p:cNvPr id="30" name="Text 28"/>
          <p:cNvSpPr txBox="1"/>
          <p:nvPr/>
        </p:nvSpPr>
        <p:spPr>
          <a:xfrm>
            <a:off x="10195560" y="331012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5.0% Excellent</a:t>
            </a:r>
            <a:endParaRPr lang="en-US" sz="1000" dirty="0"/>
          </a:p>
        </p:txBody>
      </p:sp>
      <p:sp>
        <p:nvSpPr>
          <p:cNvPr id="31" name="Text 29"/>
          <p:cNvSpPr txBox="1"/>
          <p:nvPr/>
        </p:nvSpPr>
        <p:spPr>
          <a:xfrm>
            <a:off x="6629400" y="3675888"/>
            <a:ext cx="3291840" cy="274320"/>
          </a:xfrm>
          <a:prstGeom prst="rect">
            <a:avLst/>
          </a:prstGeom>
          <a:noFill/>
          <a:ln/>
        </p:spPr>
        <p:txBody>
          <a:bodyPr wrap="square" lIns="0" tIns="0" rIns="0" bIns="0" rtlCol="0" anchor="ctr"/>
          <a:lstStyle/>
          <a:p>
            <a:pPr indent="0" marL="0">
              <a:buNone/>
            </a:pPr>
            <a:r>
              <a:rPr lang="en-US" sz="1050" dirty="0">
                <a:solidFill>
                  <a:srgbClr val="17272E"/>
                </a:solidFill>
                <a:latin typeface="Calibri" pitchFamily="34" charset="0"/>
                <a:ea typeface="Calibri" pitchFamily="34" charset="-122"/>
                <a:cs typeface="Calibri" pitchFamily="34" charset="-120"/>
              </a:rPr>
              <a:t>i-STAT 1;9002    74 carts    5 errors</a:t>
            </a:r>
            <a:endParaRPr lang="en-US" sz="1050" dirty="0"/>
          </a:p>
        </p:txBody>
      </p:sp>
      <p:sp>
        <p:nvSpPr>
          <p:cNvPr id="32" name="Shape 30"/>
          <p:cNvSpPr/>
          <p:nvPr/>
        </p:nvSpPr>
        <p:spPr>
          <a:xfrm>
            <a:off x="10195560" y="3675888"/>
            <a:ext cx="960120" cy="274320"/>
          </a:xfrm>
          <a:prstGeom prst="roundRect">
            <a:avLst>
              <a:gd name="adj" fmla="val 26667"/>
            </a:avLst>
          </a:prstGeom>
          <a:solidFill>
            <a:srgbClr val="D96800"/>
          </a:solidFill>
          <a:ln/>
        </p:spPr>
      </p:sp>
      <p:sp>
        <p:nvSpPr>
          <p:cNvPr id="33" name="Text 31"/>
          <p:cNvSpPr txBox="1"/>
          <p:nvPr/>
        </p:nvSpPr>
        <p:spPr>
          <a:xfrm>
            <a:off x="10195560" y="367588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6.8% Accept.</a:t>
            </a:r>
            <a:endParaRPr lang="en-US" sz="1000" dirty="0"/>
          </a:p>
        </p:txBody>
      </p:sp>
      <p:sp>
        <p:nvSpPr>
          <p:cNvPr id="34" name="Shape 32"/>
          <p:cNvSpPr/>
          <p:nvPr/>
        </p:nvSpPr>
        <p:spPr>
          <a:xfrm>
            <a:off x="548640" y="4233672"/>
            <a:ext cx="420624" cy="420624"/>
          </a:xfrm>
          <a:prstGeom prst="ellipse">
            <a:avLst/>
          </a:prstGeom>
          <a:solidFill>
            <a:srgbClr val="01485C"/>
          </a:solidFill>
          <a:ln/>
        </p:spPr>
      </p:sp>
      <p:sp>
        <p:nvSpPr>
          <p:cNvPr id="35" name="Text 33"/>
          <p:cNvSpPr txBox="1"/>
          <p:nvPr/>
        </p:nvSpPr>
        <p:spPr>
          <a:xfrm>
            <a:off x="548640" y="42336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6" name="Text 34"/>
          <p:cNvSpPr txBox="1"/>
          <p:nvPr/>
        </p:nvSpPr>
        <p:spPr>
          <a:xfrm>
            <a:off x="1133856" y="4178808"/>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Simulators Run
</a:t>
            </a:r>
            <a:pPr indent="0" marL="0">
              <a:buNone/>
            </a:pPr>
            <a:r>
              <a:rPr lang="en-US" sz="1100" dirty="0">
                <a:solidFill>
                  <a:srgbClr val="5F7178"/>
                </a:solidFill>
                <a:latin typeface="Calibri" pitchFamily="34" charset="0"/>
                <a:ea typeface="Calibri" pitchFamily="34" charset="-122"/>
                <a:cs typeface="Calibri" pitchFamily="34" charset="-120"/>
              </a:rPr>
              <a:t>Electronic QC (simulator) checks recorded on each device during the month.</a:t>
            </a:r>
            <a:endParaRPr lang="en-US" sz="1300" dirty="0"/>
          </a:p>
        </p:txBody>
      </p:sp>
      <p:sp>
        <p:nvSpPr>
          <p:cNvPr id="37" name="Shape 35"/>
          <p:cNvSpPr/>
          <p:nvPr/>
        </p:nvSpPr>
        <p:spPr>
          <a:xfrm>
            <a:off x="6400800" y="4187952"/>
            <a:ext cx="5212080" cy="859536"/>
          </a:xfrm>
          <a:prstGeom prst="roundRect">
            <a:avLst>
              <a:gd name="adj" fmla="val 8511"/>
            </a:avLst>
          </a:prstGeom>
          <a:solidFill>
            <a:srgbClr val="FFFFFF"/>
          </a:solidFill>
          <a:ln w="15875">
            <a:solidFill>
              <a:srgbClr val="E2E8EA"/>
            </a:solidFill>
            <a:prstDash val="solid"/>
          </a:ln>
        </p:spPr>
      </p:sp>
      <p:sp>
        <p:nvSpPr>
          <p:cNvPr id="38" name="Text 36"/>
          <p:cNvSpPr txBox="1"/>
          <p:nvPr/>
        </p:nvSpPr>
        <p:spPr>
          <a:xfrm>
            <a:off x="6629400" y="4187952"/>
            <a:ext cx="4754880" cy="859536"/>
          </a:xfrm>
          <a:prstGeom prst="rect">
            <a:avLst/>
          </a:prstGeom>
          <a:noFill/>
          <a:ln/>
        </p:spPr>
        <p:txBody>
          <a:bodyPr wrap="square" lIns="0" tIns="0" rIns="0" bIns="0" rtlCol="0" anchor="ctr"/>
          <a:lstStyle/>
          <a:p>
            <a:pPr indent="0" marL="0">
              <a:buNone/>
            </a:pPr>
            <a:r>
              <a:rPr lang="en-US" sz="1100" b="1" dirty="0">
                <a:solidFill>
                  <a:srgbClr val="01485C"/>
                </a:solidFill>
                <a:latin typeface="Calibri" pitchFamily="34" charset="0"/>
                <a:ea typeface="Calibri" pitchFamily="34" charset="-122"/>
                <a:cs typeface="Calibri" pitchFamily="34" charset="-120"/>
              </a:rPr>
              <a:t>EQC checks:   </a:t>
            </a:r>
            <a:pPr indent="0" marL="0">
              <a:buNone/>
            </a:pPr>
            <a:r>
              <a:rPr lang="en-US" sz="1100" dirty="0">
                <a:solidFill>
                  <a:srgbClr val="17272E"/>
                </a:solidFill>
                <a:latin typeface="Calibri" pitchFamily="34" charset="0"/>
                <a:ea typeface="Calibri" pitchFamily="34" charset="-122"/>
                <a:cs typeface="Calibri" pitchFamily="34" charset="-120"/>
              </a:rPr>
              <a:t>9001 — 8 ✓      9002 — 6 ✓      9003 — 7 ✓</a:t>
            </a:r>
            <a:endParaRPr lang="en-US" sz="1100" dirty="0"/>
          </a:p>
        </p:txBody>
      </p:sp>
      <p:sp>
        <p:nvSpPr>
          <p:cNvPr id="39" name="Shape 37"/>
          <p:cNvSpPr/>
          <p:nvPr/>
        </p:nvSpPr>
        <p:spPr>
          <a:xfrm>
            <a:off x="548640" y="5202936"/>
            <a:ext cx="420624" cy="420624"/>
          </a:xfrm>
          <a:prstGeom prst="ellipse">
            <a:avLst/>
          </a:prstGeom>
          <a:solidFill>
            <a:srgbClr val="01485C"/>
          </a:solidFill>
          <a:ln/>
        </p:spPr>
      </p:sp>
      <p:sp>
        <p:nvSpPr>
          <p:cNvPr id="40" name="Text 38"/>
          <p:cNvSpPr txBox="1"/>
          <p:nvPr/>
        </p:nvSpPr>
        <p:spPr>
          <a:xfrm>
            <a:off x="548640" y="5202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1" name="Text 39"/>
          <p:cNvSpPr txBox="1"/>
          <p:nvPr/>
        </p:nvSpPr>
        <p:spPr>
          <a:xfrm>
            <a:off x="1133856" y="5148072"/>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Monthly Ceramic Cleaning
</a:t>
            </a:r>
            <a:pPr indent="0" marL="0">
              <a:buNone/>
            </a:pPr>
            <a:r>
              <a:rPr lang="en-US" sz="1100" dirty="0">
                <a:solidFill>
                  <a:srgbClr val="5F7178"/>
                </a:solidFill>
                <a:latin typeface="Calibri" pitchFamily="34" charset="0"/>
                <a:ea typeface="Calibri" pitchFamily="34" charset="-122"/>
                <a:cs typeface="Calibri" pitchFamily="34" charset="-120"/>
              </a:rPr>
              <a:t>Each analyser listed with its cleaning-cartridge count. Every i-STAT needs 3 per month; any shortfall fails the department.</a:t>
            </a:r>
            <a:endParaRPr lang="en-US" sz="1300" dirty="0"/>
          </a:p>
        </p:txBody>
      </p:sp>
      <p:sp>
        <p:nvSpPr>
          <p:cNvPr id="42" name="Shape 40"/>
          <p:cNvSpPr/>
          <p:nvPr/>
        </p:nvSpPr>
        <p:spPr>
          <a:xfrm>
            <a:off x="6400800" y="5157216"/>
            <a:ext cx="5212080" cy="859536"/>
          </a:xfrm>
          <a:prstGeom prst="roundRect">
            <a:avLst>
              <a:gd name="adj" fmla="val 8511"/>
            </a:avLst>
          </a:prstGeom>
          <a:solidFill>
            <a:srgbClr val="FFFFFF"/>
          </a:solidFill>
          <a:ln w="15875">
            <a:solidFill>
              <a:srgbClr val="E2E8EA"/>
            </a:solidFill>
            <a:prstDash val="solid"/>
          </a:ln>
        </p:spPr>
      </p:sp>
      <p:sp>
        <p:nvSpPr>
          <p:cNvPr id="43" name="Shape 41"/>
          <p:cNvSpPr/>
          <p:nvPr/>
        </p:nvSpPr>
        <p:spPr>
          <a:xfrm>
            <a:off x="6629400" y="5404104"/>
            <a:ext cx="1554480" cy="365760"/>
          </a:xfrm>
          <a:prstGeom prst="roundRect">
            <a:avLst>
              <a:gd name="adj" fmla="val 25000"/>
            </a:avLst>
          </a:prstGeom>
          <a:solidFill>
            <a:srgbClr val="538135"/>
          </a:solidFill>
          <a:ln/>
        </p:spPr>
      </p:sp>
      <p:sp>
        <p:nvSpPr>
          <p:cNvPr id="44" name="Text 42"/>
          <p:cNvSpPr txBox="1"/>
          <p:nvPr/>
        </p:nvSpPr>
        <p:spPr>
          <a:xfrm>
            <a:off x="6629400" y="5404104"/>
            <a:ext cx="15544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Completed ✓</a:t>
            </a:r>
            <a:endParaRPr lang="en-US" sz="1100" dirty="0"/>
          </a:p>
        </p:txBody>
      </p:sp>
      <p:sp>
        <p:nvSpPr>
          <p:cNvPr id="45" name="Text 43"/>
          <p:cNvSpPr txBox="1"/>
          <p:nvPr/>
        </p:nvSpPr>
        <p:spPr>
          <a:xfrm>
            <a:off x="8366760" y="5404104"/>
            <a:ext cx="3017520" cy="365760"/>
          </a:xfrm>
          <a:prstGeom prst="rect">
            <a:avLst/>
          </a:prstGeom>
          <a:noFill/>
          <a:ln/>
        </p:spPr>
        <p:txBody>
          <a:bodyPr wrap="square" lIns="0" tIns="0" rIns="0" bIns="0" rtlCol="0" anchor="ctr"/>
          <a:lstStyle/>
          <a:p>
            <a:pPr indent="0" marL="0">
              <a:buNone/>
            </a:pPr>
            <a:r>
              <a:rPr lang="en-US" sz="1050" i="1" dirty="0">
                <a:solidFill>
                  <a:srgbClr val="5F7178"/>
                </a:solidFill>
                <a:latin typeface="Calibri" pitchFamily="34" charset="0"/>
                <a:ea typeface="Calibri" pitchFamily="34" charset="-122"/>
                <a:cs typeface="Calibri" pitchFamily="34" charset="-120"/>
              </a:rPr>
              <a:t>— listed per analyser; any analyser under 3 shows a red Fail</a:t>
            </a:r>
            <a:endParaRPr lang="en-US" sz="1050" dirty="0"/>
          </a:p>
        </p:txBody>
      </p:sp>
      <p:sp>
        <p:nvSpPr>
          <p:cNvPr id="46" name="Text 44"/>
          <p:cNvSpPr txBox="1"/>
          <p:nvPr/>
        </p:nvSpPr>
        <p:spPr>
          <a:xfrm>
            <a:off x="6400800" y="6163056"/>
            <a:ext cx="5212080" cy="320040"/>
          </a:xfrm>
          <a:prstGeom prst="rect">
            <a:avLst/>
          </a:prstGeom>
          <a:noFill/>
          <a:ln/>
        </p:spPr>
        <p:txBody>
          <a:bodyPr wrap="square" lIns="0" tIns="0" rIns="0" bIns="0" rtlCol="0" anchor="ctr"/>
          <a:lstStyle/>
          <a:p>
            <a:pPr indent="0" marL="0">
              <a:buNone/>
            </a:pPr>
            <a:r>
              <a:rPr lang="en-US" sz="1000" i="1" dirty="0">
                <a:solidFill>
                  <a:srgbClr val="5F7178"/>
                </a:solidFill>
                <a:latin typeface="Calibri" pitchFamily="34" charset="0"/>
                <a:ea typeface="Calibri" pitchFamily="34" charset="-122"/>
                <a:cs typeface="Calibri" pitchFamily="34" charset="-120"/>
              </a:rPr>
              <a:t>Examples shown with fictional data — layouts match the real Word report.</a:t>
            </a:r>
            <a:endParaRPr lang="en-US" sz="1000" dirty="0"/>
          </a:p>
        </p:txBody>
      </p:sp>
      <p:sp>
        <p:nvSpPr>
          <p:cNvPr id="47" name="Shape 45"/>
          <p:cNvSpPr/>
          <p:nvPr/>
        </p:nvSpPr>
        <p:spPr>
          <a:xfrm>
            <a:off x="0" y="6793992"/>
            <a:ext cx="2040636" cy="64008"/>
          </a:xfrm>
          <a:prstGeom prst="rect">
            <a:avLst/>
          </a:prstGeom>
          <a:solidFill>
            <a:srgbClr val="01485C"/>
          </a:solidFill>
          <a:ln/>
        </p:spPr>
      </p:sp>
      <p:sp>
        <p:nvSpPr>
          <p:cNvPr id="48" name="Shape 46"/>
          <p:cNvSpPr/>
          <p:nvPr/>
        </p:nvSpPr>
        <p:spPr>
          <a:xfrm>
            <a:off x="2031492" y="6793992"/>
            <a:ext cx="2040636" cy="64008"/>
          </a:xfrm>
          <a:prstGeom prst="rect">
            <a:avLst/>
          </a:prstGeom>
          <a:solidFill>
            <a:srgbClr val="146175"/>
          </a:solidFill>
          <a:ln/>
        </p:spPr>
      </p:sp>
      <p:sp>
        <p:nvSpPr>
          <p:cNvPr id="49" name="Shape 47"/>
          <p:cNvSpPr/>
          <p:nvPr/>
        </p:nvSpPr>
        <p:spPr>
          <a:xfrm>
            <a:off x="4062984" y="6793992"/>
            <a:ext cx="2040636" cy="64008"/>
          </a:xfrm>
          <a:prstGeom prst="rect">
            <a:avLst/>
          </a:prstGeom>
          <a:solidFill>
            <a:srgbClr val="11B5AE"/>
          </a:solidFill>
          <a:ln/>
        </p:spPr>
      </p:sp>
      <p:sp>
        <p:nvSpPr>
          <p:cNvPr id="50" name="Shape 48"/>
          <p:cNvSpPr/>
          <p:nvPr/>
        </p:nvSpPr>
        <p:spPr>
          <a:xfrm>
            <a:off x="6094476" y="6793992"/>
            <a:ext cx="2040636" cy="64008"/>
          </a:xfrm>
          <a:prstGeom prst="rect">
            <a:avLst/>
          </a:prstGeom>
          <a:solidFill>
            <a:srgbClr val="6CCAD4"/>
          </a:solidFill>
          <a:ln/>
        </p:spPr>
      </p:sp>
      <p:sp>
        <p:nvSpPr>
          <p:cNvPr id="51" name="Shape 49"/>
          <p:cNvSpPr/>
          <p:nvPr/>
        </p:nvSpPr>
        <p:spPr>
          <a:xfrm>
            <a:off x="8125968" y="6793992"/>
            <a:ext cx="2040636" cy="64008"/>
          </a:xfrm>
          <a:prstGeom prst="rect">
            <a:avLst/>
          </a:prstGeom>
          <a:solidFill>
            <a:srgbClr val="7FC04C"/>
          </a:solidFill>
          <a:ln/>
        </p:spPr>
      </p:sp>
      <p:sp>
        <p:nvSpPr>
          <p:cNvPr id="52" name="Shape 50"/>
          <p:cNvSpPr/>
          <p:nvPr/>
        </p:nvSpPr>
        <p:spPr>
          <a:xfrm>
            <a:off x="10157460" y="6793992"/>
            <a:ext cx="2040636" cy="64008"/>
          </a:xfrm>
          <a:prstGeom prst="rect">
            <a:avLst/>
          </a:prstGeom>
          <a:solidFill>
            <a:srgbClr val="E1DD57"/>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The Cartridges Run &amp; Error Mix chart</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612648" y="1344168"/>
            <a:ext cx="8695944" cy="4123944"/>
          </a:xfrm>
          <a:prstGeom prst="roundRect">
            <a:avLst>
              <a:gd name="adj" fmla="val 1774"/>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sp>
      <p:pic>
        <p:nvPicPr>
          <p:cNvPr id="6" name="Image 0" descr="volume_chart.png">    </p:cNvPr>
          <p:cNvPicPr>
            <a:picLocks noChangeAspect="1"/>
          </p:cNvPicPr>
          <p:nvPr/>
        </p:nvPicPr>
        <p:blipFill>
          <a:blip r:embed="rId1"/>
          <a:stretch>
            <a:fillRect/>
          </a:stretch>
        </p:blipFill>
        <p:spPr>
          <a:xfrm>
            <a:off x="685800" y="1417320"/>
            <a:ext cx="8549640" cy="3977640"/>
          </a:xfrm>
          <a:prstGeom prst="rect">
            <a:avLst/>
          </a:prstGeom>
        </p:spPr>
      </p:pic>
      <p:sp>
        <p:nvSpPr>
          <p:cNvPr id="7" name="Text 4"/>
          <p:cNvSpPr txBox="1"/>
          <p:nvPr/>
        </p:nvSpPr>
        <p:spPr>
          <a:xfrm>
            <a:off x="612648" y="5504688"/>
            <a:ext cx="8695944" cy="320040"/>
          </a:xfrm>
          <a:prstGeom prst="rect">
            <a:avLst/>
          </a:prstGeom>
          <a:noFill/>
          <a:ln/>
        </p:spPr>
        <p:txBody>
          <a:bodyPr wrap="square" lIns="0" tIns="0" rIns="0" bIns="0" rtlCol="0" anchor="ctr"/>
          <a:lstStyle/>
          <a:p>
            <a:pPr algn="ctr" indent="0" marL="0">
              <a:buNone/>
            </a:pPr>
            <a:r>
              <a:rPr lang="en-US" sz="1100" i="1" dirty="0">
                <a:solidFill>
                  <a:srgbClr val="5F7178"/>
                </a:solidFill>
                <a:latin typeface="Calibri" pitchFamily="34" charset="0"/>
                <a:ea typeface="Calibri" pitchFamily="34" charset="-122"/>
                <a:cs typeface="Calibri" pitchFamily="34" charset="-120"/>
              </a:rPr>
              <a:t>A real render (device serial only — no staff data). Every device gets one of these.</a:t>
            </a:r>
            <a:endParaRPr lang="en-US" sz="1100" dirty="0"/>
          </a:p>
        </p:txBody>
      </p:sp>
      <p:sp>
        <p:nvSpPr>
          <p:cNvPr id="8" name="Shape 5"/>
          <p:cNvSpPr/>
          <p:nvPr/>
        </p:nvSpPr>
        <p:spPr>
          <a:xfrm>
            <a:off x="9464040" y="1417320"/>
            <a:ext cx="2194560" cy="969264"/>
          </a:xfrm>
          <a:prstGeom prst="roundRect">
            <a:avLst>
              <a:gd name="adj" fmla="val 9434"/>
            </a:avLst>
          </a:prstGeom>
          <a:solidFill>
            <a:srgbClr val="E5F2F0"/>
          </a:solidFill>
          <a:ln/>
        </p:spPr>
      </p:sp>
      <p:sp>
        <p:nvSpPr>
          <p:cNvPr id="9" name="Text 6"/>
          <p:cNvSpPr txBox="1"/>
          <p:nvPr/>
        </p:nvSpPr>
        <p:spPr>
          <a:xfrm>
            <a:off x="9601200" y="1490472"/>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Green line
</a:t>
            </a:r>
            <a:pPr indent="0" marL="0">
              <a:buNone/>
            </a:pPr>
            <a:r>
              <a:rPr lang="en-US" sz="950" dirty="0">
                <a:solidFill>
                  <a:srgbClr val="17272E"/>
                </a:solidFill>
                <a:latin typeface="Calibri" pitchFamily="34" charset="0"/>
                <a:ea typeface="Calibri" pitchFamily="34" charset="-122"/>
                <a:cs typeface="Calibri" pitchFamily="34" charset="-120"/>
              </a:rPr>
              <a:t>Cartridges run each month — the device’s workload</a:t>
            </a:r>
            <a:endParaRPr lang="en-US" sz="1150" dirty="0"/>
          </a:p>
        </p:txBody>
      </p:sp>
      <p:sp>
        <p:nvSpPr>
          <p:cNvPr id="10" name="Shape 7"/>
          <p:cNvSpPr/>
          <p:nvPr/>
        </p:nvSpPr>
        <p:spPr>
          <a:xfrm>
            <a:off x="9464040" y="2496312"/>
            <a:ext cx="2194560" cy="969264"/>
          </a:xfrm>
          <a:prstGeom prst="roundRect">
            <a:avLst>
              <a:gd name="adj" fmla="val 9434"/>
            </a:avLst>
          </a:prstGeom>
          <a:solidFill>
            <a:srgbClr val="E5F2F0"/>
          </a:solidFill>
          <a:ln/>
        </p:spPr>
      </p:sp>
      <p:sp>
        <p:nvSpPr>
          <p:cNvPr id="11" name="Text 8"/>
          <p:cNvSpPr txBox="1"/>
          <p:nvPr/>
        </p:nvSpPr>
        <p:spPr>
          <a:xfrm>
            <a:off x="9601200" y="2569464"/>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Coloured bars
</a:t>
            </a:r>
            <a:pPr indent="0" marL="0">
              <a:buNone/>
            </a:pPr>
            <a:r>
              <a:rPr lang="en-US" sz="950" dirty="0">
                <a:solidFill>
                  <a:srgbClr val="17272E"/>
                </a:solidFill>
                <a:latin typeface="Calibri" pitchFamily="34" charset="0"/>
                <a:ea typeface="Calibri" pitchFamily="34" charset="-122"/>
                <a:cs typeface="Calibri" pitchFamily="34" charset="-120"/>
              </a:rPr>
              <a:t>That month’s errors as % of cartridges, split by error category — same colours as the legend</a:t>
            </a:r>
            <a:endParaRPr lang="en-US" sz="1150" dirty="0"/>
          </a:p>
        </p:txBody>
      </p:sp>
      <p:sp>
        <p:nvSpPr>
          <p:cNvPr id="12" name="Shape 9"/>
          <p:cNvSpPr/>
          <p:nvPr/>
        </p:nvSpPr>
        <p:spPr>
          <a:xfrm>
            <a:off x="9464040" y="3575304"/>
            <a:ext cx="2194560" cy="969264"/>
          </a:xfrm>
          <a:prstGeom prst="roundRect">
            <a:avLst>
              <a:gd name="adj" fmla="val 9434"/>
            </a:avLst>
          </a:prstGeom>
          <a:solidFill>
            <a:srgbClr val="E5F2F0"/>
          </a:solidFill>
          <a:ln/>
        </p:spPr>
      </p:sp>
      <p:sp>
        <p:nvSpPr>
          <p:cNvPr id="13" name="Text 10"/>
          <p:cNvSpPr txBox="1"/>
          <p:nvPr/>
        </p:nvSpPr>
        <p:spPr>
          <a:xfrm>
            <a:off x="9601200" y="3648456"/>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Total on top
</a:t>
            </a:r>
            <a:pPr indent="0" marL="0">
              <a:buNone/>
            </a:pPr>
            <a:r>
              <a:rPr lang="en-US" sz="950" dirty="0">
                <a:solidFill>
                  <a:srgbClr val="17272E"/>
                </a:solidFill>
                <a:latin typeface="Calibri" pitchFamily="34" charset="0"/>
                <a:ea typeface="Calibri" pitchFamily="34" charset="-122"/>
                <a:cs typeface="Calibri" pitchFamily="34" charset="-120"/>
              </a:rPr>
              <a:t>The month’s overall error rate sits above each stack</a:t>
            </a:r>
            <a:endParaRPr lang="en-US" sz="1150" dirty="0"/>
          </a:p>
        </p:txBody>
      </p:sp>
      <p:sp>
        <p:nvSpPr>
          <p:cNvPr id="14" name="Shape 11"/>
          <p:cNvSpPr/>
          <p:nvPr/>
        </p:nvSpPr>
        <p:spPr>
          <a:xfrm>
            <a:off x="9464040" y="4654296"/>
            <a:ext cx="2194560" cy="969264"/>
          </a:xfrm>
          <a:prstGeom prst="roundRect">
            <a:avLst>
              <a:gd name="adj" fmla="val 9434"/>
            </a:avLst>
          </a:prstGeom>
          <a:solidFill>
            <a:srgbClr val="E5F2F0"/>
          </a:solidFill>
          <a:ln/>
        </p:spPr>
      </p:sp>
      <p:sp>
        <p:nvSpPr>
          <p:cNvPr id="15" name="Text 12"/>
          <p:cNvSpPr txBox="1"/>
          <p:nvPr/>
        </p:nvSpPr>
        <p:spPr>
          <a:xfrm>
            <a:off x="9601200" y="4727448"/>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Builds itself
</a:t>
            </a:r>
            <a:pPr indent="0" marL="0">
              <a:buNone/>
            </a:pPr>
            <a:r>
              <a:rPr lang="en-US" sz="950" dirty="0">
                <a:solidFill>
                  <a:srgbClr val="17272E"/>
                </a:solidFill>
                <a:latin typeface="Calibri" pitchFamily="34" charset="0"/>
                <a:ea typeface="Calibri" pitchFamily="34" charset="-122"/>
                <a:cs typeface="Calibri" pitchFamily="34" charset="-120"/>
              </a:rPr>
              <a:t>A new month is added every time you generate — history back to Sep 2025 is already included</a:t>
            </a:r>
            <a:endParaRPr lang="en-US" sz="1150" dirty="0"/>
          </a:p>
        </p:txBody>
      </p:sp>
      <p:sp>
        <p:nvSpPr>
          <p:cNvPr id="16" name="Text 13"/>
          <p:cNvSpPr txBox="1"/>
          <p:nvPr/>
        </p:nvSpPr>
        <p:spPr>
          <a:xfrm>
            <a:off x="685800" y="5806440"/>
            <a:ext cx="10972800" cy="457200"/>
          </a:xfrm>
          <a:prstGeom prst="rect">
            <a:avLst/>
          </a:prstGeom>
          <a:noFill/>
          <a:ln/>
        </p:spPr>
        <p:txBody>
          <a:bodyPr wrap="square" lIns="0" tIns="0" rIns="0" bIns="0" rtlCol="0" anchor="ctr"/>
          <a:lstStyle/>
          <a:p>
            <a:pPr indent="0" marL="0">
              <a:buNone/>
            </a:pPr>
            <a:r>
              <a:rPr lang="en-US" sz="1300" i="1" dirty="0">
                <a:solidFill>
                  <a:srgbClr val="5F7178"/>
                </a:solidFill>
                <a:latin typeface="Calibri" pitchFamily="34" charset="0"/>
                <a:ea typeface="Calibri" pitchFamily="34" charset="-122"/>
                <a:cs typeface="Calibri" pitchFamily="34" charset="-120"/>
              </a:rPr>
              <a:t>Read the two together: a rising error line with one colour dominating the bars tells you exactly what to fix — and whether workload explains it.</a:t>
            </a:r>
            <a:endParaRPr lang="en-US" sz="1300" dirty="0"/>
          </a:p>
        </p:txBody>
      </p:sp>
      <p:sp>
        <p:nvSpPr>
          <p:cNvPr id="17" name="Shape 14"/>
          <p:cNvSpPr/>
          <p:nvPr/>
        </p:nvSpPr>
        <p:spPr>
          <a:xfrm>
            <a:off x="0" y="6793992"/>
            <a:ext cx="2040636" cy="64008"/>
          </a:xfrm>
          <a:prstGeom prst="rect">
            <a:avLst/>
          </a:prstGeom>
          <a:solidFill>
            <a:srgbClr val="01485C"/>
          </a:solidFill>
          <a:ln/>
        </p:spPr>
      </p:sp>
      <p:sp>
        <p:nvSpPr>
          <p:cNvPr id="18" name="Shape 15"/>
          <p:cNvSpPr/>
          <p:nvPr/>
        </p:nvSpPr>
        <p:spPr>
          <a:xfrm>
            <a:off x="2031492" y="6793992"/>
            <a:ext cx="2040636" cy="64008"/>
          </a:xfrm>
          <a:prstGeom prst="rect">
            <a:avLst/>
          </a:prstGeom>
          <a:solidFill>
            <a:srgbClr val="146175"/>
          </a:solidFill>
          <a:ln/>
        </p:spPr>
      </p:sp>
      <p:sp>
        <p:nvSpPr>
          <p:cNvPr id="19" name="Shape 16"/>
          <p:cNvSpPr/>
          <p:nvPr/>
        </p:nvSpPr>
        <p:spPr>
          <a:xfrm>
            <a:off x="4062984" y="6793992"/>
            <a:ext cx="2040636" cy="64008"/>
          </a:xfrm>
          <a:prstGeom prst="rect">
            <a:avLst/>
          </a:prstGeom>
          <a:solidFill>
            <a:srgbClr val="11B5AE"/>
          </a:solidFill>
          <a:ln/>
        </p:spPr>
      </p:sp>
      <p:sp>
        <p:nvSpPr>
          <p:cNvPr id="20" name="Shape 17"/>
          <p:cNvSpPr/>
          <p:nvPr/>
        </p:nvSpPr>
        <p:spPr>
          <a:xfrm>
            <a:off x="6094476" y="6793992"/>
            <a:ext cx="2040636" cy="64008"/>
          </a:xfrm>
          <a:prstGeom prst="rect">
            <a:avLst/>
          </a:prstGeom>
          <a:solidFill>
            <a:srgbClr val="6CCAD4"/>
          </a:solidFill>
          <a:ln/>
        </p:spPr>
      </p:sp>
      <p:sp>
        <p:nvSpPr>
          <p:cNvPr id="21" name="Shape 18"/>
          <p:cNvSpPr/>
          <p:nvPr/>
        </p:nvSpPr>
        <p:spPr>
          <a:xfrm>
            <a:off x="8125968" y="6793992"/>
            <a:ext cx="2040636" cy="64008"/>
          </a:xfrm>
          <a:prstGeom prst="rect">
            <a:avLst/>
          </a:prstGeom>
          <a:solidFill>
            <a:srgbClr val="7FC04C"/>
          </a:solidFill>
          <a:ln/>
        </p:spPr>
      </p:sp>
      <p:sp>
        <p:nvSpPr>
          <p:cNvPr id="22" name="Shape 19"/>
          <p:cNvSpPr/>
          <p:nvPr/>
        </p:nvSpPr>
        <p:spPr>
          <a:xfrm>
            <a:off x="10157460" y="6793992"/>
            <a:ext cx="2040636" cy="64008"/>
          </a:xfrm>
          <a:prstGeom prst="rect">
            <a:avLst/>
          </a:prstGeom>
          <a:solidFill>
            <a:srgbClr val="E1DD57"/>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What the report contains (2 of 2)</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548640" y="1325880"/>
            <a:ext cx="420624" cy="420624"/>
          </a:xfrm>
          <a:prstGeom prst="ellipse">
            <a:avLst/>
          </a:prstGeom>
          <a:solidFill>
            <a:srgbClr val="01485C"/>
          </a:solidFill>
          <a:ln/>
        </p:spPr>
      </p:sp>
      <p:sp>
        <p:nvSpPr>
          <p:cNvPr id="6" name="Text 4"/>
          <p:cNvSpPr txBox="1"/>
          <p:nvPr/>
        </p:nvSpPr>
        <p:spPr>
          <a:xfrm>
            <a:off x="548640" y="13258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7" name="Text 5"/>
          <p:cNvSpPr txBox="1"/>
          <p:nvPr/>
        </p:nvSpPr>
        <p:spPr>
          <a:xfrm>
            <a:off x="1133856" y="1271016"/>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Cartridge Error Details
</a:t>
            </a:r>
            <a:pPr indent="0" marL="0">
              <a:buNone/>
            </a:pPr>
            <a:r>
              <a:rPr lang="en-US" sz="1100" dirty="0">
                <a:solidFill>
                  <a:srgbClr val="5F7178"/>
                </a:solidFill>
                <a:latin typeface="Calibri" pitchFamily="34" charset="0"/>
                <a:ea typeface="Calibri" pitchFamily="34" charset="-122"/>
                <a:cs typeface="Calibri" pitchFamily="34" charset="-120"/>
              </a:rPr>
              <a:t>Every error event with location, staff member, category and code. 3+ errors shows in red; a clean month prints "No errors ✓".</a:t>
            </a:r>
            <a:endParaRPr lang="en-US" sz="1300" dirty="0"/>
          </a:p>
        </p:txBody>
      </p:sp>
      <p:sp>
        <p:nvSpPr>
          <p:cNvPr id="8" name="Shape 6"/>
          <p:cNvSpPr/>
          <p:nvPr/>
        </p:nvSpPr>
        <p:spPr>
          <a:xfrm>
            <a:off x="6400800" y="1280160"/>
            <a:ext cx="5212080" cy="859536"/>
          </a:xfrm>
          <a:prstGeom prst="roundRect">
            <a:avLst>
              <a:gd name="adj" fmla="val 8511"/>
            </a:avLst>
          </a:prstGeom>
          <a:solidFill>
            <a:srgbClr val="FFFFFF"/>
          </a:solidFill>
          <a:ln w="15875">
            <a:solidFill>
              <a:srgbClr val="E2E8EA"/>
            </a:solidFill>
            <a:prstDash val="solid"/>
          </a:ln>
        </p:spPr>
      </p:sp>
      <p:sp>
        <p:nvSpPr>
          <p:cNvPr id="9" name="Text 7"/>
          <p:cNvSpPr txBox="1"/>
          <p:nvPr/>
        </p:nvSpPr>
        <p:spPr>
          <a:xfrm>
            <a:off x="6629400" y="1399032"/>
            <a:ext cx="4754880" cy="676656"/>
          </a:xfrm>
          <a:prstGeom prst="rect">
            <a:avLst/>
          </a:prstGeom>
          <a:noFill/>
          <a:ln/>
        </p:spPr>
        <p:txBody>
          <a:bodyPr wrap="square" lIns="0" tIns="0" rIns="0" bIns="0" rtlCol="0" anchor="t"/>
          <a:lstStyle/>
          <a:p>
            <a:pPr indent="0" marL="0">
              <a:buNone/>
            </a:pPr>
            <a:r>
              <a:rPr lang="en-US" sz="1050" dirty="0">
                <a:solidFill>
                  <a:srgbClr val="17272E"/>
                </a:solidFill>
                <a:latin typeface="Calibri" pitchFamily="34" charset="0"/>
                <a:ea typeface="Calibri" pitchFamily="34" charset="-122"/>
                <a:cs typeface="Calibri" pitchFamily="34" charset="-120"/>
              </a:rPr>
              <a:t>Brightwater ICU   </a:t>
            </a:r>
            <a:pPr indent="0" marL="0">
              <a:buNone/>
            </a:pPr>
            <a:r>
              <a:rPr lang="en-US" sz="1050" b="1" dirty="0">
                <a:solidFill>
                  <a:srgbClr val="C00000"/>
                </a:solidFill>
                <a:latin typeface="Calibri" pitchFamily="34" charset="0"/>
                <a:ea typeface="Calibri" pitchFamily="34" charset="-122"/>
                <a:cs typeface="Calibri" pitchFamily="34" charset="-120"/>
              </a:rPr>
              <a:t>Hollybrook, Hayden   </a:t>
            </a:r>
            <a:pPr indent="0" marL="0">
              <a:buNone/>
            </a:pPr>
            <a:r>
              <a:rPr lang="en-US" sz="1050" dirty="0">
                <a:solidFill>
                  <a:srgbClr val="17272E"/>
                </a:solidFill>
                <a:latin typeface="Calibri" pitchFamily="34" charset="0"/>
                <a:ea typeface="Calibri" pitchFamily="34" charset="-122"/>
                <a:cs typeface="Calibri" pitchFamily="34" charset="-120"/>
              </a:rPr>
              <a:t>P3 — Cartridge Handling   ×3
</a:t>
            </a:r>
            <a:pPr indent="0" marL="0">
              <a:buNone/>
            </a:pPr>
            <a:r>
              <a:rPr lang="en-US" sz="1050" dirty="0">
                <a:solidFill>
                  <a:srgbClr val="17272E"/>
                </a:solidFill>
                <a:latin typeface="Calibri" pitchFamily="34" charset="0"/>
                <a:ea typeface="Calibri" pitchFamily="34" charset="-122"/>
                <a:cs typeface="Calibri" pitchFamily="34" charset="-120"/>
              </a:rPr>
              <a:t>Brightwater ED     </a:t>
            </a:r>
            <a:pPr indent="0" marL="0">
              <a:buNone/>
            </a:pPr>
            <a:r>
              <a:rPr lang="en-US" sz="1050" dirty="0">
                <a:solidFill>
                  <a:srgbClr val="17272E"/>
                </a:solidFill>
                <a:latin typeface="Calibri" pitchFamily="34" charset="0"/>
                <a:ea typeface="Calibri" pitchFamily="34" charset="-122"/>
                <a:cs typeface="Calibri" pitchFamily="34" charset="-120"/>
              </a:rPr>
              <a:t>Tarwin, Morgan       </a:t>
            </a:r>
            <a:pPr indent="0" marL="0">
              <a:buNone/>
            </a:pPr>
            <a:r>
              <a:rPr lang="en-US" sz="1050" dirty="0">
                <a:solidFill>
                  <a:srgbClr val="17272E"/>
                </a:solidFill>
                <a:latin typeface="Calibri" pitchFamily="34" charset="0"/>
                <a:ea typeface="Calibri" pitchFamily="34" charset="-122"/>
                <a:cs typeface="Calibri" pitchFamily="34" charset="-120"/>
              </a:rPr>
              <a:t>P6 — Underfilled Cartridge   ×1</a:t>
            </a:r>
            <a:endParaRPr lang="en-US" sz="1050" dirty="0"/>
          </a:p>
        </p:txBody>
      </p:sp>
      <p:sp>
        <p:nvSpPr>
          <p:cNvPr id="10" name="Shape 8"/>
          <p:cNvSpPr/>
          <p:nvPr/>
        </p:nvSpPr>
        <p:spPr>
          <a:xfrm>
            <a:off x="548640" y="2295144"/>
            <a:ext cx="420624" cy="420624"/>
          </a:xfrm>
          <a:prstGeom prst="ellipse">
            <a:avLst/>
          </a:prstGeom>
          <a:solidFill>
            <a:srgbClr val="01485C"/>
          </a:solidFill>
          <a:ln/>
        </p:spPr>
      </p:sp>
      <p:sp>
        <p:nvSpPr>
          <p:cNvPr id="11" name="Text 9"/>
          <p:cNvSpPr txBox="1"/>
          <p:nvPr/>
        </p:nvSpPr>
        <p:spPr>
          <a:xfrm>
            <a:off x="548640" y="22951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2" name="Text 10"/>
          <p:cNvSpPr txBox="1"/>
          <p:nvPr/>
        </p:nvSpPr>
        <p:spPr>
          <a:xfrm>
            <a:off x="1133856" y="2240280"/>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Error Type Summary
</a:t>
            </a:r>
            <a:pPr indent="0" marL="0">
              <a:buNone/>
            </a:pPr>
            <a:r>
              <a:rPr lang="en-US" sz="1100" dirty="0">
                <a:solidFill>
                  <a:srgbClr val="5F7178"/>
                </a:solidFill>
                <a:latin typeface="Calibri" pitchFamily="34" charset="0"/>
                <a:ea typeface="Calibri" pitchFamily="34" charset="-122"/>
                <a:cs typeface="Calibri" pitchFamily="34" charset="-120"/>
              </a:rPr>
              <a:t>The month’s top error types with likely cause and count — where errors come from.</a:t>
            </a:r>
            <a:endParaRPr lang="en-US" sz="1300" dirty="0"/>
          </a:p>
        </p:txBody>
      </p:sp>
      <p:sp>
        <p:nvSpPr>
          <p:cNvPr id="13" name="Shape 11"/>
          <p:cNvSpPr/>
          <p:nvPr/>
        </p:nvSpPr>
        <p:spPr>
          <a:xfrm>
            <a:off x="6400800" y="2249424"/>
            <a:ext cx="5212080" cy="859536"/>
          </a:xfrm>
          <a:prstGeom prst="roundRect">
            <a:avLst>
              <a:gd name="adj" fmla="val 8511"/>
            </a:avLst>
          </a:prstGeom>
          <a:solidFill>
            <a:srgbClr val="FFFFFF"/>
          </a:solidFill>
          <a:ln w="15875">
            <a:solidFill>
              <a:srgbClr val="E2E8EA"/>
            </a:solidFill>
            <a:prstDash val="solid"/>
          </a:ln>
        </p:spPr>
      </p:sp>
      <p:sp>
        <p:nvSpPr>
          <p:cNvPr id="14" name="Text 12"/>
          <p:cNvSpPr txBox="1"/>
          <p:nvPr/>
        </p:nvSpPr>
        <p:spPr>
          <a:xfrm>
            <a:off x="6629400" y="2331720"/>
            <a:ext cx="502920" cy="237744"/>
          </a:xfrm>
          <a:prstGeom prst="rect">
            <a:avLst/>
          </a:prstGeom>
          <a:noFill/>
          <a:ln/>
        </p:spPr>
        <p:txBody>
          <a:bodyPr wrap="square" lIns="0" tIns="0" rIns="0" bIns="0" rtlCol="0" anchor="ctr"/>
          <a:lstStyle/>
          <a:p>
            <a:pPr indent="0" marL="0">
              <a:buNone/>
            </a:pPr>
            <a:r>
              <a:rPr lang="en-US" sz="1000" b="1" dirty="0">
                <a:solidFill>
                  <a:srgbClr val="17272E"/>
                </a:solidFill>
                <a:latin typeface="Calibri" pitchFamily="34" charset="0"/>
                <a:ea typeface="Calibri" pitchFamily="34" charset="-122"/>
                <a:cs typeface="Calibri" pitchFamily="34" charset="-120"/>
              </a:rPr>
              <a:t>P3</a:t>
            </a:r>
            <a:endParaRPr lang="en-US" sz="1000" dirty="0"/>
          </a:p>
        </p:txBody>
      </p:sp>
      <p:sp>
        <p:nvSpPr>
          <p:cNvPr id="15" name="Shape 13"/>
          <p:cNvSpPr/>
          <p:nvPr/>
        </p:nvSpPr>
        <p:spPr>
          <a:xfrm>
            <a:off x="7178040" y="2368296"/>
            <a:ext cx="2194560" cy="164592"/>
          </a:xfrm>
          <a:prstGeom prst="rect">
            <a:avLst/>
          </a:prstGeom>
          <a:solidFill>
            <a:srgbClr val="01485C"/>
          </a:solidFill>
          <a:ln/>
        </p:spPr>
      </p:sp>
      <p:sp>
        <p:nvSpPr>
          <p:cNvPr id="16" name="Text 14"/>
          <p:cNvSpPr txBox="1"/>
          <p:nvPr/>
        </p:nvSpPr>
        <p:spPr>
          <a:xfrm>
            <a:off x="9427464" y="2331720"/>
            <a:ext cx="457200" cy="237744"/>
          </a:xfrm>
          <a:prstGeom prst="rect">
            <a:avLst/>
          </a:prstGeom>
          <a:noFill/>
          <a:ln/>
        </p:spPr>
        <p:txBody>
          <a:bodyPr wrap="square" lIns="0" tIns="0" rIns="0" bIns="0" rtlCol="0" anchor="ctr"/>
          <a:lstStyle/>
          <a:p>
            <a:pPr indent="0" marL="0">
              <a:buNone/>
            </a:pPr>
            <a:r>
              <a:rPr lang="en-US" sz="1000" dirty="0">
                <a:solidFill>
                  <a:srgbClr val="5F7178"/>
                </a:solidFill>
                <a:latin typeface="Calibri" pitchFamily="34" charset="0"/>
                <a:ea typeface="Calibri" pitchFamily="34" charset="-122"/>
                <a:cs typeface="Calibri" pitchFamily="34" charset="-120"/>
              </a:rPr>
              <a:t>6</a:t>
            </a:r>
            <a:endParaRPr lang="en-US" sz="1000" dirty="0"/>
          </a:p>
        </p:txBody>
      </p:sp>
      <p:sp>
        <p:nvSpPr>
          <p:cNvPr id="17" name="Text 15"/>
          <p:cNvSpPr txBox="1"/>
          <p:nvPr/>
        </p:nvSpPr>
        <p:spPr>
          <a:xfrm>
            <a:off x="6629400" y="2587752"/>
            <a:ext cx="502920" cy="237744"/>
          </a:xfrm>
          <a:prstGeom prst="rect">
            <a:avLst/>
          </a:prstGeom>
          <a:noFill/>
          <a:ln/>
        </p:spPr>
        <p:txBody>
          <a:bodyPr wrap="square" lIns="0" tIns="0" rIns="0" bIns="0" rtlCol="0" anchor="ctr"/>
          <a:lstStyle/>
          <a:p>
            <a:pPr indent="0" marL="0">
              <a:buNone/>
            </a:pPr>
            <a:r>
              <a:rPr lang="en-US" sz="1000" b="1" dirty="0">
                <a:solidFill>
                  <a:srgbClr val="17272E"/>
                </a:solidFill>
                <a:latin typeface="Calibri" pitchFamily="34" charset="0"/>
                <a:ea typeface="Calibri" pitchFamily="34" charset="-122"/>
                <a:cs typeface="Calibri" pitchFamily="34" charset="-120"/>
              </a:rPr>
              <a:t>P6</a:t>
            </a:r>
            <a:endParaRPr lang="en-US" sz="1000" dirty="0"/>
          </a:p>
        </p:txBody>
      </p:sp>
      <p:sp>
        <p:nvSpPr>
          <p:cNvPr id="18" name="Shape 16"/>
          <p:cNvSpPr/>
          <p:nvPr/>
        </p:nvSpPr>
        <p:spPr>
          <a:xfrm>
            <a:off x="7178040" y="2624328"/>
            <a:ext cx="1463040" cy="164592"/>
          </a:xfrm>
          <a:prstGeom prst="rect">
            <a:avLst/>
          </a:prstGeom>
          <a:solidFill>
            <a:srgbClr val="11B5AE"/>
          </a:solidFill>
          <a:ln/>
        </p:spPr>
      </p:sp>
      <p:sp>
        <p:nvSpPr>
          <p:cNvPr id="19" name="Text 17"/>
          <p:cNvSpPr txBox="1"/>
          <p:nvPr/>
        </p:nvSpPr>
        <p:spPr>
          <a:xfrm>
            <a:off x="8695944" y="2587752"/>
            <a:ext cx="457200" cy="237744"/>
          </a:xfrm>
          <a:prstGeom prst="rect">
            <a:avLst/>
          </a:prstGeom>
          <a:noFill/>
          <a:ln/>
        </p:spPr>
        <p:txBody>
          <a:bodyPr wrap="square" lIns="0" tIns="0" rIns="0" bIns="0" rtlCol="0" anchor="ctr"/>
          <a:lstStyle/>
          <a:p>
            <a:pPr indent="0" marL="0">
              <a:buNone/>
            </a:pPr>
            <a:r>
              <a:rPr lang="en-US" sz="1000" dirty="0">
                <a:solidFill>
                  <a:srgbClr val="5F7178"/>
                </a:solidFill>
                <a:latin typeface="Calibri" pitchFamily="34" charset="0"/>
                <a:ea typeface="Calibri" pitchFamily="34" charset="-122"/>
                <a:cs typeface="Calibri" pitchFamily="34" charset="-120"/>
              </a:rPr>
              <a:t>4</a:t>
            </a:r>
            <a:endParaRPr lang="en-US" sz="1000" dirty="0"/>
          </a:p>
        </p:txBody>
      </p:sp>
      <p:sp>
        <p:nvSpPr>
          <p:cNvPr id="20" name="Text 18"/>
          <p:cNvSpPr txBox="1"/>
          <p:nvPr/>
        </p:nvSpPr>
        <p:spPr>
          <a:xfrm>
            <a:off x="6629400" y="2843784"/>
            <a:ext cx="502920" cy="237744"/>
          </a:xfrm>
          <a:prstGeom prst="rect">
            <a:avLst/>
          </a:prstGeom>
          <a:noFill/>
          <a:ln/>
        </p:spPr>
        <p:txBody>
          <a:bodyPr wrap="square" lIns="0" tIns="0" rIns="0" bIns="0" rtlCol="0" anchor="ctr"/>
          <a:lstStyle/>
          <a:p>
            <a:pPr indent="0" marL="0">
              <a:buNone/>
            </a:pPr>
            <a:r>
              <a:rPr lang="en-US" sz="1000" b="1" dirty="0">
                <a:solidFill>
                  <a:srgbClr val="17272E"/>
                </a:solidFill>
                <a:latin typeface="Calibri" pitchFamily="34" charset="0"/>
                <a:ea typeface="Calibri" pitchFamily="34" charset="-122"/>
                <a:cs typeface="Calibri" pitchFamily="34" charset="-120"/>
              </a:rPr>
              <a:t>P1</a:t>
            </a:r>
            <a:endParaRPr lang="en-US" sz="1000" dirty="0"/>
          </a:p>
        </p:txBody>
      </p:sp>
      <p:sp>
        <p:nvSpPr>
          <p:cNvPr id="21" name="Shape 19"/>
          <p:cNvSpPr/>
          <p:nvPr/>
        </p:nvSpPr>
        <p:spPr>
          <a:xfrm>
            <a:off x="7178040" y="2880360"/>
            <a:ext cx="731520" cy="164592"/>
          </a:xfrm>
          <a:prstGeom prst="rect">
            <a:avLst/>
          </a:prstGeom>
          <a:solidFill>
            <a:srgbClr val="6CCAD4"/>
          </a:solidFill>
          <a:ln/>
        </p:spPr>
      </p:sp>
      <p:sp>
        <p:nvSpPr>
          <p:cNvPr id="22" name="Text 20"/>
          <p:cNvSpPr txBox="1"/>
          <p:nvPr/>
        </p:nvSpPr>
        <p:spPr>
          <a:xfrm>
            <a:off x="7964424" y="2843784"/>
            <a:ext cx="457200" cy="237744"/>
          </a:xfrm>
          <a:prstGeom prst="rect">
            <a:avLst/>
          </a:prstGeom>
          <a:noFill/>
          <a:ln/>
        </p:spPr>
        <p:txBody>
          <a:bodyPr wrap="square" lIns="0" tIns="0" rIns="0" bIns="0" rtlCol="0" anchor="ctr"/>
          <a:lstStyle/>
          <a:p>
            <a:pPr indent="0" marL="0">
              <a:buNone/>
            </a:pPr>
            <a:r>
              <a:rPr lang="en-US" sz="1000" dirty="0">
                <a:solidFill>
                  <a:srgbClr val="5F7178"/>
                </a:solidFill>
                <a:latin typeface="Calibri" pitchFamily="34" charset="0"/>
                <a:ea typeface="Calibri" pitchFamily="34" charset="-122"/>
                <a:cs typeface="Calibri" pitchFamily="34" charset="-120"/>
              </a:rPr>
              <a:t>2</a:t>
            </a:r>
            <a:endParaRPr lang="en-US" sz="1000" dirty="0"/>
          </a:p>
        </p:txBody>
      </p:sp>
      <p:sp>
        <p:nvSpPr>
          <p:cNvPr id="23" name="Text 21"/>
          <p:cNvSpPr txBox="1"/>
          <p:nvPr/>
        </p:nvSpPr>
        <p:spPr>
          <a:xfrm>
            <a:off x="10058400" y="2313432"/>
            <a:ext cx="1463040" cy="777240"/>
          </a:xfrm>
          <a:prstGeom prst="rect">
            <a:avLst/>
          </a:prstGeom>
          <a:noFill/>
          <a:ln/>
        </p:spPr>
        <p:txBody>
          <a:bodyPr wrap="square" lIns="0" tIns="0" rIns="0" bIns="0" rtlCol="0" anchor="ctr"/>
          <a:lstStyle/>
          <a:p>
            <a:pPr indent="0" marL="0">
              <a:lnSpc>
                <a:spcPts val="1300"/>
              </a:lnSpc>
              <a:buNone/>
            </a:pPr>
            <a:r>
              <a:rPr lang="en-US" sz="900" dirty="0">
                <a:solidFill>
                  <a:srgbClr val="5F7178"/>
                </a:solidFill>
                <a:latin typeface="Calibri" pitchFamily="34" charset="0"/>
                <a:ea typeface="Calibri" pitchFamily="34" charset="-122"/>
                <a:cs typeface="Calibri" pitchFamily="34" charset="-120"/>
              </a:rPr>
              <a:t>Cartridge Handling</a:t>
            </a:r>
            <a:endParaRPr lang="en-US" sz="900" dirty="0"/>
          </a:p>
          <a:p>
            <a:pPr indent="0" marL="0">
              <a:lnSpc>
                <a:spcPts val="1300"/>
              </a:lnSpc>
              <a:buNone/>
            </a:pPr>
            <a:r>
              <a:rPr lang="en-US" sz="900" dirty="0">
                <a:solidFill>
                  <a:srgbClr val="5F7178"/>
                </a:solidFill>
                <a:latin typeface="Calibri" pitchFamily="34" charset="0"/>
                <a:ea typeface="Calibri" pitchFamily="34" charset="-122"/>
                <a:cs typeface="Calibri" pitchFamily="34" charset="-120"/>
              </a:rPr>
              <a:t>Underfilled</a:t>
            </a:r>
            <a:endParaRPr lang="en-US" sz="900" dirty="0"/>
          </a:p>
          <a:p>
            <a:pPr indent="0" marL="0">
              <a:lnSpc>
                <a:spcPts val="1300"/>
              </a:lnSpc>
              <a:buNone/>
            </a:pPr>
            <a:r>
              <a:rPr lang="en-US" sz="900" dirty="0">
                <a:solidFill>
                  <a:srgbClr val="5F7178"/>
                </a:solidFill>
                <a:latin typeface="Calibri" pitchFamily="34" charset="0"/>
                <a:ea typeface="Calibri" pitchFamily="34" charset="-122"/>
                <a:cs typeface="Calibri" pitchFamily="34" charset="-120"/>
              </a:rPr>
              <a:t>Other</a:t>
            </a:r>
            <a:endParaRPr lang="en-US" sz="900" dirty="0"/>
          </a:p>
        </p:txBody>
      </p:sp>
      <p:sp>
        <p:nvSpPr>
          <p:cNvPr id="24" name="Shape 22"/>
          <p:cNvSpPr/>
          <p:nvPr/>
        </p:nvSpPr>
        <p:spPr>
          <a:xfrm>
            <a:off x="548640" y="3264408"/>
            <a:ext cx="420624" cy="420624"/>
          </a:xfrm>
          <a:prstGeom prst="ellipse">
            <a:avLst/>
          </a:prstGeom>
          <a:solidFill>
            <a:srgbClr val="01485C"/>
          </a:solidFill>
          <a:ln/>
        </p:spPr>
      </p:sp>
      <p:sp>
        <p:nvSpPr>
          <p:cNvPr id="25" name="Text 23"/>
          <p:cNvSpPr txBox="1"/>
          <p:nvPr/>
        </p:nvSpPr>
        <p:spPr>
          <a:xfrm>
            <a:off x="548640" y="3264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4"/>
          <p:cNvSpPr txBox="1"/>
          <p:nvPr/>
        </p:nvSpPr>
        <p:spPr>
          <a:xfrm>
            <a:off x="1133856" y="3209544"/>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Top Error Code Analysis
</a:t>
            </a:r>
            <a:pPr indent="0" marL="0">
              <a:buNone/>
            </a:pPr>
            <a:r>
              <a:rPr lang="en-US" sz="1100" dirty="0">
                <a:solidFill>
                  <a:srgbClr val="5F7178"/>
                </a:solidFill>
                <a:latin typeface="Calibri" pitchFamily="34" charset="0"/>
                <a:ea typeface="Calibri" pitchFamily="34" charset="-122"/>
                <a:cs typeface="Calibri" pitchFamily="34" charset="-120"/>
              </a:rPr>
              <a:t>Plain-English explanation of each top code — the device message and its usual cause.</a:t>
            </a:r>
            <a:endParaRPr lang="en-US" sz="1300" dirty="0"/>
          </a:p>
        </p:txBody>
      </p:sp>
      <p:sp>
        <p:nvSpPr>
          <p:cNvPr id="27" name="Shape 25"/>
          <p:cNvSpPr/>
          <p:nvPr/>
        </p:nvSpPr>
        <p:spPr>
          <a:xfrm>
            <a:off x="6400800" y="3218688"/>
            <a:ext cx="5212080" cy="859536"/>
          </a:xfrm>
          <a:prstGeom prst="roundRect">
            <a:avLst>
              <a:gd name="adj" fmla="val 8511"/>
            </a:avLst>
          </a:prstGeom>
          <a:solidFill>
            <a:srgbClr val="FFFFFF"/>
          </a:solidFill>
          <a:ln w="15875">
            <a:solidFill>
              <a:srgbClr val="E2E8EA"/>
            </a:solidFill>
            <a:prstDash val="solid"/>
          </a:ln>
        </p:spPr>
      </p:sp>
      <p:sp>
        <p:nvSpPr>
          <p:cNvPr id="28" name="Text 26"/>
          <p:cNvSpPr txBox="1"/>
          <p:nvPr/>
        </p:nvSpPr>
        <p:spPr>
          <a:xfrm>
            <a:off x="6629400" y="3328416"/>
            <a:ext cx="4754880" cy="676656"/>
          </a:xfrm>
          <a:prstGeom prst="rect">
            <a:avLst/>
          </a:prstGeom>
          <a:noFill/>
          <a:ln/>
        </p:spPr>
        <p:txBody>
          <a:bodyPr wrap="square" lIns="0" tIns="0" rIns="0" bIns="0" rtlCol="0" anchor="t"/>
          <a:lstStyle/>
          <a:p>
            <a:pPr indent="0" marL="0">
              <a:buNone/>
            </a:pPr>
            <a:r>
              <a:rPr lang="en-US" sz="1050" b="1" dirty="0">
                <a:solidFill>
                  <a:srgbClr val="01485C"/>
                </a:solidFill>
                <a:latin typeface="Calibri" pitchFamily="34" charset="0"/>
                <a:ea typeface="Calibri" pitchFamily="34" charset="-122"/>
                <a:cs typeface="Calibri" pitchFamily="34" charset="-120"/>
              </a:rPr>
              <a:t>P3 — Cartridge Handling  (6 occurrences)
</a:t>
            </a:r>
            <a:pPr indent="0" marL="0">
              <a:buNone/>
            </a:pPr>
            <a:r>
              <a:rPr lang="en-US" sz="1000" i="1" dirty="0">
                <a:solidFill>
                  <a:srgbClr val="5F7178"/>
                </a:solidFill>
                <a:latin typeface="Calibri" pitchFamily="34" charset="0"/>
                <a:ea typeface="Calibri" pitchFamily="34" charset="-122"/>
                <a:cs typeface="Calibri" pitchFamily="34" charset="-120"/>
              </a:rPr>
              <a:t>"Usually caused by pressing on the cartridge after insertion, or moving the analyser mid-test..."</a:t>
            </a:r>
            <a:endParaRPr lang="en-US" sz="1050" dirty="0"/>
          </a:p>
        </p:txBody>
      </p:sp>
      <p:sp>
        <p:nvSpPr>
          <p:cNvPr id="29" name="Shape 27"/>
          <p:cNvSpPr/>
          <p:nvPr/>
        </p:nvSpPr>
        <p:spPr>
          <a:xfrm>
            <a:off x="548640" y="4233672"/>
            <a:ext cx="420624" cy="420624"/>
          </a:xfrm>
          <a:prstGeom prst="ellipse">
            <a:avLst/>
          </a:prstGeom>
          <a:solidFill>
            <a:srgbClr val="01485C"/>
          </a:solidFill>
          <a:ln/>
        </p:spPr>
      </p:sp>
      <p:sp>
        <p:nvSpPr>
          <p:cNvPr id="30" name="Text 28"/>
          <p:cNvSpPr txBox="1"/>
          <p:nvPr/>
        </p:nvSpPr>
        <p:spPr>
          <a:xfrm>
            <a:off x="548640" y="42336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1" name="Text 29"/>
          <p:cNvSpPr txBox="1"/>
          <p:nvPr/>
        </p:nvSpPr>
        <p:spPr>
          <a:xfrm>
            <a:off x="1133856" y="4178808"/>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Error Type Trend
</a:t>
            </a:r>
            <a:pPr indent="0" marL="0">
              <a:buNone/>
            </a:pPr>
            <a:r>
              <a:rPr lang="en-US" sz="1100" dirty="0">
                <a:solidFill>
                  <a:srgbClr val="5F7178"/>
                </a:solidFill>
                <a:latin typeface="Calibri" pitchFamily="34" charset="0"/>
                <a:ea typeface="Calibri" pitchFamily="34" charset="-122"/>
                <a:cs typeface="Calibri" pitchFamily="34" charset="-120"/>
              </a:rPr>
              <a:t>Month-by-month top error type — the same code two months running is flagged ⚠.</a:t>
            </a:r>
            <a:endParaRPr lang="en-US" sz="1300" dirty="0"/>
          </a:p>
        </p:txBody>
      </p:sp>
      <p:sp>
        <p:nvSpPr>
          <p:cNvPr id="32" name="Shape 30"/>
          <p:cNvSpPr/>
          <p:nvPr/>
        </p:nvSpPr>
        <p:spPr>
          <a:xfrm>
            <a:off x="6400800" y="4187952"/>
            <a:ext cx="5212080" cy="859536"/>
          </a:xfrm>
          <a:prstGeom prst="roundRect">
            <a:avLst>
              <a:gd name="adj" fmla="val 8511"/>
            </a:avLst>
          </a:prstGeom>
          <a:solidFill>
            <a:srgbClr val="FFFFFF"/>
          </a:solidFill>
          <a:ln w="15875">
            <a:solidFill>
              <a:srgbClr val="E2E8EA"/>
            </a:solidFill>
            <a:prstDash val="solid"/>
          </a:ln>
        </p:spPr>
      </p:sp>
      <p:sp>
        <p:nvSpPr>
          <p:cNvPr id="33" name="Text 31"/>
          <p:cNvSpPr txBox="1"/>
          <p:nvPr/>
        </p:nvSpPr>
        <p:spPr>
          <a:xfrm>
            <a:off x="6629400" y="4187952"/>
            <a:ext cx="4754880" cy="859536"/>
          </a:xfrm>
          <a:prstGeom prst="rect">
            <a:avLst/>
          </a:prstGeom>
          <a:noFill/>
          <a:ln/>
        </p:spPr>
        <p:txBody>
          <a:bodyPr wrap="square" lIns="0" tIns="0" rIns="0" bIns="0" rtlCol="0" anchor="ctr"/>
          <a:lstStyle/>
          <a:p>
            <a:pPr indent="0" marL="0">
              <a:buNone/>
            </a:pPr>
            <a:r>
              <a:rPr lang="en-US" sz="1100" dirty="0">
                <a:solidFill>
                  <a:srgbClr val="17272E"/>
                </a:solidFill>
                <a:latin typeface="Calibri" pitchFamily="34" charset="0"/>
                <a:ea typeface="Calibri" pitchFamily="34" charset="-122"/>
                <a:cs typeface="Calibri" pitchFamily="34" charset="-120"/>
              </a:rPr>
              <a:t>July: P6      August: P3      September: P3  </a:t>
            </a:r>
            <a:pPr indent="0" marL="0">
              <a:buNone/>
            </a:pPr>
            <a:r>
              <a:rPr lang="en-US" sz="1100" b="1" dirty="0">
                <a:solidFill>
                  <a:srgbClr val="C00000"/>
                </a:solidFill>
                <a:latin typeface="Calibri" pitchFamily="34" charset="0"/>
                <a:ea typeface="Calibri" pitchFamily="34" charset="-122"/>
                <a:cs typeface="Calibri" pitchFamily="34" charset="-120"/>
              </a:rPr>
              <a:t>⚠ repeated</a:t>
            </a:r>
            <a:endParaRPr lang="en-US" sz="1100" dirty="0"/>
          </a:p>
        </p:txBody>
      </p:sp>
      <p:sp>
        <p:nvSpPr>
          <p:cNvPr id="34" name="Shape 32"/>
          <p:cNvSpPr/>
          <p:nvPr/>
        </p:nvSpPr>
        <p:spPr>
          <a:xfrm>
            <a:off x="548640" y="5202936"/>
            <a:ext cx="420624" cy="420624"/>
          </a:xfrm>
          <a:prstGeom prst="ellipse">
            <a:avLst/>
          </a:prstGeom>
          <a:solidFill>
            <a:srgbClr val="01485C"/>
          </a:solidFill>
          <a:ln/>
        </p:spPr>
      </p:sp>
      <p:sp>
        <p:nvSpPr>
          <p:cNvPr id="35" name="Text 33"/>
          <p:cNvSpPr txBox="1"/>
          <p:nvPr/>
        </p:nvSpPr>
        <p:spPr>
          <a:xfrm>
            <a:off x="548640" y="5202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36" name="Text 34"/>
          <p:cNvSpPr txBox="1"/>
          <p:nvPr/>
        </p:nvSpPr>
        <p:spPr>
          <a:xfrm>
            <a:off x="1133856" y="5148072"/>
            <a:ext cx="5029200" cy="859536"/>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Staff Requiring Follow-up
</a:t>
            </a:r>
            <a:pPr indent="0" marL="0">
              <a:buNone/>
            </a:pPr>
            <a:r>
              <a:rPr lang="en-US" sz="1100" dirty="0">
                <a:solidFill>
                  <a:srgbClr val="5F7178"/>
                </a:solidFill>
                <a:latin typeface="Calibri" pitchFamily="34" charset="0"/>
                <a:ea typeface="Calibri" pitchFamily="34" charset="-122"/>
                <a:cs typeface="Calibri" pitchFamily="34" charset="-120"/>
              </a:rPr>
              <a:t>The action section: "This Month" (3+ errors) and "Recurring" (consecutive months at this site).</a:t>
            </a:r>
            <a:endParaRPr lang="en-US" sz="1300" dirty="0"/>
          </a:p>
        </p:txBody>
      </p:sp>
      <p:sp>
        <p:nvSpPr>
          <p:cNvPr id="37" name="Shape 35"/>
          <p:cNvSpPr/>
          <p:nvPr/>
        </p:nvSpPr>
        <p:spPr>
          <a:xfrm>
            <a:off x="6400800" y="5157216"/>
            <a:ext cx="5212080" cy="859536"/>
          </a:xfrm>
          <a:prstGeom prst="roundRect">
            <a:avLst>
              <a:gd name="adj" fmla="val 8511"/>
            </a:avLst>
          </a:prstGeom>
          <a:solidFill>
            <a:srgbClr val="FFFFFF"/>
          </a:solidFill>
          <a:ln w="15875">
            <a:solidFill>
              <a:srgbClr val="E2E8EA"/>
            </a:solidFill>
            <a:prstDash val="solid"/>
          </a:ln>
        </p:spPr>
      </p:sp>
      <p:sp>
        <p:nvSpPr>
          <p:cNvPr id="38" name="Text 36"/>
          <p:cNvSpPr txBox="1"/>
          <p:nvPr/>
        </p:nvSpPr>
        <p:spPr>
          <a:xfrm>
            <a:off x="6629400" y="5285232"/>
            <a:ext cx="3566160" cy="630936"/>
          </a:xfrm>
          <a:prstGeom prst="rect">
            <a:avLst/>
          </a:prstGeom>
          <a:noFill/>
          <a:ln/>
        </p:spPr>
        <p:txBody>
          <a:bodyPr wrap="square" lIns="0" tIns="0" rIns="0" bIns="0" rtlCol="0" anchor="t"/>
          <a:lstStyle/>
          <a:p>
            <a:pPr indent="0" marL="0">
              <a:buNone/>
            </a:pPr>
            <a:r>
              <a:rPr lang="en-US" sz="1050" b="1" dirty="0">
                <a:solidFill>
                  <a:srgbClr val="C00000"/>
                </a:solidFill>
                <a:latin typeface="Calibri" pitchFamily="34" charset="0"/>
                <a:ea typeface="Calibri" pitchFamily="34" charset="-122"/>
                <a:cs typeface="Calibri" pitchFamily="34" charset="-120"/>
              </a:rPr>
              <a:t>Hollybrook, Hayden     5 errors     18.5%
</a:t>
            </a:r>
            <a:pPr indent="0" marL="0">
              <a:buNone/>
            </a:pPr>
            <a:r>
              <a:rPr lang="en-US" sz="1050" b="1" dirty="0">
                <a:solidFill>
                  <a:srgbClr val="C00000"/>
                </a:solidFill>
                <a:latin typeface="Calibri" pitchFamily="34" charset="0"/>
                <a:ea typeface="Calibri" pitchFamily="34" charset="-122"/>
                <a:cs typeface="Calibri" pitchFamily="34" charset="-120"/>
              </a:rPr>
              <a:t>Quambone, Reese       3 errors     75.0%</a:t>
            </a:r>
            <a:endParaRPr lang="en-US" sz="1050" dirty="0"/>
          </a:p>
        </p:txBody>
      </p:sp>
      <p:sp>
        <p:nvSpPr>
          <p:cNvPr id="39" name="Text 37"/>
          <p:cNvSpPr txBox="1"/>
          <p:nvPr/>
        </p:nvSpPr>
        <p:spPr>
          <a:xfrm>
            <a:off x="10287000" y="5431536"/>
            <a:ext cx="1188720" cy="320040"/>
          </a:xfrm>
          <a:prstGeom prst="rect">
            <a:avLst/>
          </a:prstGeom>
          <a:noFill/>
          <a:ln/>
        </p:spPr>
        <p:txBody>
          <a:bodyPr wrap="square" lIns="0" tIns="0" rIns="0" bIns="0" rtlCol="0" anchor="ctr"/>
          <a:lstStyle/>
          <a:p>
            <a:pPr indent="0" marL="0">
              <a:buNone/>
            </a:pPr>
            <a:r>
              <a:rPr lang="en-US" sz="950" i="1" dirty="0">
                <a:solidFill>
                  <a:srgbClr val="5F7178"/>
                </a:solidFill>
                <a:latin typeface="Calibri" pitchFamily="34" charset="0"/>
                <a:ea typeface="Calibri" pitchFamily="34" charset="-122"/>
                <a:cs typeface="Calibri" pitchFamily="34" charset="-120"/>
              </a:rPr>
              <a:t>red = act on it</a:t>
            </a:r>
            <a:endParaRPr lang="en-US" sz="950" dirty="0"/>
          </a:p>
        </p:txBody>
      </p:sp>
      <p:sp>
        <p:nvSpPr>
          <p:cNvPr id="40" name="Text 38"/>
          <p:cNvSpPr txBox="1"/>
          <p:nvPr/>
        </p:nvSpPr>
        <p:spPr>
          <a:xfrm>
            <a:off x="6400800" y="6163056"/>
            <a:ext cx="5212080" cy="320040"/>
          </a:xfrm>
          <a:prstGeom prst="rect">
            <a:avLst/>
          </a:prstGeom>
          <a:noFill/>
          <a:ln/>
        </p:spPr>
        <p:txBody>
          <a:bodyPr wrap="square" lIns="0" tIns="0" rIns="0" bIns="0" rtlCol="0" anchor="ctr"/>
          <a:lstStyle/>
          <a:p>
            <a:pPr indent="0" marL="0">
              <a:buNone/>
            </a:pPr>
            <a:r>
              <a:rPr lang="en-US" sz="1000" i="1" dirty="0">
                <a:solidFill>
                  <a:srgbClr val="5F7178"/>
                </a:solidFill>
                <a:latin typeface="Calibri" pitchFamily="34" charset="0"/>
                <a:ea typeface="Calibri" pitchFamily="34" charset="-122"/>
                <a:cs typeface="Calibri" pitchFamily="34" charset="-120"/>
              </a:rPr>
              <a:t>Examples shown with fictional data — layouts match the real Word report.</a:t>
            </a:r>
            <a:endParaRPr lang="en-US" sz="1000" dirty="0"/>
          </a:p>
        </p:txBody>
      </p:sp>
      <p:sp>
        <p:nvSpPr>
          <p:cNvPr id="41" name="Shape 39"/>
          <p:cNvSpPr/>
          <p:nvPr/>
        </p:nvSpPr>
        <p:spPr>
          <a:xfrm>
            <a:off x="0" y="6793992"/>
            <a:ext cx="2040636" cy="64008"/>
          </a:xfrm>
          <a:prstGeom prst="rect">
            <a:avLst/>
          </a:prstGeom>
          <a:solidFill>
            <a:srgbClr val="01485C"/>
          </a:solidFill>
          <a:ln/>
        </p:spPr>
      </p:sp>
      <p:sp>
        <p:nvSpPr>
          <p:cNvPr id="42" name="Shape 40"/>
          <p:cNvSpPr/>
          <p:nvPr/>
        </p:nvSpPr>
        <p:spPr>
          <a:xfrm>
            <a:off x="2031492" y="6793992"/>
            <a:ext cx="2040636" cy="64008"/>
          </a:xfrm>
          <a:prstGeom prst="rect">
            <a:avLst/>
          </a:prstGeom>
          <a:solidFill>
            <a:srgbClr val="146175"/>
          </a:solidFill>
          <a:ln/>
        </p:spPr>
      </p:sp>
      <p:sp>
        <p:nvSpPr>
          <p:cNvPr id="43" name="Shape 41"/>
          <p:cNvSpPr/>
          <p:nvPr/>
        </p:nvSpPr>
        <p:spPr>
          <a:xfrm>
            <a:off x="4062984" y="6793992"/>
            <a:ext cx="2040636" cy="64008"/>
          </a:xfrm>
          <a:prstGeom prst="rect">
            <a:avLst/>
          </a:prstGeom>
          <a:solidFill>
            <a:srgbClr val="11B5AE"/>
          </a:solidFill>
          <a:ln/>
        </p:spPr>
      </p:sp>
      <p:sp>
        <p:nvSpPr>
          <p:cNvPr id="44" name="Shape 42"/>
          <p:cNvSpPr/>
          <p:nvPr/>
        </p:nvSpPr>
        <p:spPr>
          <a:xfrm>
            <a:off x="6094476" y="6793992"/>
            <a:ext cx="2040636" cy="64008"/>
          </a:xfrm>
          <a:prstGeom prst="rect">
            <a:avLst/>
          </a:prstGeom>
          <a:solidFill>
            <a:srgbClr val="6CCAD4"/>
          </a:solidFill>
          <a:ln/>
        </p:spPr>
      </p:sp>
      <p:sp>
        <p:nvSpPr>
          <p:cNvPr id="45" name="Shape 43"/>
          <p:cNvSpPr/>
          <p:nvPr/>
        </p:nvSpPr>
        <p:spPr>
          <a:xfrm>
            <a:off x="8125968" y="6793992"/>
            <a:ext cx="2040636" cy="64008"/>
          </a:xfrm>
          <a:prstGeom prst="rect">
            <a:avLst/>
          </a:prstGeom>
          <a:solidFill>
            <a:srgbClr val="7FC04C"/>
          </a:solidFill>
          <a:ln/>
        </p:spPr>
      </p:sp>
      <p:sp>
        <p:nvSpPr>
          <p:cNvPr id="46" name="Shape 44"/>
          <p:cNvSpPr/>
          <p:nvPr/>
        </p:nvSpPr>
        <p:spPr>
          <a:xfrm>
            <a:off x="10157460" y="6793992"/>
            <a:ext cx="2040636" cy="64008"/>
          </a:xfrm>
          <a:prstGeom prst="rect">
            <a:avLst/>
          </a:prstGeom>
          <a:solidFill>
            <a:srgbClr val="E1DD57"/>
          </a:solidFill>
          <a:ln/>
        </p: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Overview reports and the dormant list</a:t>
            </a:r>
            <a:endParaRPr lang="en-US" sz="3000" dirty="0"/>
          </a:p>
        </p:txBody>
      </p:sp>
      <p:sp>
        <p:nvSpPr>
          <p:cNvPr id="3" name="Shape 1"/>
          <p:cNvSpPr/>
          <p:nvPr/>
        </p:nvSpPr>
        <p:spPr>
          <a:xfrm>
            <a:off x="9784080" y="384048"/>
            <a:ext cx="1828800" cy="457200"/>
          </a:xfrm>
          <a:prstGeom prst="roundRect">
            <a:avLst>
              <a:gd name="adj" fmla="val 50000"/>
            </a:avLst>
          </a:prstGeom>
          <a:solidFill>
            <a:srgbClr val="01485C"/>
          </a:solidFill>
          <a:ln/>
        </p:spPr>
        <p:txBody>
          <a:bodyPr/>
          <a:p/>
        </p:txBody>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i-STAT</a:t>
            </a:r>
            <a:endParaRPr lang="en-US" sz="1500" dirty="0"/>
          </a:p>
        </p:txBody>
      </p:sp>
      <p:sp>
        <p:nvSpPr>
          <p:cNvPr id="5" name="Shape 3"/>
          <p:cNvSpPr/>
          <p:nvPr/>
        </p:nvSpPr>
        <p:spPr>
          <a:xfrm>
            <a:off x="548640" y="1463040"/>
            <a:ext cx="5486400" cy="2103120"/>
          </a:xfrm>
          <a:prstGeom prst="roundRect">
            <a:avLst>
              <a:gd name="adj" fmla="val 5217"/>
            </a:avLst>
          </a:prstGeom>
          <a:solidFill>
            <a:srgbClr val="E5F2F0"/>
          </a:solidFill>
          <a:ln/>
        </p:spPr>
        <p:txBody>
          <a:bodyPr/>
          <a:p/>
        </p:txBody>
      </p:sp>
      <p:sp>
        <p:nvSpPr>
          <p:cNvPr id="6" name="Text 4"/>
          <p:cNvSpPr txBox="1"/>
          <p:nvPr/>
        </p:nvSpPr>
        <p:spPr>
          <a:xfrm>
            <a:off x="822960" y="1664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Site Overview — large sites</a:t>
            </a:r>
            <a:endParaRPr lang="en-US" sz="1600" dirty="0"/>
          </a:p>
        </p:txBody>
      </p:sp>
      <p:sp>
        <p:nvSpPr>
          <p:cNvPr id="7" name="Text 5"/>
          <p:cNvSpPr txBox="1"/>
          <p:nvPr/>
        </p:nvSpPr>
        <p:spPr>
          <a:xfrm>
            <a:off x="822960" y="2148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Every site that is split by ward also gets one page listing each ward’s analyser: cartridges, errors, error % with its band, simulator runs and ceramic ✓/✗, plus a whole-site total. Filed with the ward reports as i-STAT_&lt;Site&gt;_Site_Overview_&lt;Month&gt;.docx</a:t>
            </a:r>
            <a:endParaRPr lang="en-US" sz="1300" dirty="0"/>
          </a:p>
        </p:txBody>
      </p:sp>
      <p:sp>
        <p:nvSpPr>
          <p:cNvPr id="8" name="Shape 6"/>
          <p:cNvSpPr/>
          <p:nvPr/>
        </p:nvSpPr>
        <p:spPr>
          <a:xfrm>
            <a:off x="6172200" y="1463040"/>
            <a:ext cx="5486400" cy="2103120"/>
          </a:xfrm>
          <a:prstGeom prst="roundRect">
            <a:avLst>
              <a:gd name="adj" fmla="val 5217"/>
            </a:avLst>
          </a:prstGeom>
          <a:solidFill>
            <a:srgbClr val="FDF0E4"/>
          </a:solidFill>
          <a:ln/>
        </p:spPr>
        <p:txBody>
          <a:bodyPr/>
          <a:p/>
        </p:txBody>
      </p:sp>
      <p:sp>
        <p:nvSpPr>
          <p:cNvPr id="9" name="Text 7"/>
          <p:cNvSpPr txBox="1"/>
          <p:nvPr/>
        </p:nvSpPr>
        <p:spPr>
          <a:xfrm>
            <a:off x="6446520" y="1664208"/>
            <a:ext cx="4937760" cy="411480"/>
          </a:xfrm>
          <a:prstGeom prst="rect">
            <a:avLst/>
          </a:prstGeom>
          <a:noFill/>
          <a:ln/>
        </p:spPr>
        <p:txBody>
          <a:bodyPr wrap="square" lIns="0" tIns="0" rIns="0" bIns="0" rtlCol="0" anchor="ctr"/>
          <a:lstStyle/>
          <a:p>
            <a:pPr indent="0" marL="0">
              <a:buNone/>
            </a:pPr>
            <a:r>
              <a:rPr lang="en-US" sz="1600" b="1" dirty="0">
                <a:solidFill>
                  <a:srgbClr val="B4540A"/>
                </a:solidFill>
                <a:latin typeface="Calibri" pitchFamily="34" charset="0"/>
                <a:ea typeface="Calibri" pitchFamily="34" charset="-122"/>
                <a:cs typeface="Calibri" pitchFamily="34" charset="-120"/>
              </a:rPr>
              <a:t>Dormant analysers — the 4-month rule</a:t>
            </a:r>
            <a:endParaRPr lang="en-US" sz="1600" dirty="0"/>
          </a:p>
        </p:txBody>
      </p:sp>
      <p:sp>
        <p:nvSpPr>
          <p:cNvPr id="10" name="Text 8"/>
          <p:cNvSpPr txBox="1"/>
          <p:nvPr/>
        </p:nvSpPr>
        <p:spPr>
          <a:xfrm>
            <a:off x="6446520" y="2148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An analyser with no cartridges, no simulator runs and no ceramics for 4 consecutive months gets no report and no longer counts against its site’s simulator or ceramic checks. One or two quiet months change nothing. Any use brings it straight back the next month.</a:t>
            </a:r>
            <a:endParaRPr lang="en-US" sz="1300" dirty="0"/>
          </a:p>
        </p:txBody>
      </p:sp>
      <p:sp>
        <p:nvSpPr>
          <p:cNvPr id="11" name="Shape 9"/>
          <p:cNvSpPr/>
          <p:nvPr/>
        </p:nvSpPr>
        <p:spPr>
          <a:xfrm>
            <a:off x="548640" y="3749040"/>
            <a:ext cx="5486400" cy="2103120"/>
          </a:xfrm>
          <a:prstGeom prst="roundRect">
            <a:avLst>
              <a:gd name="adj" fmla="val 5217"/>
            </a:avLst>
          </a:prstGeom>
          <a:solidFill>
            <a:srgbClr val="E5F2F0"/>
          </a:solidFill>
          <a:ln/>
        </p:spPr>
        <p:txBody>
          <a:bodyPr/>
          <a:p/>
        </p:txBody>
      </p:sp>
      <p:sp>
        <p:nvSpPr>
          <p:cNvPr id="12" name="Text 10"/>
          <p:cNvSpPr txBox="1"/>
          <p:nvPr/>
        </p:nvSpPr>
        <p:spPr>
          <a:xfrm>
            <a:off x="822960" y="3950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Area Summary — every HHS</a:t>
            </a:r>
            <a:endParaRPr lang="en-US" sz="1600" dirty="0"/>
          </a:p>
        </p:txBody>
      </p:sp>
      <p:sp>
        <p:nvSpPr>
          <p:cNvPr id="13" name="Text 11"/>
          <p:cNvSpPr txBox="1"/>
          <p:nvPr/>
        </p:nvSpPr>
        <p:spPr>
          <a:xfrm>
            <a:off x="822960" y="4434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One per HHS folder each run: every hospital in the area on one page with the same figures, an area total, and an “Analysers Needing Attention” table naming each analyser that ran no simulator or fewer than 3 ceramics. i-STAT_&lt;HHS&gt;_Area_Summary_&lt;Month&gt;.docx</a:t>
            </a:r>
            <a:endParaRPr lang="en-US" sz="1300" dirty="0"/>
          </a:p>
        </p:txBody>
      </p:sp>
      <p:sp>
        <p:nvSpPr>
          <p:cNvPr id="14" name="Shape 12"/>
          <p:cNvSpPr/>
          <p:nvPr/>
        </p:nvSpPr>
        <p:spPr>
          <a:xfrm>
            <a:off x="6172200" y="3749040"/>
            <a:ext cx="5486400" cy="2103120"/>
          </a:xfrm>
          <a:prstGeom prst="roundRect">
            <a:avLst>
              <a:gd name="adj" fmla="val 5217"/>
            </a:avLst>
          </a:prstGeom>
          <a:solidFill>
            <a:srgbClr val="E5F2F0"/>
          </a:solidFill>
          <a:ln/>
        </p:spPr>
        <p:txBody>
          <a:bodyPr/>
          <a:p/>
        </p:txBody>
      </p:sp>
      <p:sp>
        <p:nvSpPr>
          <p:cNvPr id="15" name="Text 13"/>
          <p:cNvSpPr txBox="1"/>
          <p:nvPr/>
        </p:nvSpPr>
        <p:spPr>
          <a:xfrm>
            <a:off x="6446520" y="3950208"/>
            <a:ext cx="4937760" cy="411480"/>
          </a:xfrm>
          <a:prstGeom prst="rect">
            <a:avLst/>
          </a:prstGeom>
          <a:noFill/>
          <a:ln/>
        </p:spPr>
        <p:txBody>
          <a:bodyPr wrap="square" lIns="0" tIns="0" rIns="0" bIns="0" rtlCol="0" anchor="ctr"/>
          <a:lstStyle/>
          <a:p>
            <a:pPr indent="0" marL="0">
              <a:buNone/>
            </a:pPr>
            <a:r>
              <a:rPr lang="en-US" sz="1600" b="1" dirty="0">
                <a:solidFill>
                  <a:srgbClr val="01485C"/>
                </a:solidFill>
                <a:latin typeface="Calibri" pitchFamily="34" charset="0"/>
                <a:ea typeface="Calibri" pitchFamily="34" charset="-122"/>
                <a:cs typeface="Calibri" pitchFamily="34" charset="-120"/>
              </a:rPr>
              <a:t>The dormant list</a:t>
            </a:r>
            <a:endParaRPr lang="en-US" sz="1600" dirty="0"/>
          </a:p>
        </p:txBody>
      </p:sp>
      <p:sp>
        <p:nvSpPr>
          <p:cNvPr id="16" name="Text 14"/>
          <p:cNvSpPr txBox="1"/>
          <p:nvPr/>
        </p:nvSpPr>
        <p:spPr>
          <a:xfrm>
            <a:off x="6446520" y="4434840"/>
            <a:ext cx="4937760" cy="1463040"/>
          </a:xfrm>
          <a:prstGeom prst="rect">
            <a:avLst/>
          </a:prstGeom>
          <a:noFill/>
          <a:ln/>
        </p:spPr>
        <p:txBody>
          <a:bodyPr wrap="square" lIns="0" tIns="0" rIns="0" bIns="0" rtlCol="0" anchor="ctr"/>
          <a:lstStyle/>
          <a:p>
            <a:pPr indent="0" marL="0">
              <a:buNone/>
            </a:pPr>
            <a:r>
              <a:rPr lang="en-US" sz="1200" dirty="0">
                <a:solidFill>
                  <a:srgbClr val="17272E"/>
                </a:solidFill>
                <a:latin typeface="Calibri" pitchFamily="34" charset="0"/>
                <a:ea typeface="Calibri" pitchFamily="34" charset="-122"/>
                <a:cs typeface="Calibri" pitchFamily="34" charset="-120"/>
              </a:rPr>
              <a:t>Dormant_iSTATs_&lt;Month&gt;.docx in the reports folder lists every unit left out: hospital, location, serial, months idle and last activity. Check it each month for units to retire — or units that should be in use but are not being maintained. The results card shows the count.</a:t>
            </a:r>
            <a:endParaRPr lang="en-US" sz="1300" dirty="0"/>
          </a:p>
        </p:txBody>
      </p:sp>
      <p:sp>
        <p:nvSpPr>
          <p:cNvPr id="17" name="Shape 15"/>
          <p:cNvSpPr/>
          <p:nvPr/>
        </p:nvSpPr>
        <p:spPr>
          <a:xfrm>
            <a:off x="0" y="6793992"/>
            <a:ext cx="2040636" cy="64008"/>
          </a:xfrm>
          <a:prstGeom prst="rect">
            <a:avLst/>
          </a:prstGeom>
          <a:solidFill>
            <a:srgbClr val="01485C"/>
          </a:solidFill>
          <a:ln/>
        </p:spPr>
      </p:sp>
      <p:sp>
        <p:nvSpPr>
          <p:cNvPr id="18" name="Shape 16"/>
          <p:cNvSpPr/>
          <p:nvPr/>
        </p:nvSpPr>
        <p:spPr>
          <a:xfrm>
            <a:off x="2031492" y="6793992"/>
            <a:ext cx="2040636" cy="64008"/>
          </a:xfrm>
          <a:prstGeom prst="rect">
            <a:avLst/>
          </a:prstGeom>
          <a:solidFill>
            <a:srgbClr val="146175"/>
          </a:solidFill>
          <a:ln/>
        </p:spPr>
      </p:sp>
      <p:sp>
        <p:nvSpPr>
          <p:cNvPr id="19" name="Shape 17"/>
          <p:cNvSpPr/>
          <p:nvPr/>
        </p:nvSpPr>
        <p:spPr>
          <a:xfrm>
            <a:off x="4062984" y="6793992"/>
            <a:ext cx="2040636" cy="64008"/>
          </a:xfrm>
          <a:prstGeom prst="rect">
            <a:avLst/>
          </a:prstGeom>
          <a:solidFill>
            <a:srgbClr val="11B5AE"/>
          </a:solidFill>
          <a:ln/>
        </p:spPr>
      </p:sp>
      <p:sp>
        <p:nvSpPr>
          <p:cNvPr id="20" name="Shape 18"/>
          <p:cNvSpPr/>
          <p:nvPr/>
        </p:nvSpPr>
        <p:spPr>
          <a:xfrm>
            <a:off x="6094476" y="6793992"/>
            <a:ext cx="2040636" cy="64008"/>
          </a:xfrm>
          <a:prstGeom prst="rect">
            <a:avLst/>
          </a:prstGeom>
          <a:solidFill>
            <a:srgbClr val="6CCAD4"/>
          </a:solidFill>
          <a:ln/>
        </p:spPr>
      </p:sp>
      <p:sp>
        <p:nvSpPr>
          <p:cNvPr id="21" name="Shape 19"/>
          <p:cNvSpPr/>
          <p:nvPr/>
        </p:nvSpPr>
        <p:spPr>
          <a:xfrm>
            <a:off x="8125968" y="6793992"/>
            <a:ext cx="2040636" cy="64008"/>
          </a:xfrm>
          <a:prstGeom prst="rect">
            <a:avLst/>
          </a:prstGeom>
          <a:solidFill>
            <a:srgbClr val="7FC04C"/>
          </a:solidFill>
          <a:ln/>
        </p:spPr>
      </p:sp>
      <p:sp>
        <p:nvSpPr>
          <p:cNvPr id="22" name="Shape 20"/>
          <p:cNvSpPr/>
          <p:nvPr/>
        </p:nvSpPr>
        <p:spPr>
          <a:xfrm>
            <a:off x="10157460" y="6793992"/>
            <a:ext cx="2040636" cy="64008"/>
          </a:xfrm>
          <a:prstGeom prst="rect">
            <a:avLst/>
          </a:prstGeom>
          <a:solidFill>
            <a:srgbClr val="E1DD57"/>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What the report contains (1 of 2)</a:t>
            </a:r>
            <a:endParaRPr lang="en-US" sz="3000" dirty="0"/>
          </a:p>
        </p:txBody>
      </p:sp>
      <p:sp>
        <p:nvSpPr>
          <p:cNvPr id="3" name="Shape 1"/>
          <p:cNvSpPr/>
          <p:nvPr/>
        </p:nvSpPr>
        <p:spPr>
          <a:xfrm>
            <a:off x="9784080" y="384048"/>
            <a:ext cx="1828800" cy="457200"/>
          </a:xfrm>
          <a:prstGeom prst="roundRect">
            <a:avLst>
              <a:gd name="adj" fmla="val 50000"/>
            </a:avLst>
          </a:prstGeom>
          <a:solidFill>
            <a:srgbClr val="11B5AE"/>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ABL</a:t>
            </a:r>
            <a:endParaRPr lang="en-US" sz="1500" dirty="0"/>
          </a:p>
        </p:txBody>
      </p:sp>
      <p:sp>
        <p:nvSpPr>
          <p:cNvPr id="5" name="Shape 3"/>
          <p:cNvSpPr/>
          <p:nvPr/>
        </p:nvSpPr>
        <p:spPr>
          <a:xfrm>
            <a:off x="548640" y="1399032"/>
            <a:ext cx="420624" cy="420624"/>
          </a:xfrm>
          <a:prstGeom prst="ellipse">
            <a:avLst/>
          </a:prstGeom>
          <a:solidFill>
            <a:srgbClr val="01485C"/>
          </a:solidFill>
          <a:ln/>
        </p:spPr>
      </p:sp>
      <p:sp>
        <p:nvSpPr>
          <p:cNvPr id="6" name="Text 4"/>
          <p:cNvSpPr txBox="1"/>
          <p:nvPr/>
        </p:nvSpPr>
        <p:spPr>
          <a:xfrm>
            <a:off x="548640" y="13990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33856" y="1344168"/>
            <a:ext cx="5029200" cy="1325880"/>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Monthly Snapshot
</a:t>
            </a:r>
            <a:pPr indent="0" marL="0">
              <a:buNone/>
            </a:pPr>
            <a:r>
              <a:rPr lang="en-US" sz="1100" dirty="0">
                <a:solidFill>
                  <a:srgbClr val="5F7178"/>
                </a:solidFill>
                <a:latin typeface="Calibri" pitchFamily="34" charset="0"/>
                <a:ea typeface="Calibri" pitchFamily="34" charset="-122"/>
                <a:cs typeface="Calibri" pitchFamily="34" charset="-120"/>
              </a:rPr>
              <a:t>The department at a glance: error rate, analysers covered, top error code, operators with errors and any flags raised.</a:t>
            </a:r>
            <a:endParaRPr lang="en-US" sz="1300" dirty="0"/>
          </a:p>
        </p:txBody>
      </p:sp>
      <p:sp>
        <p:nvSpPr>
          <p:cNvPr id="8" name="Shape 6"/>
          <p:cNvSpPr/>
          <p:nvPr/>
        </p:nvSpPr>
        <p:spPr>
          <a:xfrm>
            <a:off x="6400800" y="1353312"/>
            <a:ext cx="5212080" cy="1325880"/>
          </a:xfrm>
          <a:prstGeom prst="roundRect">
            <a:avLst>
              <a:gd name="adj" fmla="val 5517"/>
            </a:avLst>
          </a:prstGeom>
          <a:solidFill>
            <a:srgbClr val="FFFFFF"/>
          </a:solidFill>
          <a:ln w="15875">
            <a:solidFill>
              <a:srgbClr val="E2E8EA"/>
            </a:solidFill>
            <a:prstDash val="solid"/>
          </a:ln>
        </p:spPr>
      </p:sp>
      <p:sp>
        <p:nvSpPr>
          <p:cNvPr id="9" name="Text 7"/>
          <p:cNvSpPr txBox="1"/>
          <p:nvPr/>
        </p:nvSpPr>
        <p:spPr>
          <a:xfrm>
            <a:off x="6629400" y="1627632"/>
            <a:ext cx="4754880" cy="868680"/>
          </a:xfrm>
          <a:prstGeom prst="rect">
            <a:avLst/>
          </a:prstGeom>
          <a:noFill/>
          <a:ln/>
        </p:spPr>
        <p:txBody>
          <a:bodyPr wrap="square" lIns="0" tIns="0" rIns="0" bIns="0" rtlCol="0" anchor="t"/>
          <a:lstStyle/>
          <a:p>
            <a:pPr indent="0" marL="0">
              <a:buNone/>
            </a:pPr>
            <a:r>
              <a:rPr lang="en-US" sz="1250" b="1" dirty="0">
                <a:solidFill>
                  <a:srgbClr val="01485C"/>
                </a:solidFill>
                <a:latin typeface="Calibri" pitchFamily="34" charset="0"/>
                <a:ea typeface="Calibri" pitchFamily="34" charset="-122"/>
                <a:cs typeface="Calibri" pitchFamily="34" charset="-120"/>
              </a:rPr>
              <a:t>Department error rate 3.6%
</a:t>
            </a:r>
            <a:pPr indent="0" marL="0">
              <a:buNone/>
            </a:pPr>
            <a:r>
              <a:rPr lang="en-US" sz="1050" dirty="0">
                <a:solidFill>
                  <a:srgbClr val="5F7178"/>
                </a:solidFill>
                <a:latin typeface="Calibri" pitchFamily="34" charset="0"/>
                <a:ea typeface="Calibri" pitchFamily="34" charset="-122"/>
                <a:cs typeface="Calibri" pitchFamily="34" charset="-120"/>
              </a:rPr>
              <a:t>3 analysers  ·  Top error: 353  ·  14 operators with errors  ·  1 flagged ⚠</a:t>
            </a:r>
            <a:endParaRPr lang="en-US" sz="1250" dirty="0"/>
          </a:p>
        </p:txBody>
      </p:sp>
      <p:sp>
        <p:nvSpPr>
          <p:cNvPr id="10" name="Shape 8"/>
          <p:cNvSpPr/>
          <p:nvPr/>
        </p:nvSpPr>
        <p:spPr>
          <a:xfrm>
            <a:off x="548640" y="2880360"/>
            <a:ext cx="420624" cy="420624"/>
          </a:xfrm>
          <a:prstGeom prst="ellipse">
            <a:avLst/>
          </a:prstGeom>
          <a:solidFill>
            <a:srgbClr val="01485C"/>
          </a:solidFill>
          <a:ln/>
        </p:spPr>
      </p:sp>
      <p:sp>
        <p:nvSpPr>
          <p:cNvPr id="11" name="Text 9"/>
          <p:cNvSpPr txBox="1"/>
          <p:nvPr/>
        </p:nvSpPr>
        <p:spPr>
          <a:xfrm>
            <a:off x="548640" y="2880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33856" y="2825496"/>
            <a:ext cx="5029200" cy="1325880"/>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Historical Performance
</a:t>
            </a:r>
            <a:pPr indent="0" marL="0">
              <a:buNone/>
            </a:pPr>
            <a:r>
              <a:rPr lang="en-US" sz="1100" dirty="0">
                <a:solidFill>
                  <a:srgbClr val="5F7178"/>
                </a:solidFill>
                <a:latin typeface="Calibri" pitchFamily="34" charset="0"/>
                <a:ea typeface="Calibri" pitchFamily="34" charset="-122"/>
                <a:cs typeface="Calibri" pitchFamily="34" charset="-120"/>
              </a:rPr>
              <a:t>Two charts per analyser, building monthly: the error-rate trend, and the Tests Run &amp; Error Mix chart (next slide).</a:t>
            </a:r>
            <a:endParaRPr lang="en-US" sz="1300" dirty="0"/>
          </a:p>
        </p:txBody>
      </p:sp>
      <p:sp>
        <p:nvSpPr>
          <p:cNvPr id="13" name="Shape 11"/>
          <p:cNvSpPr/>
          <p:nvPr/>
        </p:nvSpPr>
        <p:spPr>
          <a:xfrm>
            <a:off x="6400800" y="2834640"/>
            <a:ext cx="5212080" cy="1325880"/>
          </a:xfrm>
          <a:prstGeom prst="roundRect">
            <a:avLst>
              <a:gd name="adj" fmla="val 5517"/>
            </a:avLst>
          </a:prstGeom>
          <a:solidFill>
            <a:srgbClr val="FFFFFF"/>
          </a:solidFill>
          <a:ln w="15875">
            <a:solidFill>
              <a:srgbClr val="E2E8EA"/>
            </a:solidFill>
            <a:prstDash val="solid"/>
          </a:ln>
        </p:spPr>
      </p:sp>
      <p:sp>
        <p:nvSpPr>
          <p:cNvPr id="14" name="Shape 12"/>
          <p:cNvSpPr/>
          <p:nvPr/>
        </p:nvSpPr>
        <p:spPr>
          <a:xfrm>
            <a:off x="6995160" y="3218688"/>
            <a:ext cx="109728" cy="109728"/>
          </a:xfrm>
          <a:prstGeom prst="ellipse">
            <a:avLst/>
          </a:prstGeom>
          <a:solidFill>
            <a:srgbClr val="01485C"/>
          </a:solidFill>
          <a:ln/>
        </p:spPr>
      </p:sp>
      <p:sp>
        <p:nvSpPr>
          <p:cNvPr id="15" name="Shape 13"/>
          <p:cNvSpPr/>
          <p:nvPr/>
        </p:nvSpPr>
        <p:spPr>
          <a:xfrm>
            <a:off x="7680960" y="3108960"/>
            <a:ext cx="109728" cy="109728"/>
          </a:xfrm>
          <a:prstGeom prst="ellipse">
            <a:avLst/>
          </a:prstGeom>
          <a:solidFill>
            <a:srgbClr val="01485C"/>
          </a:solidFill>
          <a:ln/>
        </p:spPr>
      </p:sp>
      <p:sp>
        <p:nvSpPr>
          <p:cNvPr id="16" name="Shape 14"/>
          <p:cNvSpPr/>
          <p:nvPr/>
        </p:nvSpPr>
        <p:spPr>
          <a:xfrm>
            <a:off x="8366760" y="3255264"/>
            <a:ext cx="109728" cy="109728"/>
          </a:xfrm>
          <a:prstGeom prst="ellipse">
            <a:avLst/>
          </a:prstGeom>
          <a:solidFill>
            <a:srgbClr val="01485C"/>
          </a:solidFill>
          <a:ln/>
        </p:spPr>
      </p:sp>
      <p:sp>
        <p:nvSpPr>
          <p:cNvPr id="17" name="Shape 15"/>
          <p:cNvSpPr/>
          <p:nvPr/>
        </p:nvSpPr>
        <p:spPr>
          <a:xfrm>
            <a:off x="9052560" y="3145536"/>
            <a:ext cx="109728" cy="109728"/>
          </a:xfrm>
          <a:prstGeom prst="ellipse">
            <a:avLst/>
          </a:prstGeom>
          <a:solidFill>
            <a:srgbClr val="01485C"/>
          </a:solidFill>
          <a:ln/>
        </p:spPr>
      </p:sp>
      <p:sp>
        <p:nvSpPr>
          <p:cNvPr id="18" name="Shape 16"/>
          <p:cNvSpPr/>
          <p:nvPr/>
        </p:nvSpPr>
        <p:spPr>
          <a:xfrm>
            <a:off x="9738360" y="3054096"/>
            <a:ext cx="109728" cy="109728"/>
          </a:xfrm>
          <a:prstGeom prst="ellipse">
            <a:avLst/>
          </a:prstGeom>
          <a:solidFill>
            <a:srgbClr val="01485C"/>
          </a:solidFill>
          <a:ln/>
        </p:spPr>
      </p:sp>
      <p:sp>
        <p:nvSpPr>
          <p:cNvPr id="19" name="Shape 17"/>
          <p:cNvSpPr/>
          <p:nvPr/>
        </p:nvSpPr>
        <p:spPr>
          <a:xfrm>
            <a:off x="6629400" y="3401568"/>
            <a:ext cx="3566160" cy="0"/>
          </a:xfrm>
          <a:prstGeom prst="line">
            <a:avLst/>
          </a:prstGeom>
          <a:noFill/>
          <a:ln w="12700">
            <a:solidFill>
              <a:srgbClr val="E2E8EA"/>
            </a:solidFill>
            <a:prstDash val="solid"/>
          </a:ln>
        </p:spPr>
      </p:sp>
      <p:sp>
        <p:nvSpPr>
          <p:cNvPr id="20" name="Shape 18"/>
          <p:cNvSpPr/>
          <p:nvPr/>
        </p:nvSpPr>
        <p:spPr>
          <a:xfrm>
            <a:off x="6949440" y="3694176"/>
            <a:ext cx="256032" cy="256032"/>
          </a:xfrm>
          <a:prstGeom prst="rect">
            <a:avLst/>
          </a:prstGeom>
          <a:solidFill>
            <a:srgbClr val="11B5AE"/>
          </a:solidFill>
          <a:ln/>
        </p:spPr>
      </p:sp>
      <p:sp>
        <p:nvSpPr>
          <p:cNvPr id="21" name="Shape 19"/>
          <p:cNvSpPr/>
          <p:nvPr/>
        </p:nvSpPr>
        <p:spPr>
          <a:xfrm>
            <a:off x="6949440" y="3566160"/>
            <a:ext cx="256032" cy="128016"/>
          </a:xfrm>
          <a:prstGeom prst="rect">
            <a:avLst/>
          </a:prstGeom>
          <a:solidFill>
            <a:srgbClr val="7FC04C"/>
          </a:solidFill>
          <a:ln/>
        </p:spPr>
      </p:sp>
      <p:sp>
        <p:nvSpPr>
          <p:cNvPr id="22" name="Shape 20"/>
          <p:cNvSpPr/>
          <p:nvPr/>
        </p:nvSpPr>
        <p:spPr>
          <a:xfrm>
            <a:off x="7635240" y="3767328"/>
            <a:ext cx="256032" cy="182880"/>
          </a:xfrm>
          <a:prstGeom prst="rect">
            <a:avLst/>
          </a:prstGeom>
          <a:solidFill>
            <a:srgbClr val="11B5AE"/>
          </a:solidFill>
          <a:ln/>
        </p:spPr>
      </p:sp>
      <p:sp>
        <p:nvSpPr>
          <p:cNvPr id="23" name="Shape 21"/>
          <p:cNvSpPr/>
          <p:nvPr/>
        </p:nvSpPr>
        <p:spPr>
          <a:xfrm>
            <a:off x="7635240" y="3694176"/>
            <a:ext cx="256032" cy="73152"/>
          </a:xfrm>
          <a:prstGeom prst="rect">
            <a:avLst/>
          </a:prstGeom>
          <a:solidFill>
            <a:srgbClr val="7FC04C"/>
          </a:solidFill>
          <a:ln/>
        </p:spPr>
      </p:sp>
      <p:sp>
        <p:nvSpPr>
          <p:cNvPr id="24" name="Shape 22"/>
          <p:cNvSpPr/>
          <p:nvPr/>
        </p:nvSpPr>
        <p:spPr>
          <a:xfrm>
            <a:off x="8321040" y="3675888"/>
            <a:ext cx="256032" cy="274320"/>
          </a:xfrm>
          <a:prstGeom prst="rect">
            <a:avLst/>
          </a:prstGeom>
          <a:solidFill>
            <a:srgbClr val="11B5AE"/>
          </a:solidFill>
          <a:ln/>
        </p:spPr>
      </p:sp>
      <p:sp>
        <p:nvSpPr>
          <p:cNvPr id="25" name="Shape 23"/>
          <p:cNvSpPr/>
          <p:nvPr/>
        </p:nvSpPr>
        <p:spPr>
          <a:xfrm>
            <a:off x="8321040" y="3511296"/>
            <a:ext cx="256032" cy="164592"/>
          </a:xfrm>
          <a:prstGeom prst="rect">
            <a:avLst/>
          </a:prstGeom>
          <a:solidFill>
            <a:srgbClr val="7FC04C"/>
          </a:solidFill>
          <a:ln/>
        </p:spPr>
      </p:sp>
      <p:sp>
        <p:nvSpPr>
          <p:cNvPr id="26" name="Shape 24"/>
          <p:cNvSpPr/>
          <p:nvPr/>
        </p:nvSpPr>
        <p:spPr>
          <a:xfrm>
            <a:off x="9006840" y="3749040"/>
            <a:ext cx="256032" cy="201168"/>
          </a:xfrm>
          <a:prstGeom prst="rect">
            <a:avLst/>
          </a:prstGeom>
          <a:solidFill>
            <a:srgbClr val="11B5AE"/>
          </a:solidFill>
          <a:ln/>
        </p:spPr>
      </p:sp>
      <p:sp>
        <p:nvSpPr>
          <p:cNvPr id="27" name="Shape 25"/>
          <p:cNvSpPr/>
          <p:nvPr/>
        </p:nvSpPr>
        <p:spPr>
          <a:xfrm>
            <a:off x="9006840" y="3694176"/>
            <a:ext cx="256032" cy="54864"/>
          </a:xfrm>
          <a:prstGeom prst="rect">
            <a:avLst/>
          </a:prstGeom>
          <a:solidFill>
            <a:srgbClr val="7FC04C"/>
          </a:solidFill>
          <a:ln/>
        </p:spPr>
      </p:sp>
      <p:sp>
        <p:nvSpPr>
          <p:cNvPr id="28" name="Shape 26"/>
          <p:cNvSpPr/>
          <p:nvPr/>
        </p:nvSpPr>
        <p:spPr>
          <a:xfrm>
            <a:off x="9692640" y="3803904"/>
            <a:ext cx="256032" cy="146304"/>
          </a:xfrm>
          <a:prstGeom prst="rect">
            <a:avLst/>
          </a:prstGeom>
          <a:solidFill>
            <a:srgbClr val="11B5AE"/>
          </a:solidFill>
          <a:ln/>
        </p:spPr>
      </p:sp>
      <p:sp>
        <p:nvSpPr>
          <p:cNvPr id="29" name="Shape 27"/>
          <p:cNvSpPr/>
          <p:nvPr/>
        </p:nvSpPr>
        <p:spPr>
          <a:xfrm>
            <a:off x="9692640" y="3712464"/>
            <a:ext cx="256032" cy="91440"/>
          </a:xfrm>
          <a:prstGeom prst="rect">
            <a:avLst/>
          </a:prstGeom>
          <a:solidFill>
            <a:srgbClr val="7FC04C"/>
          </a:solidFill>
          <a:ln/>
        </p:spPr>
      </p:sp>
      <p:sp>
        <p:nvSpPr>
          <p:cNvPr id="30" name="Text 28"/>
          <p:cNvSpPr txBox="1"/>
          <p:nvPr/>
        </p:nvSpPr>
        <p:spPr>
          <a:xfrm>
            <a:off x="10378440" y="3108960"/>
            <a:ext cx="1188720" cy="822960"/>
          </a:xfrm>
          <a:prstGeom prst="rect">
            <a:avLst/>
          </a:prstGeom>
          <a:noFill/>
          <a:ln/>
        </p:spPr>
        <p:txBody>
          <a:bodyPr wrap="square" lIns="0" tIns="0" rIns="0" bIns="0" rtlCol="0" anchor="ctr"/>
          <a:lstStyle/>
          <a:p>
            <a:pPr indent="0" marL="0">
              <a:lnSpc>
                <a:spcPts val="1300"/>
              </a:lnSpc>
              <a:buNone/>
            </a:pPr>
            <a:r>
              <a:rPr lang="en-US" sz="950" i="1" dirty="0">
                <a:solidFill>
                  <a:srgbClr val="5F7178"/>
                </a:solidFill>
                <a:latin typeface="Calibri" pitchFamily="34" charset="0"/>
                <a:ea typeface="Calibri" pitchFamily="34" charset="-122"/>
                <a:cs typeface="Calibri" pitchFamily="34" charset="-120"/>
              </a:rPr>
              <a:t>error rate ↑</a:t>
            </a:r>
            <a:endParaRPr lang="en-US" sz="950" dirty="0"/>
          </a:p>
          <a:p>
            <a:pPr indent="0" marL="0">
              <a:lnSpc>
                <a:spcPts val="1300"/>
              </a:lnSpc>
              <a:buNone/>
            </a:pPr>
            <a:r>
              <a:rPr lang="en-US" sz="950" i="1" dirty="0">
                <a:solidFill>
                  <a:srgbClr val="5F7178"/>
                </a:solidFill>
                <a:latin typeface="Calibri" pitchFamily="34" charset="0"/>
                <a:ea typeface="Calibri" pitchFamily="34" charset="-122"/>
                <a:cs typeface="Calibri" pitchFamily="34" charset="-120"/>
              </a:rPr>
              <a:t>tests + error types ↓</a:t>
            </a:r>
            <a:endParaRPr lang="en-US" sz="950" dirty="0"/>
          </a:p>
        </p:txBody>
      </p:sp>
      <p:sp>
        <p:nvSpPr>
          <p:cNvPr id="31" name="Shape 29"/>
          <p:cNvSpPr/>
          <p:nvPr/>
        </p:nvSpPr>
        <p:spPr>
          <a:xfrm>
            <a:off x="548640" y="4361688"/>
            <a:ext cx="420624" cy="420624"/>
          </a:xfrm>
          <a:prstGeom prst="ellipse">
            <a:avLst/>
          </a:prstGeom>
          <a:solidFill>
            <a:srgbClr val="01485C"/>
          </a:solidFill>
          <a:ln/>
        </p:spPr>
      </p:sp>
      <p:sp>
        <p:nvSpPr>
          <p:cNvPr id="32" name="Text 30"/>
          <p:cNvSpPr txBox="1"/>
          <p:nvPr/>
        </p:nvSpPr>
        <p:spPr>
          <a:xfrm>
            <a:off x="548640" y="43616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31"/>
          <p:cNvSpPr txBox="1"/>
          <p:nvPr/>
        </p:nvSpPr>
        <p:spPr>
          <a:xfrm>
            <a:off x="1133856" y="4306824"/>
            <a:ext cx="5029200" cy="1325880"/>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Analyzer Performance
</a:t>
            </a:r>
            <a:pPr indent="0" marL="0">
              <a:buNone/>
            </a:pPr>
            <a:r>
              <a:rPr lang="en-US" sz="1100" dirty="0">
                <a:solidFill>
                  <a:srgbClr val="5F7178"/>
                </a:solidFill>
                <a:latin typeface="Calibri" pitchFamily="34" charset="0"/>
                <a:ea typeface="Calibri" pitchFamily="34" charset="-122"/>
                <a:cs typeface="Calibri" pitchFamily="34" charset="-120"/>
              </a:rPr>
              <a:t>One row per analyser: total tests run, total errors and the analyser’s error % for the month.</a:t>
            </a:r>
            <a:endParaRPr lang="en-US" sz="1300" dirty="0"/>
          </a:p>
        </p:txBody>
      </p:sp>
      <p:sp>
        <p:nvSpPr>
          <p:cNvPr id="34" name="Shape 32"/>
          <p:cNvSpPr/>
          <p:nvPr/>
        </p:nvSpPr>
        <p:spPr>
          <a:xfrm>
            <a:off x="6400800" y="4315968"/>
            <a:ext cx="5212080" cy="1325880"/>
          </a:xfrm>
          <a:prstGeom prst="roundRect">
            <a:avLst>
              <a:gd name="adj" fmla="val 5517"/>
            </a:avLst>
          </a:prstGeom>
          <a:solidFill>
            <a:srgbClr val="FFFFFF"/>
          </a:solidFill>
          <a:ln w="15875">
            <a:solidFill>
              <a:srgbClr val="E2E8EA"/>
            </a:solidFill>
            <a:prstDash val="solid"/>
          </a:ln>
        </p:spPr>
      </p:sp>
      <p:sp>
        <p:nvSpPr>
          <p:cNvPr id="35" name="Text 33"/>
          <p:cNvSpPr txBox="1"/>
          <p:nvPr/>
        </p:nvSpPr>
        <p:spPr>
          <a:xfrm>
            <a:off x="6629400" y="4480560"/>
            <a:ext cx="3657600" cy="274320"/>
          </a:xfrm>
          <a:prstGeom prst="rect">
            <a:avLst/>
          </a:prstGeom>
          <a:noFill/>
          <a:ln/>
        </p:spPr>
        <p:txBody>
          <a:bodyPr wrap="square" lIns="0" tIns="0" rIns="0" bIns="0" rtlCol="0" anchor="ctr"/>
          <a:lstStyle/>
          <a:p>
            <a:pPr indent="0" marL="0">
              <a:buNone/>
            </a:pPr>
            <a:r>
              <a:rPr lang="en-US" sz="1050" dirty="0">
                <a:solidFill>
                  <a:srgbClr val="17272E"/>
                </a:solidFill>
                <a:latin typeface="Calibri" pitchFamily="34" charset="0"/>
                <a:ea typeface="Calibri" pitchFamily="34" charset="-122"/>
                <a:cs typeface="Calibri" pitchFamily="34" charset="-120"/>
              </a:rPr>
              <a:t>ABL800 FLEX — ED       1,240 tests     38 errors</a:t>
            </a:r>
            <a:endParaRPr lang="en-US" sz="1050" dirty="0"/>
          </a:p>
        </p:txBody>
      </p:sp>
      <p:sp>
        <p:nvSpPr>
          <p:cNvPr id="36" name="Shape 34"/>
          <p:cNvSpPr/>
          <p:nvPr/>
        </p:nvSpPr>
        <p:spPr>
          <a:xfrm>
            <a:off x="10378440" y="4480560"/>
            <a:ext cx="960120" cy="274320"/>
          </a:xfrm>
          <a:prstGeom prst="roundRect">
            <a:avLst>
              <a:gd name="adj" fmla="val 26667"/>
            </a:avLst>
          </a:prstGeom>
          <a:solidFill>
            <a:srgbClr val="01485C"/>
          </a:solidFill>
          <a:ln/>
        </p:spPr>
      </p:sp>
      <p:sp>
        <p:nvSpPr>
          <p:cNvPr id="37" name="Text 35"/>
          <p:cNvSpPr txBox="1"/>
          <p:nvPr/>
        </p:nvSpPr>
        <p:spPr>
          <a:xfrm>
            <a:off x="10378440" y="4480560"/>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3.1%</a:t>
            </a:r>
            <a:endParaRPr lang="en-US" sz="1000" dirty="0"/>
          </a:p>
        </p:txBody>
      </p:sp>
      <p:sp>
        <p:nvSpPr>
          <p:cNvPr id="38" name="Text 36"/>
          <p:cNvSpPr txBox="1"/>
          <p:nvPr/>
        </p:nvSpPr>
        <p:spPr>
          <a:xfrm>
            <a:off x="6629400" y="4864608"/>
            <a:ext cx="3657600" cy="274320"/>
          </a:xfrm>
          <a:prstGeom prst="rect">
            <a:avLst/>
          </a:prstGeom>
          <a:noFill/>
          <a:ln/>
        </p:spPr>
        <p:txBody>
          <a:bodyPr wrap="square" lIns="0" tIns="0" rIns="0" bIns="0" rtlCol="0" anchor="ctr"/>
          <a:lstStyle/>
          <a:p>
            <a:pPr indent="0" marL="0">
              <a:buNone/>
            </a:pPr>
            <a:r>
              <a:rPr lang="en-US" sz="1050" dirty="0">
                <a:solidFill>
                  <a:srgbClr val="17272E"/>
                </a:solidFill>
                <a:latin typeface="Calibri" pitchFamily="34" charset="0"/>
                <a:ea typeface="Calibri" pitchFamily="34" charset="-122"/>
                <a:cs typeface="Calibri" pitchFamily="34" charset="-120"/>
              </a:rPr>
              <a:t>ABL800 FLEX — ICU        985 tests     52 errors</a:t>
            </a:r>
            <a:endParaRPr lang="en-US" sz="1050" dirty="0"/>
          </a:p>
        </p:txBody>
      </p:sp>
      <p:sp>
        <p:nvSpPr>
          <p:cNvPr id="39" name="Shape 37"/>
          <p:cNvSpPr/>
          <p:nvPr/>
        </p:nvSpPr>
        <p:spPr>
          <a:xfrm>
            <a:off x="10378440" y="4864608"/>
            <a:ext cx="960120" cy="274320"/>
          </a:xfrm>
          <a:prstGeom prst="roundRect">
            <a:avLst>
              <a:gd name="adj" fmla="val 26667"/>
            </a:avLst>
          </a:prstGeom>
          <a:solidFill>
            <a:srgbClr val="D96800"/>
          </a:solidFill>
          <a:ln/>
        </p:spPr>
      </p:sp>
      <p:sp>
        <p:nvSpPr>
          <p:cNvPr id="40" name="Text 38"/>
          <p:cNvSpPr txBox="1"/>
          <p:nvPr/>
        </p:nvSpPr>
        <p:spPr>
          <a:xfrm>
            <a:off x="10378440" y="486460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5.3%</a:t>
            </a:r>
            <a:endParaRPr lang="en-US" sz="1000" dirty="0"/>
          </a:p>
        </p:txBody>
      </p:sp>
      <p:sp>
        <p:nvSpPr>
          <p:cNvPr id="41" name="Text 39"/>
          <p:cNvSpPr txBox="1"/>
          <p:nvPr/>
        </p:nvSpPr>
        <p:spPr>
          <a:xfrm>
            <a:off x="6629400" y="5248656"/>
            <a:ext cx="3657600" cy="274320"/>
          </a:xfrm>
          <a:prstGeom prst="rect">
            <a:avLst/>
          </a:prstGeom>
          <a:noFill/>
          <a:ln/>
        </p:spPr>
        <p:txBody>
          <a:bodyPr wrap="square" lIns="0" tIns="0" rIns="0" bIns="0" rtlCol="0" anchor="ctr"/>
          <a:lstStyle/>
          <a:p>
            <a:pPr indent="0" marL="0">
              <a:buNone/>
            </a:pPr>
            <a:r>
              <a:rPr lang="en-US" sz="1050" dirty="0">
                <a:solidFill>
                  <a:srgbClr val="17272E"/>
                </a:solidFill>
                <a:latin typeface="Calibri" pitchFamily="34" charset="0"/>
                <a:ea typeface="Calibri" pitchFamily="34" charset="-122"/>
                <a:cs typeface="Calibri" pitchFamily="34" charset="-120"/>
              </a:rPr>
              <a:t>ABL90 — Theatre           412 tests       9 errors</a:t>
            </a:r>
            <a:endParaRPr lang="en-US" sz="1050" dirty="0"/>
          </a:p>
        </p:txBody>
      </p:sp>
      <p:sp>
        <p:nvSpPr>
          <p:cNvPr id="42" name="Shape 40"/>
          <p:cNvSpPr/>
          <p:nvPr/>
        </p:nvSpPr>
        <p:spPr>
          <a:xfrm>
            <a:off x="10378440" y="5248656"/>
            <a:ext cx="960120" cy="274320"/>
          </a:xfrm>
          <a:prstGeom prst="roundRect">
            <a:avLst>
              <a:gd name="adj" fmla="val 26667"/>
            </a:avLst>
          </a:prstGeom>
          <a:solidFill>
            <a:srgbClr val="01485C"/>
          </a:solidFill>
          <a:ln/>
        </p:spPr>
      </p:sp>
      <p:sp>
        <p:nvSpPr>
          <p:cNvPr id="43" name="Text 41"/>
          <p:cNvSpPr txBox="1"/>
          <p:nvPr/>
        </p:nvSpPr>
        <p:spPr>
          <a:xfrm>
            <a:off x="10378440" y="5248656"/>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44" name="Text 42"/>
          <p:cNvSpPr txBox="1"/>
          <p:nvPr/>
        </p:nvSpPr>
        <p:spPr>
          <a:xfrm>
            <a:off x="6400800" y="5769864"/>
            <a:ext cx="5212080" cy="320040"/>
          </a:xfrm>
          <a:prstGeom prst="rect">
            <a:avLst/>
          </a:prstGeom>
          <a:noFill/>
          <a:ln/>
        </p:spPr>
        <p:txBody>
          <a:bodyPr wrap="square" lIns="0" tIns="0" rIns="0" bIns="0" rtlCol="0" anchor="ctr"/>
          <a:lstStyle/>
          <a:p>
            <a:pPr indent="0" marL="0">
              <a:buNone/>
            </a:pPr>
            <a:r>
              <a:rPr lang="en-US" sz="1000" i="1" dirty="0">
                <a:solidFill>
                  <a:srgbClr val="5F7178"/>
                </a:solidFill>
                <a:latin typeface="Calibri" pitchFamily="34" charset="0"/>
                <a:ea typeface="Calibri" pitchFamily="34" charset="-122"/>
                <a:cs typeface="Calibri" pitchFamily="34" charset="-120"/>
              </a:rPr>
              <a:t>Examples shown with fictional data — layouts match the real Word report.</a:t>
            </a:r>
            <a:endParaRPr lang="en-US" sz="1000" dirty="0"/>
          </a:p>
        </p:txBody>
      </p:sp>
      <p:sp>
        <p:nvSpPr>
          <p:cNvPr id="45" name="Shape 43"/>
          <p:cNvSpPr/>
          <p:nvPr/>
        </p:nvSpPr>
        <p:spPr>
          <a:xfrm>
            <a:off x="0" y="6793992"/>
            <a:ext cx="2040636" cy="64008"/>
          </a:xfrm>
          <a:prstGeom prst="rect">
            <a:avLst/>
          </a:prstGeom>
          <a:solidFill>
            <a:srgbClr val="01485C"/>
          </a:solidFill>
          <a:ln/>
        </p:spPr>
      </p:sp>
      <p:sp>
        <p:nvSpPr>
          <p:cNvPr id="46" name="Shape 44"/>
          <p:cNvSpPr/>
          <p:nvPr/>
        </p:nvSpPr>
        <p:spPr>
          <a:xfrm>
            <a:off x="2031492" y="6793992"/>
            <a:ext cx="2040636" cy="64008"/>
          </a:xfrm>
          <a:prstGeom prst="rect">
            <a:avLst/>
          </a:prstGeom>
          <a:solidFill>
            <a:srgbClr val="146175"/>
          </a:solidFill>
          <a:ln/>
        </p:spPr>
      </p:sp>
      <p:sp>
        <p:nvSpPr>
          <p:cNvPr id="47" name="Shape 45"/>
          <p:cNvSpPr/>
          <p:nvPr/>
        </p:nvSpPr>
        <p:spPr>
          <a:xfrm>
            <a:off x="4062984" y="6793992"/>
            <a:ext cx="2040636" cy="64008"/>
          </a:xfrm>
          <a:prstGeom prst="rect">
            <a:avLst/>
          </a:prstGeom>
          <a:solidFill>
            <a:srgbClr val="11B5AE"/>
          </a:solidFill>
          <a:ln/>
        </p:spPr>
      </p:sp>
      <p:sp>
        <p:nvSpPr>
          <p:cNvPr id="48" name="Shape 46"/>
          <p:cNvSpPr/>
          <p:nvPr/>
        </p:nvSpPr>
        <p:spPr>
          <a:xfrm>
            <a:off x="6094476" y="6793992"/>
            <a:ext cx="2040636" cy="64008"/>
          </a:xfrm>
          <a:prstGeom prst="rect">
            <a:avLst/>
          </a:prstGeom>
          <a:solidFill>
            <a:srgbClr val="6CCAD4"/>
          </a:solidFill>
          <a:ln/>
        </p:spPr>
      </p:sp>
      <p:sp>
        <p:nvSpPr>
          <p:cNvPr id="49" name="Shape 47"/>
          <p:cNvSpPr/>
          <p:nvPr/>
        </p:nvSpPr>
        <p:spPr>
          <a:xfrm>
            <a:off x="8125968" y="6793992"/>
            <a:ext cx="2040636" cy="64008"/>
          </a:xfrm>
          <a:prstGeom prst="rect">
            <a:avLst/>
          </a:prstGeom>
          <a:solidFill>
            <a:srgbClr val="7FC04C"/>
          </a:solidFill>
          <a:ln/>
        </p:spPr>
      </p:sp>
      <p:sp>
        <p:nvSpPr>
          <p:cNvPr id="50" name="Shape 48"/>
          <p:cNvSpPr/>
          <p:nvPr/>
        </p:nvSpPr>
        <p:spPr>
          <a:xfrm>
            <a:off x="10157460" y="6793992"/>
            <a:ext cx="2040636" cy="64008"/>
          </a:xfrm>
          <a:prstGeom prst="rect">
            <a:avLst/>
          </a:prstGeom>
          <a:solidFill>
            <a:srgbClr val="E1DD57"/>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The Tests Run &amp; Error Mix chart</a:t>
            </a:r>
            <a:endParaRPr lang="en-US" sz="3000" dirty="0"/>
          </a:p>
        </p:txBody>
      </p:sp>
      <p:sp>
        <p:nvSpPr>
          <p:cNvPr id="3" name="Shape 1"/>
          <p:cNvSpPr/>
          <p:nvPr/>
        </p:nvSpPr>
        <p:spPr>
          <a:xfrm>
            <a:off x="9784080" y="384048"/>
            <a:ext cx="1828800" cy="457200"/>
          </a:xfrm>
          <a:prstGeom prst="roundRect">
            <a:avLst>
              <a:gd name="adj" fmla="val 50000"/>
            </a:avLst>
          </a:prstGeom>
          <a:solidFill>
            <a:srgbClr val="11B5AE"/>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ABL</a:t>
            </a:r>
            <a:endParaRPr lang="en-US" sz="1500" dirty="0"/>
          </a:p>
        </p:txBody>
      </p:sp>
      <p:sp>
        <p:nvSpPr>
          <p:cNvPr id="5" name="Shape 3"/>
          <p:cNvSpPr/>
          <p:nvPr/>
        </p:nvSpPr>
        <p:spPr>
          <a:xfrm>
            <a:off x="612648" y="1344168"/>
            <a:ext cx="8695944" cy="4123944"/>
          </a:xfrm>
          <a:prstGeom prst="roundRect">
            <a:avLst>
              <a:gd name="adj" fmla="val 1774"/>
            </a:avLst>
          </a:prstGeom>
          <a:solidFill>
            <a:srgbClr val="FFFFFF"/>
          </a:solidFill>
          <a:ln w="12700">
            <a:solidFill>
              <a:srgbClr val="E2E8EA"/>
            </a:solidFill>
            <a:prstDash val="solid"/>
          </a:ln>
          <a:effectLst>
            <a:outerShdw sx="100000" sy="100000" kx="0" ky="0" algn="bl" rotWithShape="0" blurRad="177800" dist="50800" dir="5400000">
              <a:srgbClr val="012632">
                <a:alpha val="35000"/>
              </a:srgbClr>
            </a:outerShdw>
          </a:effectLst>
        </p:spPr>
      </p:sp>
      <p:pic>
        <p:nvPicPr>
          <p:cNvPr id="6" name="Image 0" descr="abl_volume_chart.png">    </p:cNvPr>
          <p:cNvPicPr>
            <a:picLocks noChangeAspect="1"/>
          </p:cNvPicPr>
          <p:nvPr/>
        </p:nvPicPr>
        <p:blipFill>
          <a:blip r:embed="rId1"/>
          <a:stretch>
            <a:fillRect/>
          </a:stretch>
        </p:blipFill>
        <p:spPr>
          <a:xfrm>
            <a:off x="685800" y="1417320"/>
            <a:ext cx="8549640" cy="3977640"/>
          </a:xfrm>
          <a:prstGeom prst="rect">
            <a:avLst/>
          </a:prstGeom>
        </p:spPr>
      </p:pic>
      <p:sp>
        <p:nvSpPr>
          <p:cNvPr id="7" name="Text 4"/>
          <p:cNvSpPr txBox="1"/>
          <p:nvPr/>
        </p:nvSpPr>
        <p:spPr>
          <a:xfrm>
            <a:off x="612648" y="5504688"/>
            <a:ext cx="8695944" cy="320040"/>
          </a:xfrm>
          <a:prstGeom prst="rect">
            <a:avLst/>
          </a:prstGeom>
          <a:noFill/>
          <a:ln/>
        </p:spPr>
        <p:txBody>
          <a:bodyPr wrap="square" lIns="0" tIns="0" rIns="0" bIns="0" rtlCol="0" anchor="ctr"/>
          <a:lstStyle/>
          <a:p>
            <a:pPr algn="ctr" indent="0" marL="0">
              <a:buNone/>
            </a:pPr>
            <a:r>
              <a:rPr lang="en-US" sz="1100" i="1" dirty="0">
                <a:solidFill>
                  <a:srgbClr val="5F7178"/>
                </a:solidFill>
                <a:latin typeface="Calibri" pitchFamily="34" charset="0"/>
                <a:ea typeface="Calibri" pitchFamily="34" charset="-122"/>
                <a:cs typeface="Calibri" pitchFamily="34" charset="-120"/>
              </a:rPr>
              <a:t>A real render (analyser ID only — no staff data). Every analyser gets one of these.</a:t>
            </a:r>
            <a:endParaRPr lang="en-US" sz="1100" dirty="0"/>
          </a:p>
        </p:txBody>
      </p:sp>
      <p:sp>
        <p:nvSpPr>
          <p:cNvPr id="8" name="Shape 5"/>
          <p:cNvSpPr/>
          <p:nvPr/>
        </p:nvSpPr>
        <p:spPr>
          <a:xfrm>
            <a:off x="9464040" y="1417320"/>
            <a:ext cx="2194560" cy="969264"/>
          </a:xfrm>
          <a:prstGeom prst="roundRect">
            <a:avLst>
              <a:gd name="adj" fmla="val 9434"/>
            </a:avLst>
          </a:prstGeom>
          <a:solidFill>
            <a:srgbClr val="E5F2F0"/>
          </a:solidFill>
          <a:ln/>
        </p:spPr>
      </p:sp>
      <p:sp>
        <p:nvSpPr>
          <p:cNvPr id="9" name="Text 6"/>
          <p:cNvSpPr txBox="1"/>
          <p:nvPr/>
        </p:nvSpPr>
        <p:spPr>
          <a:xfrm>
            <a:off x="9601200" y="1490472"/>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Green line
</a:t>
            </a:r>
            <a:pPr indent="0" marL="0">
              <a:buNone/>
            </a:pPr>
            <a:r>
              <a:rPr lang="en-US" sz="950" dirty="0">
                <a:solidFill>
                  <a:srgbClr val="17272E"/>
                </a:solidFill>
                <a:latin typeface="Calibri" pitchFamily="34" charset="0"/>
                <a:ea typeface="Calibri" pitchFamily="34" charset="-122"/>
                <a:cs typeface="Calibri" pitchFamily="34" charset="-120"/>
              </a:rPr>
              <a:t>Tests run each month — the analyser’s workload</a:t>
            </a:r>
            <a:endParaRPr lang="en-US" sz="1150" dirty="0"/>
          </a:p>
        </p:txBody>
      </p:sp>
      <p:sp>
        <p:nvSpPr>
          <p:cNvPr id="10" name="Shape 7"/>
          <p:cNvSpPr/>
          <p:nvPr/>
        </p:nvSpPr>
        <p:spPr>
          <a:xfrm>
            <a:off x="9464040" y="2496312"/>
            <a:ext cx="2194560" cy="969264"/>
          </a:xfrm>
          <a:prstGeom prst="roundRect">
            <a:avLst>
              <a:gd name="adj" fmla="val 9434"/>
            </a:avLst>
          </a:prstGeom>
          <a:solidFill>
            <a:srgbClr val="E5F2F0"/>
          </a:solidFill>
          <a:ln/>
        </p:spPr>
      </p:sp>
      <p:sp>
        <p:nvSpPr>
          <p:cNvPr id="11" name="Text 8"/>
          <p:cNvSpPr txBox="1"/>
          <p:nvPr/>
        </p:nvSpPr>
        <p:spPr>
          <a:xfrm>
            <a:off x="9601200" y="2569464"/>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Coloured bars
</a:t>
            </a:r>
            <a:pPr indent="0" marL="0">
              <a:buNone/>
            </a:pPr>
            <a:r>
              <a:rPr lang="en-US" sz="950" dirty="0">
                <a:solidFill>
                  <a:srgbClr val="17272E"/>
                </a:solidFill>
                <a:latin typeface="Calibri" pitchFamily="34" charset="0"/>
                <a:ea typeface="Calibri" pitchFamily="34" charset="-122"/>
                <a:cs typeface="Calibri" pitchFamily="34" charset="-120"/>
              </a:rPr>
              <a:t>That month’s errors as % of tests, split by ABL error code — each code named in the legend</a:t>
            </a:r>
            <a:endParaRPr lang="en-US" sz="1150" dirty="0"/>
          </a:p>
        </p:txBody>
      </p:sp>
      <p:sp>
        <p:nvSpPr>
          <p:cNvPr id="12" name="Shape 9"/>
          <p:cNvSpPr/>
          <p:nvPr/>
        </p:nvSpPr>
        <p:spPr>
          <a:xfrm>
            <a:off x="9464040" y="3575304"/>
            <a:ext cx="2194560" cy="969264"/>
          </a:xfrm>
          <a:prstGeom prst="roundRect">
            <a:avLst>
              <a:gd name="adj" fmla="val 9434"/>
            </a:avLst>
          </a:prstGeom>
          <a:solidFill>
            <a:srgbClr val="E5F2F0"/>
          </a:solidFill>
          <a:ln/>
        </p:spPr>
      </p:sp>
      <p:sp>
        <p:nvSpPr>
          <p:cNvPr id="13" name="Text 10"/>
          <p:cNvSpPr txBox="1"/>
          <p:nvPr/>
        </p:nvSpPr>
        <p:spPr>
          <a:xfrm>
            <a:off x="9601200" y="3648456"/>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Total on top
</a:t>
            </a:r>
            <a:pPr indent="0" marL="0">
              <a:buNone/>
            </a:pPr>
            <a:r>
              <a:rPr lang="en-US" sz="950" dirty="0">
                <a:solidFill>
                  <a:srgbClr val="17272E"/>
                </a:solidFill>
                <a:latin typeface="Calibri" pitchFamily="34" charset="0"/>
                <a:ea typeface="Calibri" pitchFamily="34" charset="-122"/>
                <a:cs typeface="Calibri" pitchFamily="34" charset="-120"/>
              </a:rPr>
              <a:t>The month’s overall error rate sits above each stack</a:t>
            </a:r>
            <a:endParaRPr lang="en-US" sz="1150" dirty="0"/>
          </a:p>
        </p:txBody>
      </p:sp>
      <p:sp>
        <p:nvSpPr>
          <p:cNvPr id="14" name="Shape 11"/>
          <p:cNvSpPr/>
          <p:nvPr/>
        </p:nvSpPr>
        <p:spPr>
          <a:xfrm>
            <a:off x="9464040" y="4654296"/>
            <a:ext cx="2194560" cy="969264"/>
          </a:xfrm>
          <a:prstGeom prst="roundRect">
            <a:avLst>
              <a:gd name="adj" fmla="val 9434"/>
            </a:avLst>
          </a:prstGeom>
          <a:solidFill>
            <a:srgbClr val="E5F2F0"/>
          </a:solidFill>
          <a:ln/>
        </p:spPr>
      </p:sp>
      <p:sp>
        <p:nvSpPr>
          <p:cNvPr id="15" name="Text 12"/>
          <p:cNvSpPr txBox="1"/>
          <p:nvPr/>
        </p:nvSpPr>
        <p:spPr>
          <a:xfrm>
            <a:off x="9601200" y="4727448"/>
            <a:ext cx="1920240" cy="859536"/>
          </a:xfrm>
          <a:prstGeom prst="rect">
            <a:avLst/>
          </a:prstGeom>
          <a:noFill/>
          <a:ln/>
        </p:spPr>
        <p:txBody>
          <a:bodyPr wrap="square" lIns="0" tIns="0" rIns="0" bIns="0" rtlCol="0" anchor="t"/>
          <a:lstStyle/>
          <a:p>
            <a:pPr indent="0" marL="0">
              <a:buNone/>
            </a:pPr>
            <a:r>
              <a:rPr lang="en-US" sz="1150" b="1" dirty="0">
                <a:solidFill>
                  <a:srgbClr val="01485C"/>
                </a:solidFill>
                <a:latin typeface="Calibri" pitchFamily="34" charset="0"/>
                <a:ea typeface="Calibri" pitchFamily="34" charset="-122"/>
                <a:cs typeface="Calibri" pitchFamily="34" charset="-120"/>
              </a:rPr>
              <a:t>Builds itself
</a:t>
            </a:r>
            <a:pPr indent="0" marL="0">
              <a:buNone/>
            </a:pPr>
            <a:r>
              <a:rPr lang="en-US" sz="950" dirty="0">
                <a:solidFill>
                  <a:srgbClr val="17272E"/>
                </a:solidFill>
                <a:latin typeface="Calibri" pitchFamily="34" charset="0"/>
                <a:ea typeface="Calibri" pitchFamily="34" charset="-122"/>
                <a:cs typeface="Calibri" pitchFamily="34" charset="-120"/>
              </a:rPr>
              <a:t>A new month is added every time you generate — the chart grows automatically</a:t>
            </a:r>
            <a:endParaRPr lang="en-US" sz="1150" dirty="0"/>
          </a:p>
        </p:txBody>
      </p:sp>
      <p:sp>
        <p:nvSpPr>
          <p:cNvPr id="16" name="Text 13"/>
          <p:cNvSpPr txBox="1"/>
          <p:nvPr/>
        </p:nvSpPr>
        <p:spPr>
          <a:xfrm>
            <a:off x="685800" y="5806440"/>
            <a:ext cx="10972800" cy="457200"/>
          </a:xfrm>
          <a:prstGeom prst="rect">
            <a:avLst/>
          </a:prstGeom>
          <a:noFill/>
          <a:ln/>
        </p:spPr>
        <p:txBody>
          <a:bodyPr wrap="square" lIns="0" tIns="0" rIns="0" bIns="0" rtlCol="0" anchor="ctr"/>
          <a:lstStyle/>
          <a:p>
            <a:pPr indent="0" marL="0">
              <a:buNone/>
            </a:pPr>
            <a:r>
              <a:rPr lang="en-US" sz="1300" i="1" dirty="0">
                <a:solidFill>
                  <a:srgbClr val="5F7178"/>
                </a:solidFill>
                <a:latin typeface="Calibri" pitchFamily="34" charset="0"/>
                <a:ea typeface="Calibri" pitchFamily="34" charset="-122"/>
                <a:cs typeface="Calibri" pitchFamily="34" charset="-120"/>
              </a:rPr>
              <a:t>Same reading as the i-STAT chart: a dominant colour in the bars names the problem — here, code 722 Sample Error is clearly the one to chase.</a:t>
            </a:r>
            <a:endParaRPr lang="en-US" sz="1300" dirty="0"/>
          </a:p>
        </p:txBody>
      </p:sp>
      <p:sp>
        <p:nvSpPr>
          <p:cNvPr id="17" name="Shape 14"/>
          <p:cNvSpPr/>
          <p:nvPr/>
        </p:nvSpPr>
        <p:spPr>
          <a:xfrm>
            <a:off x="0" y="6793992"/>
            <a:ext cx="2040636" cy="64008"/>
          </a:xfrm>
          <a:prstGeom prst="rect">
            <a:avLst/>
          </a:prstGeom>
          <a:solidFill>
            <a:srgbClr val="01485C"/>
          </a:solidFill>
          <a:ln/>
        </p:spPr>
      </p:sp>
      <p:sp>
        <p:nvSpPr>
          <p:cNvPr id="18" name="Shape 15"/>
          <p:cNvSpPr/>
          <p:nvPr/>
        </p:nvSpPr>
        <p:spPr>
          <a:xfrm>
            <a:off x="2031492" y="6793992"/>
            <a:ext cx="2040636" cy="64008"/>
          </a:xfrm>
          <a:prstGeom prst="rect">
            <a:avLst/>
          </a:prstGeom>
          <a:solidFill>
            <a:srgbClr val="146175"/>
          </a:solidFill>
          <a:ln/>
        </p:spPr>
      </p:sp>
      <p:sp>
        <p:nvSpPr>
          <p:cNvPr id="19" name="Shape 16"/>
          <p:cNvSpPr/>
          <p:nvPr/>
        </p:nvSpPr>
        <p:spPr>
          <a:xfrm>
            <a:off x="4062984" y="6793992"/>
            <a:ext cx="2040636" cy="64008"/>
          </a:xfrm>
          <a:prstGeom prst="rect">
            <a:avLst/>
          </a:prstGeom>
          <a:solidFill>
            <a:srgbClr val="11B5AE"/>
          </a:solidFill>
          <a:ln/>
        </p:spPr>
      </p:sp>
      <p:sp>
        <p:nvSpPr>
          <p:cNvPr id="20" name="Shape 17"/>
          <p:cNvSpPr/>
          <p:nvPr/>
        </p:nvSpPr>
        <p:spPr>
          <a:xfrm>
            <a:off x="6094476" y="6793992"/>
            <a:ext cx="2040636" cy="64008"/>
          </a:xfrm>
          <a:prstGeom prst="rect">
            <a:avLst/>
          </a:prstGeom>
          <a:solidFill>
            <a:srgbClr val="6CCAD4"/>
          </a:solidFill>
          <a:ln/>
        </p:spPr>
      </p:sp>
      <p:sp>
        <p:nvSpPr>
          <p:cNvPr id="21" name="Shape 18"/>
          <p:cNvSpPr/>
          <p:nvPr/>
        </p:nvSpPr>
        <p:spPr>
          <a:xfrm>
            <a:off x="8125968" y="6793992"/>
            <a:ext cx="2040636" cy="64008"/>
          </a:xfrm>
          <a:prstGeom prst="rect">
            <a:avLst/>
          </a:prstGeom>
          <a:solidFill>
            <a:srgbClr val="7FC04C"/>
          </a:solidFill>
          <a:ln/>
        </p:spPr>
      </p:sp>
      <p:sp>
        <p:nvSpPr>
          <p:cNvPr id="22" name="Shape 19"/>
          <p:cNvSpPr/>
          <p:nvPr/>
        </p:nvSpPr>
        <p:spPr>
          <a:xfrm>
            <a:off x="10157460" y="6793992"/>
            <a:ext cx="2040636" cy="64008"/>
          </a:xfrm>
          <a:prstGeom prst="rect">
            <a:avLst/>
          </a:prstGeom>
          <a:solidFill>
            <a:srgbClr val="E1DD57"/>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What the report contains (2 of 2)</a:t>
            </a:r>
            <a:endParaRPr lang="en-US" sz="3000" dirty="0"/>
          </a:p>
        </p:txBody>
      </p:sp>
      <p:sp>
        <p:nvSpPr>
          <p:cNvPr id="3" name="Shape 1"/>
          <p:cNvSpPr/>
          <p:nvPr/>
        </p:nvSpPr>
        <p:spPr>
          <a:xfrm>
            <a:off x="9784080" y="384048"/>
            <a:ext cx="1828800" cy="457200"/>
          </a:xfrm>
          <a:prstGeom prst="roundRect">
            <a:avLst>
              <a:gd name="adj" fmla="val 50000"/>
            </a:avLst>
          </a:prstGeom>
          <a:solidFill>
            <a:srgbClr val="11B5AE"/>
          </a:solidFill>
          <a:ln/>
        </p:spPr>
      </p:sp>
      <p:sp>
        <p:nvSpPr>
          <p:cNvPr id="4" name="Text 2"/>
          <p:cNvSpPr txBox="1"/>
          <p:nvPr/>
        </p:nvSpPr>
        <p:spPr>
          <a:xfrm>
            <a:off x="9784080" y="384048"/>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ABL</a:t>
            </a:r>
            <a:endParaRPr lang="en-US" sz="1500" dirty="0"/>
          </a:p>
        </p:txBody>
      </p:sp>
      <p:sp>
        <p:nvSpPr>
          <p:cNvPr id="5" name="Shape 3"/>
          <p:cNvSpPr/>
          <p:nvPr/>
        </p:nvSpPr>
        <p:spPr>
          <a:xfrm>
            <a:off x="548640" y="1399032"/>
            <a:ext cx="420624" cy="420624"/>
          </a:xfrm>
          <a:prstGeom prst="ellipse">
            <a:avLst/>
          </a:prstGeom>
          <a:solidFill>
            <a:srgbClr val="01485C"/>
          </a:solidFill>
          <a:ln/>
        </p:spPr>
      </p:sp>
      <p:sp>
        <p:nvSpPr>
          <p:cNvPr id="6" name="Text 4"/>
          <p:cNvSpPr txBox="1"/>
          <p:nvPr/>
        </p:nvSpPr>
        <p:spPr>
          <a:xfrm>
            <a:off x="548640" y="13990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7" name="Text 5"/>
          <p:cNvSpPr txBox="1"/>
          <p:nvPr/>
        </p:nvSpPr>
        <p:spPr>
          <a:xfrm>
            <a:off x="1133856" y="1344168"/>
            <a:ext cx="5029200" cy="1325880"/>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Operator Error Details by Analyzer
</a:t>
            </a:r>
            <a:pPr indent="0" marL="0">
              <a:buNone/>
            </a:pPr>
            <a:r>
              <a:rPr lang="en-US" sz="1100" dirty="0">
                <a:solidFill>
                  <a:srgbClr val="5F7178"/>
                </a:solidFill>
                <a:latin typeface="Calibri" pitchFamily="34" charset="0"/>
                <a:ea typeface="Calibri" pitchFamily="34" charset="-122"/>
                <a:cs typeface="Calibri" pitchFamily="34" charset="-120"/>
              </a:rPr>
              <a:t>Every operator on each analyser: tests run, a column per ABL error code (328–791) and their error %. ⚠ = flagged (more than 10 tests and over 10%); * = 10 tests or fewer, not assessed.</a:t>
            </a:r>
            <a:endParaRPr lang="en-US" sz="1300" dirty="0"/>
          </a:p>
        </p:txBody>
      </p:sp>
      <p:sp>
        <p:nvSpPr>
          <p:cNvPr id="8" name="Shape 6"/>
          <p:cNvSpPr/>
          <p:nvPr/>
        </p:nvSpPr>
        <p:spPr>
          <a:xfrm>
            <a:off x="6400800" y="1353312"/>
            <a:ext cx="5212080" cy="1325880"/>
          </a:xfrm>
          <a:prstGeom prst="roundRect">
            <a:avLst>
              <a:gd name="adj" fmla="val 5517"/>
            </a:avLst>
          </a:prstGeom>
          <a:solidFill>
            <a:srgbClr val="FFFFFF"/>
          </a:solidFill>
          <a:ln w="15875">
            <a:solidFill>
              <a:srgbClr val="E2E8EA"/>
            </a:solidFill>
            <a:prstDash val="solid"/>
          </a:ln>
        </p:spPr>
      </p:sp>
      <p:sp>
        <p:nvSpPr>
          <p:cNvPr id="9" name="Text 7"/>
          <p:cNvSpPr txBox="1"/>
          <p:nvPr/>
        </p:nvSpPr>
        <p:spPr>
          <a:xfrm>
            <a:off x="6629400" y="1463040"/>
            <a:ext cx="4754880" cy="1143000"/>
          </a:xfrm>
          <a:prstGeom prst="rect">
            <a:avLst/>
          </a:prstGeom>
          <a:noFill/>
          <a:ln/>
        </p:spPr>
        <p:txBody>
          <a:bodyPr wrap="square" lIns="0" tIns="0" rIns="0" bIns="0" rtlCol="0" anchor="t"/>
          <a:lstStyle/>
          <a:p>
            <a:pPr indent="0" marL="0">
              <a:buNone/>
            </a:pPr>
            <a:r>
              <a:rPr lang="en-US" sz="1000" b="1" dirty="0">
                <a:solidFill>
                  <a:srgbClr val="01485C"/>
                </a:solidFill>
                <a:latin typeface="Calibri" pitchFamily="34" charset="0"/>
                <a:ea typeface="Calibri" pitchFamily="34" charset="-122"/>
                <a:cs typeface="Calibri" pitchFamily="34" charset="-120"/>
              </a:rPr>
              <a:t>Operator          Tests    353   368    Error %
</a:t>
            </a:r>
            <a:pPr indent="0" marL="0">
              <a:buNone/>
            </a:pPr>
            <a:r>
              <a:rPr lang="en-US" sz="1050" b="1" dirty="0">
                <a:solidFill>
                  <a:srgbClr val="C00000"/>
                </a:solidFill>
                <a:latin typeface="Calibri" pitchFamily="34" charset="0"/>
                <a:ea typeface="Calibri" pitchFamily="34" charset="-122"/>
                <a:cs typeface="Calibri" pitchFamily="34" charset="-120"/>
              </a:rPr>
              <a:t>Farrow, Q.           42        3       1       11.9%  ⚠
</a:t>
            </a:r>
            <a:pPr indent="0" marL="0">
              <a:buNone/>
            </a:pPr>
            <a:r>
              <a:rPr lang="en-US" sz="1050" dirty="0">
                <a:solidFill>
                  <a:srgbClr val="17272E"/>
                </a:solidFill>
                <a:latin typeface="Calibri" pitchFamily="34" charset="0"/>
                <a:ea typeface="Calibri" pitchFamily="34" charset="-122"/>
                <a:cs typeface="Calibri" pitchFamily="34" charset="-120"/>
              </a:rPr>
              <a:t>Bracken, R.          61        1       0        1.6%
</a:t>
            </a:r>
            <a:pPr indent="0" marL="0">
              <a:buNone/>
            </a:pPr>
            <a:r>
              <a:rPr lang="en-US" sz="1050" dirty="0">
                <a:solidFill>
                  <a:srgbClr val="5F7178"/>
                </a:solidFill>
                <a:latin typeface="Calibri" pitchFamily="34" charset="0"/>
                <a:ea typeface="Calibri" pitchFamily="34" charset="-122"/>
                <a:cs typeface="Calibri" pitchFamily="34" charset="-120"/>
              </a:rPr>
              <a:t>Elsmore, T.            6        1       0            *    not assessed</a:t>
            </a:r>
            <a:endParaRPr lang="en-US" sz="1000" dirty="0"/>
          </a:p>
        </p:txBody>
      </p:sp>
      <p:sp>
        <p:nvSpPr>
          <p:cNvPr id="10" name="Shape 8"/>
          <p:cNvSpPr/>
          <p:nvPr/>
        </p:nvSpPr>
        <p:spPr>
          <a:xfrm>
            <a:off x="548640" y="2880360"/>
            <a:ext cx="420624" cy="420624"/>
          </a:xfrm>
          <a:prstGeom prst="ellipse">
            <a:avLst/>
          </a:prstGeom>
          <a:solidFill>
            <a:srgbClr val="01485C"/>
          </a:solidFill>
          <a:ln/>
        </p:spPr>
      </p:sp>
      <p:sp>
        <p:nvSpPr>
          <p:cNvPr id="11" name="Text 9"/>
          <p:cNvSpPr txBox="1"/>
          <p:nvPr/>
        </p:nvSpPr>
        <p:spPr>
          <a:xfrm>
            <a:off x="548640" y="2880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133856" y="2825496"/>
            <a:ext cx="5029200" cy="1325880"/>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Error Type Summary
</a:t>
            </a:r>
            <a:pPr indent="0" marL="0">
              <a:buNone/>
            </a:pPr>
            <a:r>
              <a:rPr lang="en-US" sz="1100" dirty="0">
                <a:solidFill>
                  <a:srgbClr val="5F7178"/>
                </a:solidFill>
                <a:latin typeface="Calibri" pitchFamily="34" charset="0"/>
                <a:ea typeface="Calibri" pitchFamily="34" charset="-122"/>
                <a:cs typeface="Calibri" pitchFamily="34" charset="-120"/>
              </a:rPr>
              <a:t>A department-wide count of each ABL error code for the month — the department’s error fingerprint.</a:t>
            </a:r>
            <a:endParaRPr lang="en-US" sz="1300" dirty="0"/>
          </a:p>
        </p:txBody>
      </p:sp>
      <p:sp>
        <p:nvSpPr>
          <p:cNvPr id="13" name="Shape 11"/>
          <p:cNvSpPr/>
          <p:nvPr/>
        </p:nvSpPr>
        <p:spPr>
          <a:xfrm>
            <a:off x="6400800" y="2834640"/>
            <a:ext cx="5212080" cy="1325880"/>
          </a:xfrm>
          <a:prstGeom prst="roundRect">
            <a:avLst>
              <a:gd name="adj" fmla="val 5517"/>
            </a:avLst>
          </a:prstGeom>
          <a:solidFill>
            <a:srgbClr val="FFFFFF"/>
          </a:solidFill>
          <a:ln w="15875">
            <a:solidFill>
              <a:srgbClr val="E2E8EA"/>
            </a:solidFill>
            <a:prstDash val="solid"/>
          </a:ln>
        </p:spPr>
      </p:sp>
      <p:sp>
        <p:nvSpPr>
          <p:cNvPr id="14" name="Text 12"/>
          <p:cNvSpPr txBox="1"/>
          <p:nvPr/>
        </p:nvSpPr>
        <p:spPr>
          <a:xfrm>
            <a:off x="6629400" y="2999232"/>
            <a:ext cx="502920" cy="237744"/>
          </a:xfrm>
          <a:prstGeom prst="rect">
            <a:avLst/>
          </a:prstGeom>
          <a:noFill/>
          <a:ln/>
        </p:spPr>
        <p:txBody>
          <a:bodyPr wrap="square" lIns="0" tIns="0" rIns="0" bIns="0" rtlCol="0" anchor="ctr"/>
          <a:lstStyle/>
          <a:p>
            <a:pPr indent="0" marL="0">
              <a:buNone/>
            </a:pPr>
            <a:r>
              <a:rPr lang="en-US" sz="1000" b="1" dirty="0">
                <a:solidFill>
                  <a:srgbClr val="17272E"/>
                </a:solidFill>
                <a:latin typeface="Calibri" pitchFamily="34" charset="0"/>
                <a:ea typeface="Calibri" pitchFamily="34" charset="-122"/>
                <a:cs typeface="Calibri" pitchFamily="34" charset="-120"/>
              </a:rPr>
              <a:t>353</a:t>
            </a:r>
            <a:endParaRPr lang="en-US" sz="1000" dirty="0"/>
          </a:p>
        </p:txBody>
      </p:sp>
      <p:sp>
        <p:nvSpPr>
          <p:cNvPr id="15" name="Shape 13"/>
          <p:cNvSpPr/>
          <p:nvPr/>
        </p:nvSpPr>
        <p:spPr>
          <a:xfrm>
            <a:off x="7178040" y="3035808"/>
            <a:ext cx="2286000" cy="164592"/>
          </a:xfrm>
          <a:prstGeom prst="rect">
            <a:avLst/>
          </a:prstGeom>
          <a:solidFill>
            <a:srgbClr val="01485C"/>
          </a:solidFill>
          <a:ln/>
        </p:spPr>
      </p:sp>
      <p:sp>
        <p:nvSpPr>
          <p:cNvPr id="16" name="Text 14"/>
          <p:cNvSpPr txBox="1"/>
          <p:nvPr/>
        </p:nvSpPr>
        <p:spPr>
          <a:xfrm>
            <a:off x="9518904" y="2999232"/>
            <a:ext cx="457200" cy="237744"/>
          </a:xfrm>
          <a:prstGeom prst="rect">
            <a:avLst/>
          </a:prstGeom>
          <a:noFill/>
          <a:ln/>
        </p:spPr>
        <p:txBody>
          <a:bodyPr wrap="square" lIns="0" tIns="0" rIns="0" bIns="0" rtlCol="0" anchor="ctr"/>
          <a:lstStyle/>
          <a:p>
            <a:pPr indent="0" marL="0">
              <a:buNone/>
            </a:pPr>
            <a:r>
              <a:rPr lang="en-US" sz="1000" dirty="0">
                <a:solidFill>
                  <a:srgbClr val="5F7178"/>
                </a:solidFill>
                <a:latin typeface="Calibri" pitchFamily="34" charset="0"/>
                <a:ea typeface="Calibri" pitchFamily="34" charset="-122"/>
                <a:cs typeface="Calibri" pitchFamily="34" charset="-120"/>
              </a:rPr>
              <a:t>9</a:t>
            </a:r>
            <a:endParaRPr lang="en-US" sz="1000" dirty="0"/>
          </a:p>
        </p:txBody>
      </p:sp>
      <p:sp>
        <p:nvSpPr>
          <p:cNvPr id="17" name="Text 15"/>
          <p:cNvSpPr txBox="1"/>
          <p:nvPr/>
        </p:nvSpPr>
        <p:spPr>
          <a:xfrm>
            <a:off x="6629400" y="3346704"/>
            <a:ext cx="502920" cy="237744"/>
          </a:xfrm>
          <a:prstGeom prst="rect">
            <a:avLst/>
          </a:prstGeom>
          <a:noFill/>
          <a:ln/>
        </p:spPr>
        <p:txBody>
          <a:bodyPr wrap="square" lIns="0" tIns="0" rIns="0" bIns="0" rtlCol="0" anchor="ctr"/>
          <a:lstStyle/>
          <a:p>
            <a:pPr indent="0" marL="0">
              <a:buNone/>
            </a:pPr>
            <a:r>
              <a:rPr lang="en-US" sz="1000" b="1" dirty="0">
                <a:solidFill>
                  <a:srgbClr val="17272E"/>
                </a:solidFill>
                <a:latin typeface="Calibri" pitchFamily="34" charset="0"/>
                <a:ea typeface="Calibri" pitchFamily="34" charset="-122"/>
                <a:cs typeface="Calibri" pitchFamily="34" charset="-120"/>
              </a:rPr>
              <a:t>368</a:t>
            </a:r>
            <a:endParaRPr lang="en-US" sz="1000" dirty="0"/>
          </a:p>
        </p:txBody>
      </p:sp>
      <p:sp>
        <p:nvSpPr>
          <p:cNvPr id="18" name="Shape 16"/>
          <p:cNvSpPr/>
          <p:nvPr/>
        </p:nvSpPr>
        <p:spPr>
          <a:xfrm>
            <a:off x="7178040" y="3383280"/>
            <a:ext cx="1371600" cy="164592"/>
          </a:xfrm>
          <a:prstGeom prst="rect">
            <a:avLst/>
          </a:prstGeom>
          <a:solidFill>
            <a:srgbClr val="11B5AE"/>
          </a:solidFill>
          <a:ln/>
        </p:spPr>
      </p:sp>
      <p:sp>
        <p:nvSpPr>
          <p:cNvPr id="19" name="Text 17"/>
          <p:cNvSpPr txBox="1"/>
          <p:nvPr/>
        </p:nvSpPr>
        <p:spPr>
          <a:xfrm>
            <a:off x="8604504" y="3346704"/>
            <a:ext cx="457200" cy="237744"/>
          </a:xfrm>
          <a:prstGeom prst="rect">
            <a:avLst/>
          </a:prstGeom>
          <a:noFill/>
          <a:ln/>
        </p:spPr>
        <p:txBody>
          <a:bodyPr wrap="square" lIns="0" tIns="0" rIns="0" bIns="0" rtlCol="0" anchor="ctr"/>
          <a:lstStyle/>
          <a:p>
            <a:pPr indent="0" marL="0">
              <a:buNone/>
            </a:pPr>
            <a:r>
              <a:rPr lang="en-US" sz="1000" dirty="0">
                <a:solidFill>
                  <a:srgbClr val="5F7178"/>
                </a:solidFill>
                <a:latin typeface="Calibri" pitchFamily="34" charset="0"/>
                <a:ea typeface="Calibri" pitchFamily="34" charset="-122"/>
                <a:cs typeface="Calibri" pitchFamily="34" charset="-120"/>
              </a:rPr>
              <a:t>5</a:t>
            </a:r>
            <a:endParaRPr lang="en-US" sz="1000" dirty="0"/>
          </a:p>
        </p:txBody>
      </p:sp>
      <p:sp>
        <p:nvSpPr>
          <p:cNvPr id="20" name="Text 18"/>
          <p:cNvSpPr txBox="1"/>
          <p:nvPr/>
        </p:nvSpPr>
        <p:spPr>
          <a:xfrm>
            <a:off x="6629400" y="3694176"/>
            <a:ext cx="502920" cy="237744"/>
          </a:xfrm>
          <a:prstGeom prst="rect">
            <a:avLst/>
          </a:prstGeom>
          <a:noFill/>
          <a:ln/>
        </p:spPr>
        <p:txBody>
          <a:bodyPr wrap="square" lIns="0" tIns="0" rIns="0" bIns="0" rtlCol="0" anchor="ctr"/>
          <a:lstStyle/>
          <a:p>
            <a:pPr indent="0" marL="0">
              <a:buNone/>
            </a:pPr>
            <a:r>
              <a:rPr lang="en-US" sz="1000" b="1" dirty="0">
                <a:solidFill>
                  <a:srgbClr val="17272E"/>
                </a:solidFill>
                <a:latin typeface="Calibri" pitchFamily="34" charset="0"/>
                <a:ea typeface="Calibri" pitchFamily="34" charset="-122"/>
                <a:cs typeface="Calibri" pitchFamily="34" charset="-120"/>
              </a:rPr>
              <a:t>791</a:t>
            </a:r>
            <a:endParaRPr lang="en-US" sz="1000" dirty="0"/>
          </a:p>
        </p:txBody>
      </p:sp>
      <p:sp>
        <p:nvSpPr>
          <p:cNvPr id="21" name="Shape 19"/>
          <p:cNvSpPr/>
          <p:nvPr/>
        </p:nvSpPr>
        <p:spPr>
          <a:xfrm>
            <a:off x="7178040" y="3730752"/>
            <a:ext cx="822960" cy="164592"/>
          </a:xfrm>
          <a:prstGeom prst="rect">
            <a:avLst/>
          </a:prstGeom>
          <a:solidFill>
            <a:srgbClr val="6CCAD4"/>
          </a:solidFill>
          <a:ln/>
        </p:spPr>
      </p:sp>
      <p:sp>
        <p:nvSpPr>
          <p:cNvPr id="22" name="Text 20"/>
          <p:cNvSpPr txBox="1"/>
          <p:nvPr/>
        </p:nvSpPr>
        <p:spPr>
          <a:xfrm>
            <a:off x="8055864" y="3694176"/>
            <a:ext cx="457200" cy="237744"/>
          </a:xfrm>
          <a:prstGeom prst="rect">
            <a:avLst/>
          </a:prstGeom>
          <a:noFill/>
          <a:ln/>
        </p:spPr>
        <p:txBody>
          <a:bodyPr wrap="square" lIns="0" tIns="0" rIns="0" bIns="0" rtlCol="0" anchor="ctr"/>
          <a:lstStyle/>
          <a:p>
            <a:pPr indent="0" marL="0">
              <a:buNone/>
            </a:pPr>
            <a:r>
              <a:rPr lang="en-US" sz="1000" dirty="0">
                <a:solidFill>
                  <a:srgbClr val="5F7178"/>
                </a:solidFill>
                <a:latin typeface="Calibri" pitchFamily="34" charset="0"/>
                <a:ea typeface="Calibri" pitchFamily="34" charset="-122"/>
                <a:cs typeface="Calibri" pitchFamily="34" charset="-120"/>
              </a:rPr>
              <a:t>3</a:t>
            </a:r>
            <a:endParaRPr lang="en-US" sz="1000" dirty="0"/>
          </a:p>
        </p:txBody>
      </p:sp>
      <p:sp>
        <p:nvSpPr>
          <p:cNvPr id="23" name="Text 21"/>
          <p:cNvSpPr txBox="1"/>
          <p:nvPr/>
        </p:nvSpPr>
        <p:spPr>
          <a:xfrm>
            <a:off x="10195560" y="3200400"/>
            <a:ext cx="1325880" cy="731520"/>
          </a:xfrm>
          <a:prstGeom prst="rect">
            <a:avLst/>
          </a:prstGeom>
          <a:noFill/>
          <a:ln/>
        </p:spPr>
        <p:txBody>
          <a:bodyPr wrap="square" lIns="0" tIns="0" rIns="0" bIns="0" rtlCol="0" anchor="ctr"/>
          <a:lstStyle/>
          <a:p>
            <a:pPr indent="0" marL="0">
              <a:lnSpc>
                <a:spcPts val="1300"/>
              </a:lnSpc>
              <a:buNone/>
            </a:pPr>
            <a:r>
              <a:rPr lang="en-US" sz="950" i="1" dirty="0">
                <a:solidFill>
                  <a:srgbClr val="5F7178"/>
                </a:solidFill>
                <a:latin typeface="Calibri" pitchFamily="34" charset="0"/>
                <a:ea typeface="Calibri" pitchFamily="34" charset="-122"/>
                <a:cs typeface="Calibri" pitchFamily="34" charset="-120"/>
              </a:rPr>
              <a:t>error code counts,</a:t>
            </a:r>
            <a:endParaRPr lang="en-US" sz="950" dirty="0"/>
          </a:p>
          <a:p>
            <a:pPr indent="0" marL="0">
              <a:lnSpc>
                <a:spcPts val="1300"/>
              </a:lnSpc>
              <a:buNone/>
            </a:pPr>
            <a:r>
              <a:rPr lang="en-US" sz="950" i="1" dirty="0">
                <a:solidFill>
                  <a:srgbClr val="5F7178"/>
                </a:solidFill>
                <a:latin typeface="Calibri" pitchFamily="34" charset="0"/>
                <a:ea typeface="Calibri" pitchFamily="34" charset="-122"/>
                <a:cs typeface="Calibri" pitchFamily="34" charset="-120"/>
              </a:rPr>
              <a:t>whole department</a:t>
            </a:r>
            <a:endParaRPr lang="en-US" sz="950" dirty="0"/>
          </a:p>
        </p:txBody>
      </p:sp>
      <p:sp>
        <p:nvSpPr>
          <p:cNvPr id="24" name="Shape 22"/>
          <p:cNvSpPr/>
          <p:nvPr/>
        </p:nvSpPr>
        <p:spPr>
          <a:xfrm>
            <a:off x="548640" y="4361688"/>
            <a:ext cx="420624" cy="420624"/>
          </a:xfrm>
          <a:prstGeom prst="ellipse">
            <a:avLst/>
          </a:prstGeom>
          <a:solidFill>
            <a:srgbClr val="01485C"/>
          </a:solidFill>
          <a:ln/>
        </p:spPr>
      </p:sp>
      <p:sp>
        <p:nvSpPr>
          <p:cNvPr id="25" name="Text 23"/>
          <p:cNvSpPr txBox="1"/>
          <p:nvPr/>
        </p:nvSpPr>
        <p:spPr>
          <a:xfrm>
            <a:off x="548640" y="43616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1133856" y="4306824"/>
            <a:ext cx="5029200" cy="1325880"/>
          </a:xfrm>
          <a:prstGeom prst="rect">
            <a:avLst/>
          </a:prstGeom>
          <a:noFill/>
          <a:ln/>
        </p:spPr>
        <p:txBody>
          <a:bodyPr wrap="square" lIns="0" tIns="0" rIns="0" bIns="0" rtlCol="0" anchor="t"/>
          <a:lstStyle/>
          <a:p>
            <a:pPr indent="0" marL="0">
              <a:buNone/>
            </a:pPr>
            <a:r>
              <a:rPr lang="en-US" sz="1300" b="1" dirty="0">
                <a:solidFill>
                  <a:srgbClr val="01485C"/>
                </a:solidFill>
                <a:latin typeface="Calibri" pitchFamily="34" charset="0"/>
                <a:ea typeface="Calibri" pitchFamily="34" charset="-122"/>
                <a:cs typeface="Calibri" pitchFamily="34" charset="-120"/>
              </a:rPr>
              <a:t>Operators Requiring Review
</a:t>
            </a:r>
            <a:pPr indent="0" marL="0">
              <a:buNone/>
            </a:pPr>
            <a:r>
              <a:rPr lang="en-US" sz="1100" dirty="0">
                <a:solidFill>
                  <a:srgbClr val="5F7178"/>
                </a:solidFill>
                <a:latin typeface="Calibri" pitchFamily="34" charset="0"/>
                <a:ea typeface="Calibri" pitchFamily="34" charset="-122"/>
                <a:cs typeface="Calibri" pitchFamily="34" charset="-120"/>
              </a:rPr>
              <a:t>A 12-month lookback: every operator flagged in two or more months, with rate, error types and the month of each flag — the list for competency review.</a:t>
            </a:r>
            <a:endParaRPr lang="en-US" sz="1300" dirty="0"/>
          </a:p>
        </p:txBody>
      </p:sp>
      <p:sp>
        <p:nvSpPr>
          <p:cNvPr id="27" name="Shape 25"/>
          <p:cNvSpPr/>
          <p:nvPr/>
        </p:nvSpPr>
        <p:spPr>
          <a:xfrm>
            <a:off x="6400800" y="4315968"/>
            <a:ext cx="5212080" cy="1325880"/>
          </a:xfrm>
          <a:prstGeom prst="roundRect">
            <a:avLst>
              <a:gd name="adj" fmla="val 5517"/>
            </a:avLst>
          </a:prstGeom>
          <a:solidFill>
            <a:srgbClr val="FFFFFF"/>
          </a:solidFill>
          <a:ln w="15875">
            <a:solidFill>
              <a:srgbClr val="E2E8EA"/>
            </a:solidFill>
            <a:prstDash val="solid"/>
          </a:ln>
        </p:spPr>
      </p:sp>
      <p:sp>
        <p:nvSpPr>
          <p:cNvPr id="28" name="Text 26"/>
          <p:cNvSpPr txBox="1"/>
          <p:nvPr/>
        </p:nvSpPr>
        <p:spPr>
          <a:xfrm>
            <a:off x="6629400" y="4572000"/>
            <a:ext cx="4754880" cy="960120"/>
          </a:xfrm>
          <a:prstGeom prst="rect">
            <a:avLst/>
          </a:prstGeom>
          <a:noFill/>
          <a:ln/>
        </p:spPr>
        <p:txBody>
          <a:bodyPr wrap="square" lIns="0" tIns="0" rIns="0" bIns="0" rtlCol="0" anchor="t"/>
          <a:lstStyle/>
          <a:p>
            <a:pPr indent="0" marL="0">
              <a:buNone/>
            </a:pPr>
            <a:r>
              <a:rPr lang="en-US" sz="1100" b="1" dirty="0">
                <a:solidFill>
                  <a:srgbClr val="C00000"/>
                </a:solidFill>
                <a:latin typeface="Calibri" pitchFamily="34" charset="0"/>
                <a:ea typeface="Calibri" pitchFamily="34" charset="-122"/>
                <a:cs typeface="Calibri" pitchFamily="34" charset="-120"/>
              </a:rPr>
              <a:t>Farrow, Q.    </a:t>
            </a:r>
            <a:pPr indent="0" marL="0">
              <a:buNone/>
            </a:pPr>
            <a:r>
              <a:rPr lang="en-US" sz="1050" dirty="0">
                <a:solidFill>
                  <a:srgbClr val="17272E"/>
                </a:solidFill>
                <a:latin typeface="Calibri" pitchFamily="34" charset="0"/>
                <a:ea typeface="Calibri" pitchFamily="34" charset="-122"/>
                <a:cs typeface="Calibri" pitchFamily="34" charset="-120"/>
              </a:rPr>
              <a:t>flagged May (12.4%) and September (11.9%)
</a:t>
            </a:r>
            <a:pPr indent="0" marL="0">
              <a:buNone/>
            </a:pPr>
            <a:r>
              <a:rPr lang="en-US" sz="1100" b="1" dirty="0">
                <a:solidFill>
                  <a:srgbClr val="C00000"/>
                </a:solidFill>
                <a:latin typeface="Calibri" pitchFamily="34" charset="0"/>
                <a:ea typeface="Calibri" pitchFamily="34" charset="-122"/>
                <a:cs typeface="Calibri" pitchFamily="34" charset="-120"/>
              </a:rPr>
              <a:t>Nightly, C.    </a:t>
            </a:r>
            <a:pPr indent="0" marL="0">
              <a:buNone/>
            </a:pPr>
            <a:r>
              <a:rPr lang="en-US" sz="1050" dirty="0">
                <a:solidFill>
                  <a:srgbClr val="17272E"/>
                </a:solidFill>
                <a:latin typeface="Calibri" pitchFamily="34" charset="0"/>
                <a:ea typeface="Calibri" pitchFamily="34" charset="-122"/>
                <a:cs typeface="Calibri" pitchFamily="34" charset="-120"/>
              </a:rPr>
              <a:t>flagged June (13.0%) and July (10.8%)</a:t>
            </a:r>
            <a:endParaRPr lang="en-US" sz="1100" dirty="0"/>
          </a:p>
        </p:txBody>
      </p:sp>
      <p:sp>
        <p:nvSpPr>
          <p:cNvPr id="29" name="Text 27"/>
          <p:cNvSpPr txBox="1"/>
          <p:nvPr/>
        </p:nvSpPr>
        <p:spPr>
          <a:xfrm>
            <a:off x="6400800" y="5769864"/>
            <a:ext cx="5212080" cy="320040"/>
          </a:xfrm>
          <a:prstGeom prst="rect">
            <a:avLst/>
          </a:prstGeom>
          <a:noFill/>
          <a:ln/>
        </p:spPr>
        <p:txBody>
          <a:bodyPr wrap="square" lIns="0" tIns="0" rIns="0" bIns="0" rtlCol="0" anchor="ctr"/>
          <a:lstStyle/>
          <a:p>
            <a:pPr indent="0" marL="0">
              <a:buNone/>
            </a:pPr>
            <a:r>
              <a:rPr lang="en-US" sz="1000" i="1" dirty="0">
                <a:solidFill>
                  <a:srgbClr val="5F7178"/>
                </a:solidFill>
                <a:latin typeface="Calibri" pitchFamily="34" charset="0"/>
                <a:ea typeface="Calibri" pitchFamily="34" charset="-122"/>
                <a:cs typeface="Calibri" pitchFamily="34" charset="-120"/>
              </a:rPr>
              <a:t>Examples shown with fictional data — layouts match the real Word report.</a:t>
            </a:r>
            <a:endParaRPr lang="en-US" sz="1000" dirty="0"/>
          </a:p>
        </p:txBody>
      </p:sp>
      <p:sp>
        <p:nvSpPr>
          <p:cNvPr id="30" name="Shape 28"/>
          <p:cNvSpPr/>
          <p:nvPr/>
        </p:nvSpPr>
        <p:spPr>
          <a:xfrm>
            <a:off x="0" y="6793992"/>
            <a:ext cx="2040636" cy="64008"/>
          </a:xfrm>
          <a:prstGeom prst="rect">
            <a:avLst/>
          </a:prstGeom>
          <a:solidFill>
            <a:srgbClr val="01485C"/>
          </a:solidFill>
          <a:ln/>
        </p:spPr>
      </p:sp>
      <p:sp>
        <p:nvSpPr>
          <p:cNvPr id="31" name="Shape 29"/>
          <p:cNvSpPr/>
          <p:nvPr/>
        </p:nvSpPr>
        <p:spPr>
          <a:xfrm>
            <a:off x="2031492" y="6793992"/>
            <a:ext cx="2040636" cy="64008"/>
          </a:xfrm>
          <a:prstGeom prst="rect">
            <a:avLst/>
          </a:prstGeom>
          <a:solidFill>
            <a:srgbClr val="146175"/>
          </a:solidFill>
          <a:ln/>
        </p:spPr>
      </p:sp>
      <p:sp>
        <p:nvSpPr>
          <p:cNvPr id="32" name="Shape 30"/>
          <p:cNvSpPr/>
          <p:nvPr/>
        </p:nvSpPr>
        <p:spPr>
          <a:xfrm>
            <a:off x="4062984" y="6793992"/>
            <a:ext cx="2040636" cy="64008"/>
          </a:xfrm>
          <a:prstGeom prst="rect">
            <a:avLst/>
          </a:prstGeom>
          <a:solidFill>
            <a:srgbClr val="11B5AE"/>
          </a:solidFill>
          <a:ln/>
        </p:spPr>
      </p:sp>
      <p:sp>
        <p:nvSpPr>
          <p:cNvPr id="33" name="Shape 31"/>
          <p:cNvSpPr/>
          <p:nvPr/>
        </p:nvSpPr>
        <p:spPr>
          <a:xfrm>
            <a:off x="6094476" y="6793992"/>
            <a:ext cx="2040636" cy="64008"/>
          </a:xfrm>
          <a:prstGeom prst="rect">
            <a:avLst/>
          </a:prstGeom>
          <a:solidFill>
            <a:srgbClr val="6CCAD4"/>
          </a:solidFill>
          <a:ln/>
        </p:spPr>
      </p:sp>
      <p:sp>
        <p:nvSpPr>
          <p:cNvPr id="34" name="Shape 32"/>
          <p:cNvSpPr/>
          <p:nvPr/>
        </p:nvSpPr>
        <p:spPr>
          <a:xfrm>
            <a:off x="8125968" y="6793992"/>
            <a:ext cx="2040636" cy="64008"/>
          </a:xfrm>
          <a:prstGeom prst="rect">
            <a:avLst/>
          </a:prstGeom>
          <a:solidFill>
            <a:srgbClr val="7FC04C"/>
          </a:solidFill>
          <a:ln/>
        </p:spPr>
      </p:sp>
      <p:sp>
        <p:nvSpPr>
          <p:cNvPr id="35" name="Shape 33"/>
          <p:cNvSpPr/>
          <p:nvPr/>
        </p:nvSpPr>
        <p:spPr>
          <a:xfrm>
            <a:off x="10157460" y="6793992"/>
            <a:ext cx="2040636" cy="64008"/>
          </a:xfrm>
          <a:prstGeom prst="rect">
            <a:avLst/>
          </a:prstGeom>
          <a:solidFill>
            <a:srgbClr val="E1DD57"/>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The monthly routine, end to end</a:t>
            </a:r>
            <a:endParaRPr lang="en-US" sz="3000" dirty="0"/>
          </a:p>
        </p:txBody>
      </p:sp>
      <p:sp>
        <p:nvSpPr>
          <p:cNvPr id="3" name="Shape 1"/>
          <p:cNvSpPr/>
          <p:nvPr/>
        </p:nvSpPr>
        <p:spPr>
          <a:xfrm>
            <a:off x="548640" y="1389888"/>
            <a:ext cx="457200" cy="457200"/>
          </a:xfrm>
          <a:prstGeom prst="ellipse">
            <a:avLst/>
          </a:prstGeom>
          <a:solidFill>
            <a:srgbClr val="7FC04C"/>
          </a:solidFill>
          <a:ln/>
        </p:spPr>
        <p:txBody>
          <a:bodyPr/>
          <a:p/>
        </p:txBody>
      </p:sp>
      <p:sp>
        <p:nvSpPr>
          <p:cNvPr id="4" name="Text 2"/>
          <p:cNvSpPr txBox="1"/>
          <p:nvPr/>
        </p:nvSpPr>
        <p:spPr>
          <a:xfrm>
            <a:off x="548640" y="1389888"/>
            <a:ext cx="457200" cy="457200"/>
          </a:xfrm>
          <a:prstGeom prst="rect">
            <a:avLst/>
          </a:prstGeom>
          <a:noFill/>
          <a:ln/>
        </p:spPr>
        <p:txBody>
          <a:bodyPr wrap="square" lIns="0" tIns="0" rIns="0" bIns="0" rtlCol="0" anchor="ctr"/>
          <a:lstStyle/>
          <a:p>
            <a:pPr algn="ctr" indent="0" marL="0">
              <a:buNone/>
            </a:pPr>
            <a:r>
              <a:rPr lang="en-US" sz="1600" b="1" dirty="0">
                <a:solidFill>
                  <a:srgbClr val="012B38"/>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38988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Copy this month’s two exports into "Monthly reports" on the drive</a:t>
            </a:r>
            <a:endParaRPr lang="en-US" sz="1450" dirty="0"/>
          </a:p>
        </p:txBody>
      </p:sp>
      <p:sp>
        <p:nvSpPr>
          <p:cNvPr id="6" name="Shape 4"/>
          <p:cNvSpPr/>
          <p:nvPr/>
        </p:nvSpPr>
        <p:spPr>
          <a:xfrm>
            <a:off x="777240" y="1847088"/>
            <a:ext cx="0" cy="256032"/>
          </a:xfrm>
          <a:prstGeom prst="line">
            <a:avLst/>
          </a:prstGeom>
          <a:noFill/>
          <a:ln w="19050">
            <a:solidFill>
              <a:srgbClr val="E2E8EA"/>
            </a:solidFill>
            <a:prstDash val="solid"/>
          </a:ln>
        </p:spPr>
        <p:txBody>
          <a:bodyPr/>
          <a:p/>
        </p:txBody>
      </p:sp>
      <p:sp>
        <p:nvSpPr>
          <p:cNvPr id="7" name="Shape 5"/>
          <p:cNvSpPr/>
          <p:nvPr/>
        </p:nvSpPr>
        <p:spPr>
          <a:xfrm>
            <a:off x="548640" y="2121408"/>
            <a:ext cx="457200" cy="457200"/>
          </a:xfrm>
          <a:prstGeom prst="ellipse">
            <a:avLst/>
          </a:prstGeom>
          <a:solidFill>
            <a:srgbClr val="7FC04C"/>
          </a:solidFill>
          <a:ln/>
        </p:spPr>
        <p:txBody>
          <a:bodyPr/>
          <a:p/>
        </p:txBody>
      </p:sp>
      <p:sp>
        <p:nvSpPr>
          <p:cNvPr id="8" name="Text 6"/>
          <p:cNvSpPr txBox="1"/>
          <p:nvPr/>
        </p:nvSpPr>
        <p:spPr>
          <a:xfrm>
            <a:off x="548640" y="2121408"/>
            <a:ext cx="457200" cy="457200"/>
          </a:xfrm>
          <a:prstGeom prst="rect">
            <a:avLst/>
          </a:prstGeom>
          <a:noFill/>
          <a:ln/>
        </p:spPr>
        <p:txBody>
          <a:bodyPr wrap="square" lIns="0" tIns="0" rIns="0" bIns="0" rtlCol="0" anchor="ctr"/>
          <a:lstStyle/>
          <a:p>
            <a:pPr algn="ctr" indent="0" marL="0">
              <a:buNone/>
            </a:pPr>
            <a:r>
              <a:rPr lang="en-US" sz="1600" b="1" dirty="0">
                <a:solidFill>
                  <a:srgbClr val="012B38"/>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12140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Launch: plug in → BitLocker password → Start PQ Reports.bat</a:t>
            </a:r>
            <a:endParaRPr lang="en-US" sz="1450" dirty="0"/>
          </a:p>
        </p:txBody>
      </p:sp>
      <p:sp>
        <p:nvSpPr>
          <p:cNvPr id="10" name="Shape 8"/>
          <p:cNvSpPr/>
          <p:nvPr/>
        </p:nvSpPr>
        <p:spPr>
          <a:xfrm>
            <a:off x="777240" y="2578608"/>
            <a:ext cx="0" cy="256032"/>
          </a:xfrm>
          <a:prstGeom prst="line">
            <a:avLst/>
          </a:prstGeom>
          <a:noFill/>
          <a:ln w="19050">
            <a:solidFill>
              <a:srgbClr val="E2E8EA"/>
            </a:solidFill>
            <a:prstDash val="solid"/>
          </a:ln>
        </p:spPr>
        <p:txBody>
          <a:bodyPr/>
          <a:p/>
        </p:txBody>
      </p:sp>
      <p:sp>
        <p:nvSpPr>
          <p:cNvPr id="11" name="Shape 9"/>
          <p:cNvSpPr/>
          <p:nvPr/>
        </p:nvSpPr>
        <p:spPr>
          <a:xfrm>
            <a:off x="548640" y="2852928"/>
            <a:ext cx="457200" cy="457200"/>
          </a:xfrm>
          <a:prstGeom prst="ellipse">
            <a:avLst/>
          </a:prstGeom>
          <a:solidFill>
            <a:srgbClr val="7FC04C"/>
          </a:solidFill>
          <a:ln/>
        </p:spPr>
        <p:txBody>
          <a:bodyPr/>
          <a:p/>
        </p:txBody>
      </p:sp>
      <p:sp>
        <p:nvSpPr>
          <p:cNvPr id="12" name="Text 10"/>
          <p:cNvSpPr txBox="1"/>
          <p:nvPr/>
        </p:nvSpPr>
        <p:spPr>
          <a:xfrm>
            <a:off x="548640" y="2852928"/>
            <a:ext cx="457200" cy="457200"/>
          </a:xfrm>
          <a:prstGeom prst="rect">
            <a:avLst/>
          </a:prstGeom>
          <a:noFill/>
          <a:ln/>
        </p:spPr>
        <p:txBody>
          <a:bodyPr wrap="square" lIns="0" tIns="0" rIns="0" bIns="0" rtlCol="0" anchor="ctr"/>
          <a:lstStyle/>
          <a:p>
            <a:pPr algn="ctr" indent="0" marL="0">
              <a:buNone/>
            </a:pPr>
            <a:r>
              <a:rPr lang="en-US" sz="1600" b="1" dirty="0">
                <a:solidFill>
                  <a:srgbClr val="012B38"/>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34440" y="285292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i-STAT: unlock history → drop export → Load Hospitals → Select All → Generate</a:t>
            </a:r>
            <a:endParaRPr lang="en-US" sz="1450" dirty="0"/>
          </a:p>
        </p:txBody>
      </p:sp>
      <p:sp>
        <p:nvSpPr>
          <p:cNvPr id="14" name="Shape 12"/>
          <p:cNvSpPr/>
          <p:nvPr/>
        </p:nvSpPr>
        <p:spPr>
          <a:xfrm>
            <a:off x="777240" y="3310128"/>
            <a:ext cx="0" cy="256032"/>
          </a:xfrm>
          <a:prstGeom prst="line">
            <a:avLst/>
          </a:prstGeom>
          <a:noFill/>
          <a:ln w="19050">
            <a:solidFill>
              <a:srgbClr val="E2E8EA"/>
            </a:solidFill>
            <a:prstDash val="solid"/>
          </a:ln>
        </p:spPr>
        <p:txBody>
          <a:bodyPr/>
          <a:p/>
        </p:txBody>
      </p:sp>
      <p:sp>
        <p:nvSpPr>
          <p:cNvPr id="15" name="Shape 13"/>
          <p:cNvSpPr/>
          <p:nvPr/>
        </p:nvSpPr>
        <p:spPr>
          <a:xfrm>
            <a:off x="548640" y="3584448"/>
            <a:ext cx="457200" cy="457200"/>
          </a:xfrm>
          <a:prstGeom prst="ellipse">
            <a:avLst/>
          </a:prstGeom>
          <a:solidFill>
            <a:srgbClr val="7FC04C"/>
          </a:solidFill>
          <a:ln/>
        </p:spPr>
        <p:txBody>
          <a:bodyPr/>
          <a:p/>
        </p:txBody>
      </p:sp>
      <p:sp>
        <p:nvSpPr>
          <p:cNvPr id="16" name="Text 14"/>
          <p:cNvSpPr txBox="1"/>
          <p:nvPr/>
        </p:nvSpPr>
        <p:spPr>
          <a:xfrm>
            <a:off x="548640" y="3584448"/>
            <a:ext cx="457200" cy="457200"/>
          </a:xfrm>
          <a:prstGeom prst="rect">
            <a:avLst/>
          </a:prstGeom>
          <a:noFill/>
          <a:ln/>
        </p:spPr>
        <p:txBody>
          <a:bodyPr wrap="square" lIns="0" tIns="0" rIns="0" bIns="0" rtlCol="0" anchor="ctr"/>
          <a:lstStyle/>
          <a:p>
            <a:pPr algn="ctr" indent="0" marL="0">
              <a:buNone/>
            </a:pPr>
            <a:r>
              <a:rPr lang="en-US" sz="1600" b="1" dirty="0">
                <a:solidFill>
                  <a:srgbClr val="012B38"/>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234440" y="358444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Back to the selection page → open ABL</a:t>
            </a:r>
            <a:endParaRPr lang="en-US" sz="1450" dirty="0"/>
          </a:p>
        </p:txBody>
      </p:sp>
      <p:sp>
        <p:nvSpPr>
          <p:cNvPr id="18" name="Shape 16"/>
          <p:cNvSpPr/>
          <p:nvPr/>
        </p:nvSpPr>
        <p:spPr>
          <a:xfrm>
            <a:off x="777240" y="4041648"/>
            <a:ext cx="0" cy="256032"/>
          </a:xfrm>
          <a:prstGeom prst="line">
            <a:avLst/>
          </a:prstGeom>
          <a:noFill/>
          <a:ln w="19050">
            <a:solidFill>
              <a:srgbClr val="E2E8EA"/>
            </a:solidFill>
            <a:prstDash val="solid"/>
          </a:ln>
        </p:spPr>
        <p:txBody>
          <a:bodyPr/>
          <a:p/>
        </p:txBody>
      </p:sp>
      <p:sp>
        <p:nvSpPr>
          <p:cNvPr id="19" name="Shape 17"/>
          <p:cNvSpPr/>
          <p:nvPr/>
        </p:nvSpPr>
        <p:spPr>
          <a:xfrm>
            <a:off x="548640" y="4315968"/>
            <a:ext cx="457200" cy="457200"/>
          </a:xfrm>
          <a:prstGeom prst="ellipse">
            <a:avLst/>
          </a:prstGeom>
          <a:solidFill>
            <a:srgbClr val="7FC04C"/>
          </a:solidFill>
          <a:ln/>
        </p:spPr>
        <p:txBody>
          <a:bodyPr/>
          <a:p/>
        </p:txBody>
      </p:sp>
      <p:sp>
        <p:nvSpPr>
          <p:cNvPr id="20" name="Text 18"/>
          <p:cNvSpPr txBox="1"/>
          <p:nvPr/>
        </p:nvSpPr>
        <p:spPr>
          <a:xfrm>
            <a:off x="548640" y="4315968"/>
            <a:ext cx="457200" cy="457200"/>
          </a:xfrm>
          <a:prstGeom prst="rect">
            <a:avLst/>
          </a:prstGeom>
          <a:noFill/>
          <a:ln/>
        </p:spPr>
        <p:txBody>
          <a:bodyPr wrap="square" lIns="0" tIns="0" rIns="0" bIns="0" rtlCol="0" anchor="ctr"/>
          <a:lstStyle/>
          <a:p>
            <a:pPr algn="ctr" indent="0" marL="0">
              <a:buNone/>
            </a:pPr>
            <a:r>
              <a:rPr lang="en-US" sz="1600" b="1" dirty="0">
                <a:solidFill>
                  <a:srgbClr val="012B38"/>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234440" y="431596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ABL: drop export → Load Analyzers → tick departments → Generate</a:t>
            </a:r>
            <a:endParaRPr lang="en-US" sz="1450" dirty="0"/>
          </a:p>
        </p:txBody>
      </p:sp>
      <p:sp>
        <p:nvSpPr>
          <p:cNvPr id="22" name="Shape 20"/>
          <p:cNvSpPr/>
          <p:nvPr/>
        </p:nvSpPr>
        <p:spPr>
          <a:xfrm>
            <a:off x="777240" y="4773168"/>
            <a:ext cx="0" cy="256032"/>
          </a:xfrm>
          <a:prstGeom prst="line">
            <a:avLst/>
          </a:prstGeom>
          <a:noFill/>
          <a:ln w="19050">
            <a:solidFill>
              <a:srgbClr val="E2E8EA"/>
            </a:solidFill>
            <a:prstDash val="solid"/>
          </a:ln>
        </p:spPr>
        <p:txBody>
          <a:bodyPr/>
          <a:p/>
        </p:txBody>
      </p:sp>
      <p:sp>
        <p:nvSpPr>
          <p:cNvPr id="23" name="Shape 21"/>
          <p:cNvSpPr/>
          <p:nvPr/>
        </p:nvSpPr>
        <p:spPr>
          <a:xfrm>
            <a:off x="548640" y="5047488"/>
            <a:ext cx="457200" cy="457200"/>
          </a:xfrm>
          <a:prstGeom prst="ellipse">
            <a:avLst/>
          </a:prstGeom>
          <a:solidFill>
            <a:srgbClr val="7FC04C"/>
          </a:solidFill>
          <a:ln/>
        </p:spPr>
        <p:txBody>
          <a:bodyPr/>
          <a:p/>
        </p:txBody>
      </p:sp>
      <p:sp>
        <p:nvSpPr>
          <p:cNvPr id="24" name="Text 22"/>
          <p:cNvSpPr txBox="1"/>
          <p:nvPr/>
        </p:nvSpPr>
        <p:spPr>
          <a:xfrm>
            <a:off x="548640" y="5047488"/>
            <a:ext cx="457200" cy="457200"/>
          </a:xfrm>
          <a:prstGeom prst="rect">
            <a:avLst/>
          </a:prstGeom>
          <a:noFill/>
          <a:ln/>
        </p:spPr>
        <p:txBody>
          <a:bodyPr wrap="square" lIns="0" tIns="0" rIns="0" bIns="0" rtlCol="0" anchor="ctr"/>
          <a:lstStyle/>
          <a:p>
            <a:pPr algn="ctr" indent="0" marL="0">
              <a:buNone/>
            </a:pPr>
            <a:r>
              <a:rPr lang="en-US" sz="1600" b="1" dirty="0">
                <a:solidFill>
                  <a:srgbClr val="012B38"/>
                </a:solidFill>
                <a:latin typeface="Calibri" pitchFamily="34" charset="0"/>
                <a:ea typeface="Calibri" pitchFamily="34" charset="-122"/>
                <a:cs typeface="Calibri" pitchFamily="34" charset="-120"/>
              </a:rPr>
              <a:t>6</a:t>
            </a:r>
            <a:endParaRPr lang="en-US" sz="1600" dirty="0"/>
          </a:p>
        </p:txBody>
      </p:sp>
      <p:sp>
        <p:nvSpPr>
          <p:cNvPr id="25" name="Text 23"/>
          <p:cNvSpPr txBox="1"/>
          <p:nvPr/>
        </p:nvSpPr>
        <p:spPr>
          <a:xfrm>
            <a:off x="1234440" y="504748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Review the Word reports and the dormant list, then distribute them</a:t>
            </a:r>
            <a:endParaRPr lang="en-US" sz="1450" dirty="0"/>
          </a:p>
        </p:txBody>
      </p:sp>
      <p:sp>
        <p:nvSpPr>
          <p:cNvPr id="26" name="Shape 24"/>
          <p:cNvSpPr/>
          <p:nvPr/>
        </p:nvSpPr>
        <p:spPr>
          <a:xfrm>
            <a:off x="777240" y="5504688"/>
            <a:ext cx="0" cy="256032"/>
          </a:xfrm>
          <a:prstGeom prst="line">
            <a:avLst/>
          </a:prstGeom>
          <a:noFill/>
          <a:ln w="19050">
            <a:solidFill>
              <a:srgbClr val="E2E8EA"/>
            </a:solidFill>
            <a:prstDash val="solid"/>
          </a:ln>
        </p:spPr>
      </p:sp>
      <p:sp>
        <p:nvSpPr>
          <p:cNvPr id="27" name="Shape 25"/>
          <p:cNvSpPr/>
          <p:nvPr/>
        </p:nvSpPr>
        <p:spPr>
          <a:xfrm>
            <a:off x="548640" y="5779008"/>
            <a:ext cx="457200" cy="457200"/>
          </a:xfrm>
          <a:prstGeom prst="ellipse">
            <a:avLst/>
          </a:prstGeom>
          <a:solidFill>
            <a:srgbClr val="01485C"/>
          </a:solidFill>
          <a:ln/>
        </p:spPr>
      </p:sp>
      <p:sp>
        <p:nvSpPr>
          <p:cNvPr id="28" name="Text 26"/>
          <p:cNvSpPr txBox="1"/>
          <p:nvPr/>
        </p:nvSpPr>
        <p:spPr>
          <a:xfrm>
            <a:off x="548640" y="5779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9" name="Text 27"/>
          <p:cNvSpPr txBox="1"/>
          <p:nvPr/>
        </p:nvSpPr>
        <p:spPr>
          <a:xfrm>
            <a:off x="1234440" y="5779008"/>
            <a:ext cx="9966960" cy="502920"/>
          </a:xfrm>
          <a:prstGeom prst="rect">
            <a:avLst/>
          </a:prstGeom>
          <a:noFill/>
          <a:ln/>
        </p:spPr>
        <p:txBody>
          <a:bodyPr wrap="square" lIns="0" tIns="0" rIns="0" bIns="0" rtlCol="0" anchor="ctr"/>
          <a:lstStyle/>
          <a:p>
            <a:pPr indent="0" marL="0">
              <a:buNone/>
            </a:pPr>
            <a:r>
              <a:rPr lang="en-US" sz="1450" dirty="0">
                <a:solidFill>
                  <a:srgbClr val="17272E"/>
                </a:solidFill>
                <a:latin typeface="Calibri" pitchFamily="34" charset="0"/>
                <a:ea typeface="Calibri" pitchFamily="34" charset="-122"/>
                <a:cs typeface="Calibri" pitchFamily="34" charset="-120"/>
              </a:rPr>
              <a:t>Close the console window and safely eject the drive</a:t>
            </a:r>
            <a:endParaRPr lang="en-US" sz="1450" dirty="0"/>
          </a:p>
        </p:txBody>
      </p:sp>
      <p:sp>
        <p:nvSpPr>
          <p:cNvPr id="30" name="Shape 28"/>
          <p:cNvSpPr/>
          <p:nvPr/>
        </p:nvSpPr>
        <p:spPr>
          <a:xfrm>
            <a:off x="0" y="6793992"/>
            <a:ext cx="2040636" cy="64008"/>
          </a:xfrm>
          <a:prstGeom prst="rect">
            <a:avLst/>
          </a:prstGeom>
          <a:solidFill>
            <a:srgbClr val="01485C"/>
          </a:solidFill>
          <a:ln/>
        </p:spPr>
      </p:sp>
      <p:sp>
        <p:nvSpPr>
          <p:cNvPr id="31" name="Shape 29"/>
          <p:cNvSpPr/>
          <p:nvPr/>
        </p:nvSpPr>
        <p:spPr>
          <a:xfrm>
            <a:off x="2031492" y="6793992"/>
            <a:ext cx="2040636" cy="64008"/>
          </a:xfrm>
          <a:prstGeom prst="rect">
            <a:avLst/>
          </a:prstGeom>
          <a:solidFill>
            <a:srgbClr val="146175"/>
          </a:solidFill>
          <a:ln/>
        </p:spPr>
      </p:sp>
      <p:sp>
        <p:nvSpPr>
          <p:cNvPr id="32" name="Shape 30"/>
          <p:cNvSpPr/>
          <p:nvPr/>
        </p:nvSpPr>
        <p:spPr>
          <a:xfrm>
            <a:off x="4062984" y="6793992"/>
            <a:ext cx="2040636" cy="64008"/>
          </a:xfrm>
          <a:prstGeom prst="rect">
            <a:avLst/>
          </a:prstGeom>
          <a:solidFill>
            <a:srgbClr val="11B5AE"/>
          </a:solidFill>
          <a:ln/>
        </p:spPr>
      </p:sp>
      <p:sp>
        <p:nvSpPr>
          <p:cNvPr id="33" name="Shape 31"/>
          <p:cNvSpPr/>
          <p:nvPr/>
        </p:nvSpPr>
        <p:spPr>
          <a:xfrm>
            <a:off x="6094476" y="6793992"/>
            <a:ext cx="2040636" cy="64008"/>
          </a:xfrm>
          <a:prstGeom prst="rect">
            <a:avLst/>
          </a:prstGeom>
          <a:solidFill>
            <a:srgbClr val="6CCAD4"/>
          </a:solidFill>
          <a:ln/>
        </p:spPr>
      </p:sp>
      <p:sp>
        <p:nvSpPr>
          <p:cNvPr id="34" name="Shape 32"/>
          <p:cNvSpPr/>
          <p:nvPr/>
        </p:nvSpPr>
        <p:spPr>
          <a:xfrm>
            <a:off x="8125968" y="6793992"/>
            <a:ext cx="2040636" cy="64008"/>
          </a:xfrm>
          <a:prstGeom prst="rect">
            <a:avLst/>
          </a:prstGeom>
          <a:solidFill>
            <a:srgbClr val="7FC04C"/>
          </a:solidFill>
          <a:ln/>
        </p:spPr>
      </p:sp>
      <p:sp>
        <p:nvSpPr>
          <p:cNvPr id="35" name="Shape 33"/>
          <p:cNvSpPr/>
          <p:nvPr/>
        </p:nvSpPr>
        <p:spPr>
          <a:xfrm>
            <a:off x="10157460" y="6793992"/>
            <a:ext cx="2040636" cy="64008"/>
          </a:xfrm>
          <a:prstGeom prst="rect">
            <a:avLst/>
          </a:prstGeom>
          <a:solidFill>
            <a:srgbClr val="E1DD57"/>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rgbClr val="01485C"/>
                </a:solidFill>
                <a:latin typeface="Calibri" pitchFamily="34" charset="0"/>
                <a:ea typeface="Calibri" pitchFamily="34" charset="-122"/>
                <a:cs typeface="Calibri" pitchFamily="34" charset="-120"/>
              </a:rPr>
              <a:t>If something looks wrong</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279392"/>
        </p:xfrm>
        <a:graphic>
          <a:graphicData uri="http://schemas.openxmlformats.org/drawingml/2006/table">
            <a:tbl>
              <a:tblPr/>
              <a:tblGrid>
                <a:gridCol w="3566160"/>
                <a:gridCol w="7498080"/>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you see</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solidFill>
                      <a:srgbClr val="01485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means / what to do</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solidFill>
                      <a:srgbClr val="01485C"/>
                    </a:solidFill>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Browser says "refused to connect"</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The engines are still starting (first launch can take ~30 s). Wait a moment and refresh — the launcher also opens the page itself when ready.</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Console window closes instantly</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That PC’s policy blocks USB programs (AppLocker). Use another machine or contact IT.</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"History is locked" when generating</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Enter the history password on the unlock screen first.</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App refuses the export file</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Wrong file or changed layout — check you dropped the right monthly export. The app never guesses.</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Errors listed after generation</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Only the named hospitals failed; the rest are fine. Note the message and re-run that hospital, or ask for support.</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A hospital is missing from the list</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It has no devices in this month’s export (or only retired ones, which are excluded automatically).</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Lock card on a PC that was licensed</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EXPIRED: install the renewed licence from the PoC lead. NOT LICENSED: the machine ID has changed (PC reimaged or renamed, motherboard or drive replaced) — send the new ID for a new licence. VERSION: the bundle was updated; a licence for the new version is needed.</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r h="475488">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Lock page inside an engine (localhost:5757 / 5758)</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c>
                  <a:txBody>
                    <a:bodyPr/>
                    <a:lstStyle/>
                    <a:p>
                      <a:pPr indent="0" marL="0">
                        <a:buNone/>
                      </a:pPr>
                      <a:r>
                        <a:rPr lang="en-US" sz="1250" dirty="0">
                          <a:solidFill>
                            <a:srgbClr val="17272E"/>
                          </a:solidFill>
                          <a:latin typeface="Calibri" pitchFamily="34" charset="0"/>
                          <a:ea typeface="Calibri" pitchFamily="34" charset="-122"/>
                          <a:cs typeface="Calibri" pitchFamily="34" charset="-120"/>
                        </a:rPr>
                        <a:t>Same cause. Go back to localhost:5750, install the licence, and the engines unlock straight away — nothing to restart.</a:t>
                      </a:r>
                      <a:endParaRPr lang="en-US" sz="1250" dirty="0">
                        <a:latin typeface="Calibri" charset="0"/>
                        <a:ea typeface="Calibri" charset="0"/>
                        <a:cs typeface="Calibri" charset="0"/>
                      </a:endParaRPr>
                    </a:p>
                  </a:txBody>
                  <a:tcPr marL="64008" marR="64008" marT="64008" marB="64008" anchor="ctr">
                    <a:lnL w="12700" cap="flat" cmpd="sng" algn="ctr">
                      <a:solidFill>
                        <a:srgbClr val="E2E8EA"/>
                      </a:solidFill>
                      <a:prstDash val="solid"/>
                      <a:round/>
                      <a:headEnd type="none" w="med" len="med"/>
                      <a:tailEnd type="none" w="med" len="med"/>
                    </a:lnL>
                    <a:lnR w="12700" cap="flat" cmpd="sng" algn="ctr">
                      <a:solidFill>
                        <a:srgbClr val="E2E8EA"/>
                      </a:solidFill>
                      <a:prstDash val="solid"/>
                      <a:round/>
                      <a:headEnd type="none" w="med" len="med"/>
                      <a:tailEnd type="none" w="med" len="med"/>
                    </a:lnR>
                    <a:lnT w="12700" cap="flat" cmpd="sng" algn="ctr">
                      <a:solidFill>
                        <a:srgbClr val="E2E8EA"/>
                      </a:solidFill>
                      <a:prstDash val="solid"/>
                      <a:round/>
                      <a:headEnd type="none" w="med" len="med"/>
                      <a:tailEnd type="none" w="med" len="med"/>
                    </a:lnT>
                    <a:lnB w="12700" cap="flat" cmpd="sng" algn="ctr">
                      <a:solidFill>
                        <a:srgbClr val="E2E8EA"/>
                      </a:solidFill>
                      <a:prstDash val="solid"/>
                      <a:round/>
                      <a:headEnd type="none" w="med" len="med"/>
                      <a:tailEnd type="none" w="med" len="med"/>
                    </a:lnB>
                  </a:tcPr>
                </a:tc>
              </a:tr>
            </a:tbl>
          </a:graphicData>
        </a:graphic>
      </p:graphicFrame>
      <p:sp>
        <p:nvSpPr>
          <p:cNvPr id="4" name="Shape 1"/>
          <p:cNvSpPr/>
          <p:nvPr/>
        </p:nvSpPr>
        <p:spPr>
          <a:xfrm>
            <a:off x="0" y="6793992"/>
            <a:ext cx="2040636" cy="64008"/>
          </a:xfrm>
          <a:prstGeom prst="rect">
            <a:avLst/>
          </a:prstGeom>
          <a:solidFill>
            <a:srgbClr val="01485C"/>
          </a:solidFill>
          <a:ln/>
        </p:spPr>
      </p:sp>
      <p:sp>
        <p:nvSpPr>
          <p:cNvPr id="5" name="Shape 2"/>
          <p:cNvSpPr/>
          <p:nvPr/>
        </p:nvSpPr>
        <p:spPr>
          <a:xfrm>
            <a:off x="2031492" y="6793992"/>
            <a:ext cx="2040636" cy="64008"/>
          </a:xfrm>
          <a:prstGeom prst="rect">
            <a:avLst/>
          </a:prstGeom>
          <a:solidFill>
            <a:srgbClr val="146175"/>
          </a:solidFill>
          <a:ln/>
        </p:spPr>
      </p:sp>
      <p:sp>
        <p:nvSpPr>
          <p:cNvPr id="6" name="Shape 3"/>
          <p:cNvSpPr/>
          <p:nvPr/>
        </p:nvSpPr>
        <p:spPr>
          <a:xfrm>
            <a:off x="4062984" y="6793992"/>
            <a:ext cx="2040636" cy="64008"/>
          </a:xfrm>
          <a:prstGeom prst="rect">
            <a:avLst/>
          </a:prstGeom>
          <a:solidFill>
            <a:srgbClr val="11B5AE"/>
          </a:solidFill>
          <a:ln/>
        </p:spPr>
      </p:sp>
      <p:sp>
        <p:nvSpPr>
          <p:cNvPr id="7" name="Shape 4"/>
          <p:cNvSpPr/>
          <p:nvPr/>
        </p:nvSpPr>
        <p:spPr>
          <a:xfrm>
            <a:off x="6094476" y="6793992"/>
            <a:ext cx="2040636" cy="64008"/>
          </a:xfrm>
          <a:prstGeom prst="rect">
            <a:avLst/>
          </a:prstGeom>
          <a:solidFill>
            <a:srgbClr val="6CCAD4"/>
          </a:solidFill>
          <a:ln/>
        </p:spPr>
      </p:sp>
      <p:sp>
        <p:nvSpPr>
          <p:cNvPr id="8" name="Shape 5"/>
          <p:cNvSpPr/>
          <p:nvPr/>
        </p:nvSpPr>
        <p:spPr>
          <a:xfrm>
            <a:off x="8125968" y="6793992"/>
            <a:ext cx="2040636" cy="64008"/>
          </a:xfrm>
          <a:prstGeom prst="rect">
            <a:avLst/>
          </a:prstGeom>
          <a:solidFill>
            <a:srgbClr val="7FC04C"/>
          </a:solidFill>
          <a:ln/>
        </p:spPr>
      </p:sp>
      <p:sp>
        <p:nvSpPr>
          <p:cNvPr id="9" name="Shape 6"/>
          <p:cNvSpPr/>
          <p:nvPr/>
        </p:nvSpPr>
        <p:spPr>
          <a:xfrm>
            <a:off x="10157460" y="6793992"/>
            <a:ext cx="2040636" cy="64008"/>
          </a:xfrm>
          <a:prstGeom prst="rect">
            <a:avLst/>
          </a:prstGeom>
          <a:solidFill>
            <a:srgbClr val="E1DD57"/>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12B38"/>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Quick reference</a:t>
            </a:r>
            <a:endParaRPr lang="en-US" sz="3000" dirty="0"/>
          </a:p>
        </p:txBody>
      </p:sp>
      <p:sp>
        <p:nvSpPr>
          <p:cNvPr id="3" name="Shape 1"/>
          <p:cNvSpPr/>
          <p:nvPr/>
        </p:nvSpPr>
        <p:spPr>
          <a:xfrm>
            <a:off x="548640" y="1371600"/>
            <a:ext cx="3611880" cy="4114800"/>
          </a:xfrm>
          <a:prstGeom prst="roundRect">
            <a:avLst>
              <a:gd name="adj" fmla="val 3038"/>
            </a:avLst>
          </a:prstGeom>
          <a:solidFill>
            <a:srgbClr val="01485C"/>
          </a:solidFill>
          <a:ln w="12700">
            <a:solidFill>
              <a:srgbClr val="11B5AE"/>
            </a:solidFill>
            <a:prstDash val="solid"/>
          </a:ln>
        </p:spPr>
        <p:txBody>
          <a:bodyPr/>
          <a:p/>
        </p:txBody>
      </p:sp>
      <p:sp>
        <p:nvSpPr>
          <p:cNvPr id="4" name="Text 2"/>
          <p:cNvSpPr txBox="1"/>
          <p:nvPr/>
        </p:nvSpPr>
        <p:spPr>
          <a:xfrm>
            <a:off x="822960" y="1645920"/>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LAUNCHER</a:t>
            </a:r>
            <a:endParaRPr lang="en-US" sz="1050" dirty="0"/>
          </a:p>
        </p:txBody>
      </p:sp>
      <p:sp>
        <p:nvSpPr>
          <p:cNvPr id="5" name="Text 3"/>
          <p:cNvSpPr txBox="1"/>
          <p:nvPr/>
        </p:nvSpPr>
        <p:spPr>
          <a:xfrm>
            <a:off x="822960" y="1901952"/>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Start PQ Reports.bat</a:t>
            </a:r>
            <a:endParaRPr lang="en-US" sz="1250" dirty="0"/>
          </a:p>
        </p:txBody>
      </p:sp>
      <p:sp>
        <p:nvSpPr>
          <p:cNvPr id="6" name="Text 4"/>
          <p:cNvSpPr txBox="1"/>
          <p:nvPr/>
        </p:nvSpPr>
        <p:spPr>
          <a:xfrm>
            <a:off x="822960" y="2578608"/>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SELECTION PAGE</a:t>
            </a:r>
            <a:endParaRPr lang="en-US" sz="1050" dirty="0"/>
          </a:p>
        </p:txBody>
      </p:sp>
      <p:sp>
        <p:nvSpPr>
          <p:cNvPr id="7" name="Text 5"/>
          <p:cNvSpPr txBox="1"/>
          <p:nvPr/>
        </p:nvSpPr>
        <p:spPr>
          <a:xfrm>
            <a:off x="822960" y="2834640"/>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localhost:5750</a:t>
            </a:r>
            <a:endParaRPr lang="en-US" sz="1250" dirty="0"/>
          </a:p>
        </p:txBody>
      </p:sp>
      <p:sp>
        <p:nvSpPr>
          <p:cNvPr id="8" name="Text 6"/>
          <p:cNvSpPr txBox="1"/>
          <p:nvPr/>
        </p:nvSpPr>
        <p:spPr>
          <a:xfrm>
            <a:off x="822960" y="3511296"/>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I-STAT APP</a:t>
            </a:r>
            <a:endParaRPr lang="en-US" sz="1050" dirty="0"/>
          </a:p>
        </p:txBody>
      </p:sp>
      <p:sp>
        <p:nvSpPr>
          <p:cNvPr id="9" name="Text 7"/>
          <p:cNvSpPr txBox="1"/>
          <p:nvPr/>
        </p:nvSpPr>
        <p:spPr>
          <a:xfrm>
            <a:off x="822960" y="3767328"/>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localhost:5757</a:t>
            </a:r>
            <a:endParaRPr lang="en-US" sz="1250" dirty="0"/>
          </a:p>
        </p:txBody>
      </p:sp>
      <p:sp>
        <p:nvSpPr>
          <p:cNvPr id="10" name="Text 8"/>
          <p:cNvSpPr txBox="1"/>
          <p:nvPr/>
        </p:nvSpPr>
        <p:spPr>
          <a:xfrm>
            <a:off x="822960" y="4443984"/>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ABL APP</a:t>
            </a:r>
            <a:endParaRPr lang="en-US" sz="1050" dirty="0"/>
          </a:p>
        </p:txBody>
      </p:sp>
      <p:sp>
        <p:nvSpPr>
          <p:cNvPr id="11" name="Text 9"/>
          <p:cNvSpPr txBox="1"/>
          <p:nvPr/>
        </p:nvSpPr>
        <p:spPr>
          <a:xfrm>
            <a:off x="822960" y="4700016"/>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localhost:5758</a:t>
            </a:r>
            <a:endParaRPr lang="en-US" sz="1250" dirty="0"/>
          </a:p>
        </p:txBody>
      </p:sp>
      <p:sp>
        <p:nvSpPr>
          <p:cNvPr id="12" name="Shape 10"/>
          <p:cNvSpPr/>
          <p:nvPr/>
        </p:nvSpPr>
        <p:spPr>
          <a:xfrm>
            <a:off x="4370832" y="1371600"/>
            <a:ext cx="3611880" cy="4114800"/>
          </a:xfrm>
          <a:prstGeom prst="roundRect">
            <a:avLst>
              <a:gd name="adj" fmla="val 3038"/>
            </a:avLst>
          </a:prstGeom>
          <a:solidFill>
            <a:srgbClr val="01485C"/>
          </a:solidFill>
          <a:ln w="12700">
            <a:solidFill>
              <a:srgbClr val="11B5AE"/>
            </a:solidFill>
            <a:prstDash val="solid"/>
          </a:ln>
        </p:spPr>
        <p:txBody>
          <a:bodyPr/>
          <a:p/>
        </p:txBody>
      </p:sp>
      <p:sp>
        <p:nvSpPr>
          <p:cNvPr id="13" name="Text 11"/>
          <p:cNvSpPr txBox="1"/>
          <p:nvPr/>
        </p:nvSpPr>
        <p:spPr>
          <a:xfrm>
            <a:off x="4645152" y="1645920"/>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I-STAT REPORTS</a:t>
            </a:r>
            <a:endParaRPr lang="en-US" sz="1050" dirty="0"/>
          </a:p>
        </p:txBody>
      </p:sp>
      <p:sp>
        <p:nvSpPr>
          <p:cNvPr id="14" name="Text 12"/>
          <p:cNvSpPr txBox="1"/>
          <p:nvPr/>
        </p:nvSpPr>
        <p:spPr>
          <a:xfrm>
            <a:off x="4645152" y="1901952"/>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Reports\iSTAT\&lt;YYYY-MM Month&gt;\</a:t>
            </a:r>
            <a:endParaRPr lang="en-US" sz="1250" dirty="0"/>
          </a:p>
        </p:txBody>
      </p:sp>
      <p:sp>
        <p:nvSpPr>
          <p:cNvPr id="15" name="Text 13"/>
          <p:cNvSpPr txBox="1"/>
          <p:nvPr/>
        </p:nvSpPr>
        <p:spPr>
          <a:xfrm>
            <a:off x="4645152" y="2578608"/>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ABL REPORTS</a:t>
            </a:r>
            <a:endParaRPr lang="en-US" sz="1050" dirty="0"/>
          </a:p>
        </p:txBody>
      </p:sp>
      <p:sp>
        <p:nvSpPr>
          <p:cNvPr id="16" name="Text 14"/>
          <p:cNvSpPr txBox="1"/>
          <p:nvPr/>
        </p:nvSpPr>
        <p:spPr>
          <a:xfrm>
            <a:off x="4645152" y="2834640"/>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Reports\ABL\&lt;YYYY-MM Month&gt;\</a:t>
            </a:r>
            <a:endParaRPr lang="en-US" sz="1250" dirty="0"/>
          </a:p>
        </p:txBody>
      </p:sp>
      <p:sp>
        <p:nvSpPr>
          <p:cNvPr id="17" name="Text 15"/>
          <p:cNvSpPr txBox="1"/>
          <p:nvPr/>
        </p:nvSpPr>
        <p:spPr>
          <a:xfrm>
            <a:off x="4645152" y="3511296"/>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EXPORTS LIVE IN</a:t>
            </a:r>
            <a:endParaRPr lang="en-US" sz="1050" dirty="0"/>
          </a:p>
        </p:txBody>
      </p:sp>
      <p:sp>
        <p:nvSpPr>
          <p:cNvPr id="18" name="Text 16"/>
          <p:cNvSpPr txBox="1"/>
          <p:nvPr/>
        </p:nvSpPr>
        <p:spPr>
          <a:xfrm>
            <a:off x="4645152" y="3767328"/>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Monthly reports\</a:t>
            </a:r>
            <a:endParaRPr lang="en-US" sz="1250" dirty="0"/>
          </a:p>
        </p:txBody>
      </p:sp>
      <p:sp>
        <p:nvSpPr>
          <p:cNvPr id="19" name="Text 17"/>
          <p:cNvSpPr txBox="1"/>
          <p:nvPr/>
        </p:nvSpPr>
        <p:spPr>
          <a:xfrm>
            <a:off x="4645152" y="4443984"/>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THIS GUIDE</a:t>
            </a:r>
            <a:endParaRPr lang="en-US" sz="1050" dirty="0"/>
          </a:p>
        </p:txBody>
      </p:sp>
      <p:sp>
        <p:nvSpPr>
          <p:cNvPr id="20" name="Text 18"/>
          <p:cNvSpPr txBox="1"/>
          <p:nvPr/>
        </p:nvSpPr>
        <p:spPr>
          <a:xfrm>
            <a:off x="4645152" y="4700016"/>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PQ_Report_Generator_User_Guide.pptx</a:t>
            </a:r>
            <a:endParaRPr lang="en-US" sz="1250" dirty="0"/>
          </a:p>
        </p:txBody>
      </p:sp>
      <p:sp>
        <p:nvSpPr>
          <p:cNvPr id="21" name="Shape 19"/>
          <p:cNvSpPr/>
          <p:nvPr/>
        </p:nvSpPr>
        <p:spPr>
          <a:xfrm>
            <a:off x="8193024" y="1371600"/>
            <a:ext cx="3611880" cy="4114800"/>
          </a:xfrm>
          <a:prstGeom prst="roundRect">
            <a:avLst>
              <a:gd name="adj" fmla="val 3038"/>
            </a:avLst>
          </a:prstGeom>
          <a:solidFill>
            <a:srgbClr val="01485C"/>
          </a:solidFill>
          <a:ln w="12700">
            <a:solidFill>
              <a:srgbClr val="11B5AE"/>
            </a:solidFill>
            <a:prstDash val="solid"/>
          </a:ln>
        </p:spPr>
        <p:txBody>
          <a:bodyPr/>
          <a:p/>
        </p:txBody>
      </p:sp>
      <p:sp>
        <p:nvSpPr>
          <p:cNvPr id="22" name="Text 20"/>
          <p:cNvSpPr txBox="1"/>
          <p:nvPr/>
        </p:nvSpPr>
        <p:spPr>
          <a:xfrm>
            <a:off x="8467344" y="1645920"/>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PASSWORDS</a:t>
            </a:r>
            <a:endParaRPr lang="en-US" sz="1050" dirty="0"/>
          </a:p>
        </p:txBody>
      </p:sp>
      <p:sp>
        <p:nvSpPr>
          <p:cNvPr id="23" name="Text 21"/>
          <p:cNvSpPr txBox="1"/>
          <p:nvPr/>
        </p:nvSpPr>
        <p:spPr>
          <a:xfrm>
            <a:off x="8467344" y="1901952"/>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BitLocker (drive) + history (i-STAT and ABL)</a:t>
            </a:r>
            <a:endParaRPr lang="en-US" sz="1250" dirty="0"/>
          </a:p>
        </p:txBody>
      </p:sp>
      <p:sp>
        <p:nvSpPr>
          <p:cNvPr id="24" name="Text 22"/>
          <p:cNvSpPr txBox="1"/>
          <p:nvPr/>
        </p:nvSpPr>
        <p:spPr>
          <a:xfrm>
            <a:off x="8467344" y="2578608"/>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STOP EVERYTHING</a:t>
            </a:r>
            <a:endParaRPr lang="en-US" sz="1050" dirty="0"/>
          </a:p>
        </p:txBody>
      </p:sp>
      <p:sp>
        <p:nvSpPr>
          <p:cNvPr id="25" name="Text 23"/>
          <p:cNvSpPr txBox="1"/>
          <p:nvPr/>
        </p:nvSpPr>
        <p:spPr>
          <a:xfrm>
            <a:off x="8467344" y="2834640"/>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Close the console window</a:t>
            </a:r>
            <a:endParaRPr lang="en-US" sz="1250" dirty="0"/>
          </a:p>
        </p:txBody>
      </p:sp>
      <p:sp>
        <p:nvSpPr>
          <p:cNvPr id="26" name="Text 24"/>
          <p:cNvSpPr txBox="1"/>
          <p:nvPr/>
        </p:nvSpPr>
        <p:spPr>
          <a:xfrm>
            <a:off x="8467344" y="3511296"/>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SECURITY DETAILS</a:t>
            </a:r>
            <a:endParaRPr lang="en-US" sz="1050" dirty="0"/>
          </a:p>
        </p:txBody>
      </p:sp>
      <p:sp>
        <p:nvSpPr>
          <p:cNvPr id="27" name="Text 25"/>
          <p:cNvSpPr txBox="1"/>
          <p:nvPr/>
        </p:nvSpPr>
        <p:spPr>
          <a:xfrm>
            <a:off x="8467344" y="3767328"/>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SECURITY_README.md on the drive</a:t>
            </a:r>
            <a:endParaRPr lang="en-US" sz="1250" dirty="0"/>
          </a:p>
        </p:txBody>
      </p:sp>
      <p:sp>
        <p:nvSpPr>
          <p:cNvPr id="28" name="Text 26"/>
          <p:cNvSpPr txBox="1"/>
          <p:nvPr/>
        </p:nvSpPr>
        <p:spPr>
          <a:xfrm>
            <a:off x="8467344" y="4443984"/>
            <a:ext cx="3063240" cy="274320"/>
          </a:xfrm>
          <a:prstGeom prst="rect">
            <a:avLst/>
          </a:prstGeom>
          <a:noFill/>
          <a:ln/>
        </p:spPr>
        <p:txBody>
          <a:bodyPr wrap="square" lIns="0" tIns="0" rIns="0" bIns="0" rtlCol="0" anchor="ctr"/>
          <a:lstStyle/>
          <a:p>
            <a:pPr indent="0" marL="0">
              <a:buNone/>
            </a:pPr>
            <a:r>
              <a:rPr lang="en-US" sz="1050" b="1" dirty="0">
                <a:solidFill>
                  <a:srgbClr val="6CCAD4"/>
                </a:solidFill>
                <a:latin typeface="Calibri" pitchFamily="34" charset="0"/>
                <a:ea typeface="Calibri" pitchFamily="34" charset="-122"/>
                <a:cs typeface="Calibri" pitchFamily="34" charset="-120"/>
              </a:rPr>
              <a:t>SUPPORT</a:t>
            </a:r>
            <a:endParaRPr lang="en-US" sz="1050" dirty="0"/>
          </a:p>
        </p:txBody>
      </p:sp>
      <p:sp>
        <p:nvSpPr>
          <p:cNvPr id="29" name="Text 27"/>
          <p:cNvSpPr txBox="1"/>
          <p:nvPr/>
        </p:nvSpPr>
        <p:spPr>
          <a:xfrm>
            <a:off x="8467344" y="4700016"/>
            <a:ext cx="306324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Pathology Queensland PoC team</a:t>
            </a:r>
            <a:endParaRPr lang="en-US" sz="1250" dirty="0"/>
          </a:p>
        </p:txBody>
      </p:sp>
      <p:sp>
        <p:nvSpPr>
          <p:cNvPr id="30" name="Shape 28"/>
          <p:cNvSpPr/>
          <p:nvPr/>
        </p:nvSpPr>
        <p:spPr>
          <a:xfrm>
            <a:off x="548640" y="5715000"/>
            <a:ext cx="2377440" cy="868680"/>
          </a:xfrm>
          <a:prstGeom prst="roundRect">
            <a:avLst>
              <a:gd name="adj" fmla="val 10526"/>
            </a:avLst>
          </a:prstGeom>
          <a:solidFill>
            <a:srgbClr val="FFFFFF"/>
          </a:solidFill>
          <a:ln/>
        </p:spPr>
      </p:sp>
      <p:pic>
        <p:nvPicPr>
          <p:cNvPr id="31" name="Image 0" descr="crest.png">    </p:cNvPr>
          <p:cNvPicPr>
            <a:picLocks noChangeAspect="1"/>
          </p:cNvPicPr>
          <p:nvPr/>
        </p:nvPicPr>
        <p:blipFill>
          <a:blip r:embed="rId1"/>
          <a:stretch>
            <a:fillRect/>
          </a:stretch>
        </p:blipFill>
        <p:spPr>
          <a:xfrm>
            <a:off x="777240" y="5870448"/>
            <a:ext cx="1700784" cy="557784"/>
          </a:xfrm>
          <a:prstGeom prst="rect">
            <a:avLst/>
          </a:prstGeom>
        </p:spPr>
      </p:pic>
      <p:sp>
        <p:nvSpPr>
          <p:cNvPr id="32" name="Text 29"/>
          <p:cNvSpPr txBox="1"/>
          <p:nvPr/>
        </p:nvSpPr>
        <p:spPr>
          <a:xfrm>
            <a:off x="3200400" y="5943600"/>
            <a:ext cx="54864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Pathology Queensland · Point of Care Testing</a:t>
            </a:r>
            <a:endParaRPr lang="en-US" sz="1300" dirty="0"/>
          </a:p>
        </p:txBody>
      </p:sp>
      <p:sp>
        <p:nvSpPr>
          <p:cNvPr id="33" name="Shape 30"/>
          <p:cNvSpPr/>
          <p:nvPr/>
        </p:nvSpPr>
        <p:spPr>
          <a:xfrm>
            <a:off x="0" y="6793992"/>
            <a:ext cx="2040636" cy="64008"/>
          </a:xfrm>
          <a:prstGeom prst="rect">
            <a:avLst/>
          </a:prstGeom>
          <a:solidFill>
            <a:srgbClr val="01485C"/>
          </a:solidFill>
          <a:ln/>
        </p:spPr>
      </p:sp>
      <p:sp>
        <p:nvSpPr>
          <p:cNvPr id="34" name="Shape 31"/>
          <p:cNvSpPr/>
          <p:nvPr/>
        </p:nvSpPr>
        <p:spPr>
          <a:xfrm>
            <a:off x="2031492" y="6793992"/>
            <a:ext cx="2040636" cy="64008"/>
          </a:xfrm>
          <a:prstGeom prst="rect">
            <a:avLst/>
          </a:prstGeom>
          <a:solidFill>
            <a:srgbClr val="146175"/>
          </a:solidFill>
          <a:ln/>
        </p:spPr>
      </p:sp>
      <p:sp>
        <p:nvSpPr>
          <p:cNvPr id="35" name="Shape 32"/>
          <p:cNvSpPr/>
          <p:nvPr/>
        </p:nvSpPr>
        <p:spPr>
          <a:xfrm>
            <a:off x="4062984" y="6793992"/>
            <a:ext cx="2040636" cy="64008"/>
          </a:xfrm>
          <a:prstGeom prst="rect">
            <a:avLst/>
          </a:prstGeom>
          <a:solidFill>
            <a:srgbClr val="11B5AE"/>
          </a:solidFill>
          <a:ln/>
        </p:spPr>
      </p:sp>
      <p:sp>
        <p:nvSpPr>
          <p:cNvPr id="36" name="Shape 33"/>
          <p:cNvSpPr/>
          <p:nvPr/>
        </p:nvSpPr>
        <p:spPr>
          <a:xfrm>
            <a:off x="6094476" y="6793992"/>
            <a:ext cx="2040636" cy="64008"/>
          </a:xfrm>
          <a:prstGeom prst="rect">
            <a:avLst/>
          </a:prstGeom>
          <a:solidFill>
            <a:srgbClr val="6CCAD4"/>
          </a:solidFill>
          <a:ln/>
        </p:spPr>
      </p:sp>
      <p:sp>
        <p:nvSpPr>
          <p:cNvPr id="37" name="Shape 34"/>
          <p:cNvSpPr/>
          <p:nvPr/>
        </p:nvSpPr>
        <p:spPr>
          <a:xfrm>
            <a:off x="8125968" y="6793992"/>
            <a:ext cx="2040636" cy="64008"/>
          </a:xfrm>
          <a:prstGeom prst="rect">
            <a:avLst/>
          </a:prstGeom>
          <a:solidFill>
            <a:srgbClr val="7FC04C"/>
          </a:solidFill>
          <a:ln/>
        </p:spPr>
      </p:sp>
      <p:sp>
        <p:nvSpPr>
          <p:cNvPr id="38" name="Shape 35"/>
          <p:cNvSpPr/>
          <p:nvPr/>
        </p:nvSpPr>
        <p:spPr>
          <a:xfrm>
            <a:off x="10157460" y="6793992"/>
            <a:ext cx="2040636" cy="64008"/>
          </a:xfrm>
          <a:prstGeom prst="rect">
            <a:avLst/>
          </a:prstGeom>
          <a:solidFill>
            <a:srgbClr val="E1DD5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2026-09-04T01:56:42Z</dcterms:created>
  <dcterms:modified xsi:type="dcterms:W3CDTF">2026-09-04T01:56:42Z</dcterms:modified>
</cp:coreProperties>
</file>