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7" r:id="rId1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briefing covers the security design of the combined portable reporting tool: what data it holds and the five defensive layers — all of which, including whole-drive BitLocker encryption, are now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tool: it is a local utility, not a hosted system. One launcher, a selection page, and the two report engines. Everything binds to loopback so other machines cannot reach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inventory. The i-STAT history is encrypted twice over — application AES inside BitLocker. Everything else on the drive is protected by BitLocker To Go, so no file is readable if the drive is lost.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layered model in one view — all five layers are live, including the outer BitLocker layer enabled in September 2026. Each of the next slides expands one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offline is enforced at runtime, not just claimed. Give the team the three-step self-test — it is the fastest way to build trust with local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password is chosen by the PoC team, not by IT, and is never written to disk. Stress the recovery trade-off: strong protection means a forgotten password cannot be bypassed — which is why retaining the monthly exports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BitLocker To Go is now active on the drive: the residual risk from the left column is closed. The only follow-up is confirming the unlock prompt appears when the drive is next inserted on another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everyday protections inside the apps themselves. Worth noting fail-closed loading: if a middleware export changes format, the tool says so explicitly rather than producing quietly wrong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Accountability closes the loop: generation events tie to Windows usernames, and unlock attempts — successful or failed — are recorded. Logs are deliberately plaintext so any reviewer can read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says "aligns with", not "complies/certified" — that honesty is what security reviewers respond to. The README on the drive carries this table with the technical detail behind each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actions: BitLocker is done — just confirm the unlock prompt on next insertion. The remaining items are organisational: password custody, export retention, and sharing the README. Being open about the limits builds credibility.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2.png"/><Relationship Id="rId4" Type="http://schemas.openxmlformats.org/officeDocument/2006/relationships/image" Target="../media/image-7-2.png"/><Relationship Id="rId5" Type="http://schemas.openxmlformats.org/officeDocument/2006/relationships/image" Target="../media/image-7-1.png"/><Relationship Id="rId6" Type="http://schemas.openxmlformats.org/officeDocument/2006/relationships/image" Target="../media/image-7-1.png"/><Relationship Id="rId7" Type="http://schemas.openxmlformats.org/officeDocument/2006/relationships/image" Target="../media/image-7-1.png"/><Relationship Id="rId8" Type="http://schemas.openxmlformats.org/officeDocument/2006/relationships/image" Target="../media/image-7-1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1485C">
              <a:alpha val="6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50292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q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728" y="658368"/>
            <a:ext cx="2157984" cy="274320"/>
          </a:xfrm>
          <a:prstGeom prst="rect">
            <a:avLst/>
          </a:prstGeom>
        </p:spPr>
      </p:pic>
      <p:pic>
        <p:nvPicPr>
          <p:cNvPr id="5" name="Image 1" descr="wor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87552"/>
            <a:ext cx="3566160" cy="417881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955280" y="1188720"/>
            <a:ext cx="3657600" cy="40233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7" name="Image 2" descr="moti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600200"/>
            <a:ext cx="2834640" cy="2560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138160" y="43434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drive · two report engines · zero exposure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24688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Report Generator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429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briefing for the implementation team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97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 · September 2026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601675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Conceived, designed and built by Craig MacKenzie · Chemistry Department, Townsville Group Laboratory · Pathology Queensland</a:t>
            </a:r>
            <a:endParaRPr lang="en-US" sz="1100" dirty="0"/>
          </a:p>
          <a:p>
            <a:pPr/>
            <a:r>
              <a:rPr sz="1000">
                <a:solidFill>
                  <a:srgbClr val="6CCAD4"/>
                </a:solidFill>
                <a:latin typeface="Calibri"/>
              </a:rPr>
              <a:t>Amendments and oversight by Damian Juskiw · Supervising Scientist, Chemical Pathology, Townsville</a:t>
            </a:r>
          </a:p>
        </p:txBody>
      </p:sp>
      <p:sp>
        <p:nvSpPr>
          <p:cNvPr id="13" name="Shape 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4" name="Shape 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  <p:txBody>
          <a:bodyPr/>
          <a:p/>
        </p:txBody>
      </p:sp>
      <p:sp>
        <p:nvSpPr>
          <p:cNvPr id="15" name="Shape 1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  <p:txBody>
          <a:bodyPr/>
          <a:p/>
        </p:txBody>
      </p:sp>
      <p:sp>
        <p:nvSpPr>
          <p:cNvPr id="17" name="Shape 1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at a glance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94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 generators (i-STAT and ABL) in one self-contained USB bundle with its own Python runtime.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PCs licensed by the PoC lead — no installation, no admin rights, no system changes.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Plain, deterministic data processing: spreadsheets in, Word reports out. No AI, no cloud.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launcher starts a selection page; closing the console window stops everything.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0" y="128016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0148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0" y="1280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page   </a:t>
            </a:r>
            <a:pPr algn="ctr" indent="0" marL="0">
              <a:buNone/>
            </a:pPr>
            <a:r>
              <a:rPr lang="en-US" sz="150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0241280" y="2194560"/>
            <a:ext cx="0" cy="457200"/>
          </a:xfrm>
          <a:prstGeom prst="line">
            <a:avLst/>
          </a:prstGeom>
          <a:noFill/>
          <a:ln w="2540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8368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i-STAT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localhost:5757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2651760"/>
            <a:ext cx="2240280" cy="1051560"/>
          </a:xfrm>
          <a:prstGeom prst="roundRect">
            <a:avLst>
              <a:gd name="adj" fmla="val 8696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89720" y="265176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engine
</a:t>
            </a:r>
            <a:pPr algn="ctr"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localhost:5758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886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servers bind to 127.0.0.1 only — nothing is reachable from the network.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12064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120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880360" y="51206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880360" y="5120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51206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37760" y="51206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/ NO CLOUD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60920" y="51206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60920" y="51206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FROM THE USB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966960" y="512064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966960" y="51206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 ONLY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data lives on the drive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staff, device error &amp; device activity history (24-36 months)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iSTAT_App\*_history.json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148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middleware exports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reports\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Word reports, site &amp; area overviews, dormant-analyser list (overviews and list are device-level: no staff names)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Reports\iSTAT\ and Reports\ABL\ by month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 operator &amp; analyser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ABL_App\abl_*history.json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E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twice (app AES + BitLocker)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/ network logs in each app folder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F7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Plaintext inside the encrypted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0" y="1371600"/>
            <a:ext cx="2514600" cy="3017520"/>
          </a:xfrm>
          <a:prstGeom prst="roundRect">
            <a:avLst>
              <a:gd name="adj" fmla="val 4364"/>
            </a:avLst>
          </a:prstGeom>
          <a:solidFill>
            <a:srgbClr val="E5F2F0"/>
          </a:solidFill>
          <a:ln w="19050">
            <a:solidFill>
              <a:srgbClr val="11B5A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012680" y="1645920"/>
            <a:ext cx="777240" cy="777240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6" name="Image 0" descr="icon_fil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4762" y="1848002"/>
            <a:ext cx="373075" cy="3730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0" y="256032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326880" y="301752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of QH staff — handled per QGEA classification. It never leaves the drive or the PC it is plugged into.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029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staff error rates are the crown jewels here: every layer that follows exists to keep this table protected.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1" name="Shape 7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2" name="Shape 8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3" name="Shape 9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5" name="Shape 11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layers of defence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70432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" y="1307592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usb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984" y="1478768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whole-drive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62763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encrypts everything on the stick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0195560" y="14813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195560" y="1481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216712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2" name="Image 1" descr="icon_key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984" y="2338304"/>
            <a:ext cx="316017" cy="31601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1396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history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2487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AES-encrypted history; password never stored, no recovery by design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10195560" y="2340864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19556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889504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49808" y="3026664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9" name="Image 2" descr="icon_ba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984" y="3197840"/>
            <a:ext cx="316017" cy="31601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600200" y="29992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334670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 + runtime guard that blocks and logs any outbound attempt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10195560" y="320040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10195560" y="320040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49808" y="3886200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26" name="Image 3" descr="icon_usershield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84" y="4057376"/>
            <a:ext cx="316017" cy="31601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600200" y="38587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160020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checks, path confinement, uploads wiped, fail-closed parsing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10195560" y="405993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0" name="Text 24"/>
          <p:cNvSpPr txBox="1"/>
          <p:nvPr/>
        </p:nvSpPr>
        <p:spPr>
          <a:xfrm>
            <a:off x="10195560" y="405993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4608576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749808" y="4745736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4916912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47183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0657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logs: who generated what, every unlock attempt, guard activity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491947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10195560" y="491947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9" name="Shape 32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40" name="Shape 33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41" name="Shape 34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42" name="Shape 35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5468111"/>
            <a:ext cx="110642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  <p:txBody>
          <a:bodyPr/>
          <a:p/>
        </p:txBody>
      </p:sp>
      <p:sp>
        <p:nvSpPr>
          <p:cNvPr id="32" name="Shape 26"/>
          <p:cNvSpPr/>
          <p:nvPr/>
        </p:nvSpPr>
        <p:spPr>
          <a:xfrm>
            <a:off x="749808" y="5605271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  <p:txBody>
          <a:bodyPr/>
          <a:p/>
        </p:txBody>
      </p:sp>
      <p:pic>
        <p:nvPicPr>
          <p:cNvPr id="33" name="Image 4" descr="icon_clipboard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984" y="5776447"/>
            <a:ext cx="316017" cy="3160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600200" y="5577839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1600200" y="5925311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licence per PC — motherboard-bound, 12-month QIS term, version-gated, signed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10195560" y="5779007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10195560" y="5779007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by design — and by enforcement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endpoints.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keys, no telemetry, no update checks anywhere in the code.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binding.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web servers listen on 127.0.0.1 — invisible to the network.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network guard. </a:t>
            </a:r>
            <a:pPr indent="0" marL="0">
              <a:buNone/>
            </a:pPr>
            <a:r>
              <a:rPr lang="en-US" sz="15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at process start; permits loopback sockets only, and blocks-and-logs anything else. An enforced control, not a promise.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1B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5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outbound connections in the life of the tool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040880" y="1371600"/>
            <a:ext cx="4617720" cy="4114800"/>
          </a:xfrm>
          <a:prstGeom prst="roundRect">
            <a:avLst>
              <a:gd name="adj" fmla="val 2667"/>
            </a:avLst>
          </a:prstGeom>
          <a:solidFill>
            <a:srgbClr val="012B38"/>
          </a:solidFill>
          <a:ln/>
        </p:spPr>
      </p:sp>
      <p:sp>
        <p:nvSpPr>
          <p:cNvPr id="8" name="Shape 6"/>
          <p:cNvSpPr/>
          <p:nvPr/>
        </p:nvSpPr>
        <p:spPr>
          <a:xfrm>
            <a:off x="7306056" y="16459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icon_search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84364" y="18242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138160" y="1755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yourselves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7315200" y="2606040"/>
            <a:ext cx="40690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Unplug the network cable / disable Wi-Fi.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 end-to-end — identical behaviour.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network audit log: only the guard-activation line. Any outbound attempt would appear as a BLOCKED entry.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13" name="Shape 10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14" name="Shape 11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15" name="Shape 12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16" name="Shape 13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7" name="Shape 14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encryption — how the password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once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launch: choose a password; all history files are encrypted in place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each launch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refuses to generate reports until the password is entered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at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password the files are unreadable on any machine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(Fernet) with HMAC-SHA256 integrity — tampering is detected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derivation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PBKDF2-SHA256, 600,000 rounds, random 16-byte salt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None. Only the salt and a verifier live on disk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Maintained "cryptography" package — no home-made crypto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forgotten password means resetting the history. It can be rebuilt from retained monthly exports — keep them.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the outer shell (enabled)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4F6F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BitLocker</a:t>
            </a:r>
            <a:endParaRPr lang="en-US" sz="1800" dirty="0"/>
          </a:p>
        </p:txBody>
      </p:sp>
      <p:pic>
        <p:nvPicPr>
          <p:cNvPr id="5" name="Image 0" descr="icon_check_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5856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files: encrypted (password)</a:t>
            </a:r>
            <a:endParaRPr lang="en-US" sz="1350" dirty="0"/>
          </a:p>
        </p:txBody>
      </p:sp>
      <p:pic>
        <p:nvPicPr>
          <p:cNvPr id="7" name="Image 1" descr="icon_warn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exports: readable if the drive was lost</a:t>
            </a:r>
            <a:endParaRPr lang="en-US" sz="1350" dirty="0"/>
          </a:p>
        </p:txBody>
      </p:sp>
      <p:pic>
        <p:nvPicPr>
          <p:cNvPr id="9" name="Image 2" descr="icon_war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850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8016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reports: readable if the drive was lost</a:t>
            </a:r>
            <a:endParaRPr lang="en-US" sz="1350" dirty="0"/>
          </a:p>
        </p:txBody>
      </p:sp>
      <p:pic>
        <p:nvPicPr>
          <p:cNvPr id="11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398264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 history: readable if the drive was lost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6309360" y="137160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01485C"/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6629400" y="16002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BitLocker To Go — NOW ACTIVE</a:t>
            </a:r>
            <a:endParaRPr lang="en-US" sz="1800" dirty="0"/>
          </a:p>
        </p:txBody>
      </p:sp>
      <p:pic>
        <p:nvPicPr>
          <p:cNvPr id="15" name="Image 4" descr="icon_check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2258568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7040880" y="22402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drive is ciphertext without the unlock password</a:t>
            </a:r>
            <a:endParaRPr lang="en-US" sz="1350" dirty="0"/>
          </a:p>
        </p:txBody>
      </p:sp>
      <p:pic>
        <p:nvPicPr>
          <p:cNvPr id="17" name="Image 5" descr="icon_check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297180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40880" y="2953512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every current AND future file automatically</a:t>
            </a:r>
            <a:endParaRPr lang="en-US" sz="1350" dirty="0"/>
          </a:p>
        </p:txBody>
      </p:sp>
      <p:pic>
        <p:nvPicPr>
          <p:cNvPr id="19" name="Image 6" descr="icon_check_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3685032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040880" y="3666744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change to daily use after unlock at insertion</a:t>
            </a:r>
            <a:endParaRPr lang="en-US" sz="1350" dirty="0"/>
          </a:p>
        </p:txBody>
      </p:sp>
      <p:pic>
        <p:nvPicPr>
          <p:cNvPr id="21" name="Image 7" descr="icon_check_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398264"/>
            <a:ext cx="274320" cy="27432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040880" y="4379976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Standard, recognisable QH control (AES)</a:t>
            </a:r>
            <a:endParaRPr lang="en-US" sz="1350" dirty="0"/>
          </a:p>
        </p:txBody>
      </p:sp>
      <p:sp>
        <p:nvSpPr>
          <p:cNvPr id="23" name="Text 13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enabled from a QH machine, September 2026. A lost drive now exposes nothing readable — verify the unlock prompt appears on next insertion.</a:t>
            </a:r>
            <a:endParaRPr lang="en-US" sz="1400" dirty="0"/>
          </a:p>
        </p:txBody>
      </p:sp>
      <p:sp>
        <p:nvSpPr>
          <p:cNvPr id="24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5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6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7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8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9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can run — central licensing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centrally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PoC lead’s offline keygen can sign a licence; the drive carries just the public key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97764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34340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E5F2F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the motherboard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= hash of system UUID, board serial, drive serial and hostname — a copied drive stays locked elsewhere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0" y="2148840"/>
            <a:ext cx="320040" cy="0"/>
          </a:xfrm>
          <a:prstGeom prst="line">
            <a:avLst/>
          </a:prstGeom>
          <a:noFill/>
          <a:ln w="31750">
            <a:solidFill>
              <a:srgbClr val="01485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383280" cy="1554480"/>
          </a:xfrm>
          <a:prstGeom prst="roundRect">
            <a:avLst>
              <a:gd name="adj" fmla="val 7059"/>
            </a:avLst>
          </a:prstGeom>
          <a:solidFill>
            <a:srgbClr val="01485C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36676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QIS term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19385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licence names the newest bundle it covers; a review means a new version and re-issued licences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38328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file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JSON (Ed25519): site, machine IDs, seat cap, expiry, max version — edits are refused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5876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custody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key kept off the drive (PQ_Licensing); loss means re-issuing, never a bypass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34256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and both engines lock unless a licence covers this PC and version, in term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9744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 </a:t>
            </a:r>
            <a:pPr indent="0" marL="0">
              <a:buNone/>
            </a:pPr>
            <a:r>
              <a:rPr lang="en-US" sz="140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launch, install and refusal with PC, user, network state; central ledger of copies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863840" y="338328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DF0E4"/>
          </a:solidFill>
          <a:ln w="19050">
            <a:solidFill>
              <a:srgbClr val="B4540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138160" y="3611880"/>
            <a:ext cx="640080" cy="640080"/>
          </a:xfrm>
          <a:prstGeom prst="ellipse">
            <a:avLst/>
          </a:prstGeom>
          <a:solidFill>
            <a:srgbClr val="B4540A"/>
          </a:solidFill>
          <a:ln/>
        </p:spPr>
        <p:txBody>
          <a:bodyPr/>
          <a:p/>
        </p:txBody>
      </p:sp>
      <p:pic>
        <p:nvPicPr>
          <p:cNvPr id="20" name="Image 0" descr="icon_warn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581" y="3778301"/>
            <a:ext cx="307238" cy="30723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915400" y="3703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4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DRM — by design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3434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lives on the drive: a BitLocker holder who edits the Python could remove it. It is an administrative control with evidence and a central register, not copy protection.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4" name="Shape 21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5" name="Shape 22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6" name="Shape 23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7" name="Shape 24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hardening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5" name="Image 0" descr="icon_usershield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71" y="1784543"/>
            <a:ext cx="289682" cy="28968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(CSRF) checks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malicious page in the same browser cannot drive the app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15968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0288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0" name="Image 1" descr="icon_lock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199" y="1784543"/>
            <a:ext cx="289682" cy="28968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67528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confinement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90288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folder" resolves and restricts paths to the reports root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83296" y="13716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57616" y="162763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15" name="Image 2" descr="icon_ban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4527" y="1784543"/>
            <a:ext cx="289682" cy="28968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134856" y="16916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leave no trace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57616" y="242316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export is a random temp file, deleted even on errors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2960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0" name="Image 3" descr="icon_warn_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71" y="3933383"/>
            <a:ext cx="289682" cy="28968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00200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loading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Unrecognised layouts are refused — never silent zeros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315968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90288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25" name="Image 4" descr="icon_network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199" y="3933383"/>
            <a:ext cx="289682" cy="28968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67528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Loopback-only servers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90288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LAN exposure; ports exist only on this machine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8083296" y="35204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2E8E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8357616" y="3776472"/>
            <a:ext cx="603504" cy="603504"/>
          </a:xfrm>
          <a:prstGeom prst="ellipse">
            <a:avLst/>
          </a:prstGeom>
          <a:solidFill>
            <a:srgbClr val="E5F2F0"/>
          </a:solidFill>
          <a:ln/>
        </p:spPr>
      </p:sp>
      <p:pic>
        <p:nvPicPr>
          <p:cNvPr id="30" name="Image 5" descr="icon_clipboard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4527" y="3933383"/>
            <a:ext cx="289682" cy="28968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34856" y="3840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backup sweep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57616" y="45720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Plaintext history backups were encrypted at setup too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34" name="Shape 26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35" name="Shape 27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36" name="Shape 28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37" name="Shape 29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38" name="Shape 30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accountability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5" name="Image 0" descr="icon_clipboard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136" y="1926824"/>
            <a:ext cx="316017" cy="31601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audit.log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generation: timestamp, Windows username, period, scope — plus every history unlock attempt, including failures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9" name="Shape 6"/>
          <p:cNvSpPr/>
          <p:nvPr/>
        </p:nvSpPr>
        <p:spPr>
          <a:xfrm>
            <a:off x="4645152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0" name="Image 1" descr="icon_clipboard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328" y="1926824"/>
            <a:ext cx="316017" cy="31601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45152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audit logs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45152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guard’s record: activation lines under normal use; any outbound attempt would appear as BLOCKED with the destination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463040"/>
            <a:ext cx="3611880" cy="3108960"/>
          </a:xfrm>
          <a:prstGeom prst="roundRect">
            <a:avLst>
              <a:gd name="adj" fmla="val 3529"/>
            </a:avLst>
          </a:prstGeom>
          <a:solidFill>
            <a:srgbClr val="E5F2F0"/>
          </a:solidFill>
          <a:ln/>
        </p:spPr>
      </p:sp>
      <p:sp>
        <p:nvSpPr>
          <p:cNvPr id="14" name="Shape 10"/>
          <p:cNvSpPr/>
          <p:nvPr/>
        </p:nvSpPr>
        <p:spPr>
          <a:xfrm>
            <a:off x="8467344" y="1755648"/>
            <a:ext cx="658368" cy="658368"/>
          </a:xfrm>
          <a:prstGeom prst="ellipse">
            <a:avLst/>
          </a:prstGeom>
          <a:solidFill>
            <a:srgbClr val="01485C"/>
          </a:solidFill>
          <a:ln/>
        </p:spPr>
      </p:sp>
      <p:pic>
        <p:nvPicPr>
          <p:cNvPr id="15" name="Image 2" descr="icon_clipboard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8520" y="1926824"/>
            <a:ext cx="316017" cy="31601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67344" y="26060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Human-readable, on-device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67344" y="31089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on the drive — reviewable by any auditor without tooling, tied to OS usernames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password attempts are recorded — repeated failures on a found drive leave evidence.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0" name="Shape 15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1" name="Shape 16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2" name="Shape 17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3" name="Shape 18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4" name="Shape 19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148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with QH &amp; QGEA expectations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 / obligation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the tool aligns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48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Privacy Act 2009 (Qld) — IPP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data never leaves the device; encrypted at rest; no disclosure path (no network)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IS18:2018 Information Security Policy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Confidentiality via encryption + offline posture; integrity via authenticated encryption; availability via rebuildable history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QGEA information security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handled as SENSITIVE; controls chosen to match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ACSC guidance — portable media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 at rest in force: application-layer AES plus whole-drive AES (BitLocker To Go)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 SOE endpoint controls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72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install, no admin rights, no firewall exceptions, no system changes — SOE controls are untouched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86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the tool aligns with these obligations — formal assessment or accreditation remains a QH decision. Full detail: SECURITY_README.md on the drive.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6" name="Shape 3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7" name="Shape 4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8" name="Shape 5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9" name="Shape 6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10" name="Shape 7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716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BitLocker To Go — enabled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Sept 2026; verify the unlock prompt on next insertion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231136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22311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1854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password custody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in the PoC team holds the history password; no recovery exists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044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9923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monthly exports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the rebuild path if the history is ever reset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858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1304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README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SECURITY_README.md on the drive answers IT’s questions in their language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01485C"/>
          </a:solidFill>
          <a:ln w="12700">
            <a:solidFill>
              <a:srgbClr val="11B5A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limits — stated openly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1945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managed tool, not a centrally patched system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BitLocker passwords are shared team secrets (one history password per engine); the licence key is the PoC lead’s alone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are plaintext inside the encrypted drive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SOE devices block USB executables entirely (AppLocker)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enforcement is code on the drive — evidence, not DRM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32120"/>
            <a:ext cx="23774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pic>
        <p:nvPicPr>
          <p:cNvPr id="19" name="Image 0" descr="c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1700784" cy="5577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3200400" y="5760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Queensland · Point of Care Testing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793992"/>
            <a:ext cx="2040636" cy="64008"/>
          </a:xfrm>
          <a:prstGeom prst="rect">
            <a:avLst/>
          </a:prstGeom>
          <a:solidFill>
            <a:srgbClr val="01485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31492" y="6793992"/>
            <a:ext cx="2040636" cy="64008"/>
          </a:xfrm>
          <a:prstGeom prst="rect">
            <a:avLst/>
          </a:prstGeom>
          <a:solidFill>
            <a:srgbClr val="146175"/>
          </a:solidFill>
          <a:ln/>
        </p:spPr>
      </p:sp>
      <p:sp>
        <p:nvSpPr>
          <p:cNvPr id="23" name="Shape 20"/>
          <p:cNvSpPr/>
          <p:nvPr/>
        </p:nvSpPr>
        <p:spPr>
          <a:xfrm>
            <a:off x="4062984" y="6793992"/>
            <a:ext cx="2040636" cy="64008"/>
          </a:xfrm>
          <a:prstGeom prst="rect">
            <a:avLst/>
          </a:prstGeom>
          <a:solidFill>
            <a:srgbClr val="11B5AE"/>
          </a:solidFill>
          <a:ln/>
        </p:spPr>
      </p:sp>
      <p:sp>
        <p:nvSpPr>
          <p:cNvPr id="24" name="Shape 21"/>
          <p:cNvSpPr/>
          <p:nvPr/>
        </p:nvSpPr>
        <p:spPr>
          <a:xfrm>
            <a:off x="6094476" y="6793992"/>
            <a:ext cx="2040636" cy="64008"/>
          </a:xfrm>
          <a:prstGeom prst="rect">
            <a:avLst/>
          </a:prstGeom>
          <a:solidFill>
            <a:srgbClr val="6CCAD4"/>
          </a:solidFill>
          <a:ln/>
        </p:spPr>
      </p:sp>
      <p:sp>
        <p:nvSpPr>
          <p:cNvPr id="25" name="Shape 22"/>
          <p:cNvSpPr/>
          <p:nvPr/>
        </p:nvSpPr>
        <p:spPr>
          <a:xfrm>
            <a:off x="8125968" y="6793992"/>
            <a:ext cx="2040636" cy="64008"/>
          </a:xfrm>
          <a:prstGeom prst="rect">
            <a:avLst/>
          </a:prstGeom>
          <a:solidFill>
            <a:srgbClr val="7FC04C"/>
          </a:solidFill>
          <a:ln/>
        </p:spPr>
      </p:sp>
      <p:sp>
        <p:nvSpPr>
          <p:cNvPr id="26" name="Shape 23"/>
          <p:cNvSpPr/>
          <p:nvPr/>
        </p:nvSpPr>
        <p:spPr>
          <a:xfrm>
            <a:off x="10157460" y="6793992"/>
            <a:ext cx="2040636" cy="64008"/>
          </a:xfrm>
          <a:prstGeom prst="rect">
            <a:avLst/>
          </a:prstGeom>
          <a:solidFill>
            <a:srgbClr val="E1DD57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672584"/>
            <a:ext cx="566928" cy="566928"/>
          </a:xfrm>
          <a:prstGeom prst="ellipse">
            <a:avLst/>
          </a:prstGeom>
          <a:solidFill>
            <a:srgbClr val="7FC04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1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62686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the approved PCs   </a:t>
            </a:r>
            <a:pPr indent="0" marL="0">
              <a:buNone/>
            </a:pPr>
            <a:r>
              <a:rPr lang="en-US" sz="1550" dirty="0">
                <a:solidFill>
                  <a:srgbClr val="6C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12-month licence per PC with the keygen; re-issue at each QIS review with the new version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2026-09-04T01:44:39Z</dcterms:created>
  <dcterms:modified xsi:type="dcterms:W3CDTF">2026-09-04T01:44:39Z</dcterms:modified>
</cp:coreProperties>
</file>